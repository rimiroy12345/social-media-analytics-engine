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Calibri (MS)"/>
      <p:regular r:id="rId13"/>
    </p:embeddedFont>
    <p:embeddedFont>
      <p:font typeface="Calibri (MS) Bold"/>
      <p:regular r:id="rId14"/>
    </p:embeddedFont>
    <p:embeddedFont>
      <p:font typeface="Calibri (MS) Italics"/>
      <p:regular r:id="rId15"/>
    </p:embeddedFont>
    <p:embeddedFont>
      <p:font typeface="Cambria Bold"/>
      <p:regular r:id="rId16"/>
    </p:embeddedFont>
    <p:embeddedFont>
      <p:font typeface="Courier New" panose="02070309020205020404" pitchFamily="49" charset="0"/>
      <p:regular r:id="rId17"/>
    </p:embeddedFont>
    <p:embeddedFont>
      <p:font typeface="Courier New Bold" panose="02070609020205020404" pitchFamily="49"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font" Target="fonts/font1.fntdata" /><Relationship Id="rId18" Type="http://schemas.openxmlformats.org/officeDocument/2006/relationships/font" Target="fonts/font6.fntdata" /><Relationship Id="rId3" Type="http://schemas.openxmlformats.org/officeDocument/2006/relationships/slide" Target="slides/slide2.xml" /><Relationship Id="rId21" Type="http://schemas.openxmlformats.org/officeDocument/2006/relationships/theme" Target="theme/theme1.xml" /><Relationship Id="rId7" Type="http://schemas.openxmlformats.org/officeDocument/2006/relationships/slide" Target="slides/slide6.xml" /><Relationship Id="rId12" Type="http://schemas.openxmlformats.org/officeDocument/2006/relationships/notesMaster" Target="notesMasters/notesMaster1.xml" /><Relationship Id="rId17" Type="http://schemas.openxmlformats.org/officeDocument/2006/relationships/font" Target="fonts/font5.fntdata" /><Relationship Id="rId2" Type="http://schemas.openxmlformats.org/officeDocument/2006/relationships/slide" Target="slides/slide1.xml" /><Relationship Id="rId16" Type="http://schemas.openxmlformats.org/officeDocument/2006/relationships/font" Target="fonts/font4.fntdata" /><Relationship Id="rId20" Type="http://schemas.openxmlformats.org/officeDocument/2006/relationships/viewProps" Target="view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font" Target="fonts/font3.fntdata" /><Relationship Id="rId10" Type="http://schemas.openxmlformats.org/officeDocument/2006/relationships/slide" Target="slides/slide9.xml" /><Relationship Id="rId19" Type="http://schemas.openxmlformats.org/officeDocument/2006/relationships/presProps" Target="presProp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font" Target="fonts/font2.fntdata" /><Relationship Id="rId22" Type="http://schemas.openxmlformats.org/officeDocument/2006/relationships/tableStyles" Target="tableStyle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22.10.2026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 /><Relationship Id="rId2" Type="http://schemas.openxmlformats.org/officeDocument/2006/relationships/notesSlide" Target="../notesSlides/notesSlide1.xml" /><Relationship Id="rId1" Type="http://schemas.openxmlformats.org/officeDocument/2006/relationships/slideLayout" Target="../slideLayouts/slideLayout7.xml" /></Relationships>
</file>

<file path=ppt/slides/_rels/slide2.xml.rels><?xml version="1.0" encoding="UTF-8" standalone="yes"?>
<Relationships xmlns="http://schemas.openxmlformats.org/package/2006/relationships"><Relationship Id="rId3" Type="http://schemas.openxmlformats.org/officeDocument/2006/relationships/image" Target="../media/image1.jpeg" /><Relationship Id="rId2" Type="http://schemas.openxmlformats.org/officeDocument/2006/relationships/notesSlide" Target="../notesSlides/notesSlide2.xml" /><Relationship Id="rId1" Type="http://schemas.openxmlformats.org/officeDocument/2006/relationships/slideLayout" Target="../slideLayouts/slideLayout7.xml" /></Relationships>
</file>

<file path=ppt/slides/_rels/slide3.xml.rels><?xml version="1.0" encoding="UTF-8" standalone="yes"?>
<Relationships xmlns="http://schemas.openxmlformats.org/package/2006/relationships"><Relationship Id="rId3" Type="http://schemas.openxmlformats.org/officeDocument/2006/relationships/image" Target="../media/image1.jpeg" /><Relationship Id="rId2" Type="http://schemas.openxmlformats.org/officeDocument/2006/relationships/notesSlide" Target="../notesSlides/notesSlide3.xml" /><Relationship Id="rId1" Type="http://schemas.openxmlformats.org/officeDocument/2006/relationships/slideLayout" Target="../slideLayouts/slideLayout7.xml" /><Relationship Id="rId4" Type="http://schemas.openxmlformats.org/officeDocument/2006/relationships/image" Target="../media/image2.png" /></Relationships>
</file>

<file path=ppt/slides/_rels/slide4.xml.rels><?xml version="1.0" encoding="UTF-8" standalone="yes"?>
<Relationships xmlns="http://schemas.openxmlformats.org/package/2006/relationships"><Relationship Id="rId3" Type="http://schemas.openxmlformats.org/officeDocument/2006/relationships/image" Target="../media/image1.jpeg" /><Relationship Id="rId2" Type="http://schemas.openxmlformats.org/officeDocument/2006/relationships/notesSlide" Target="../notesSlides/notesSlide4.xml" /><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Relationship Id="rId3" Type="http://schemas.openxmlformats.org/officeDocument/2006/relationships/image" Target="../media/image1.jpeg" /><Relationship Id="rId2" Type="http://schemas.openxmlformats.org/officeDocument/2006/relationships/notesSlide" Target="../notesSlides/notesSlide5.xml" /><Relationship Id="rId1" Type="http://schemas.openxmlformats.org/officeDocument/2006/relationships/slideLayout" Target="../slideLayouts/slideLayout7.xml" /></Relationships>
</file>

<file path=ppt/slides/_rels/slide6.xml.rels><?xml version="1.0" encoding="UTF-8" standalone="yes"?>
<Relationships xmlns="http://schemas.openxmlformats.org/package/2006/relationships"><Relationship Id="rId3" Type="http://schemas.openxmlformats.org/officeDocument/2006/relationships/image" Target="../media/image1.jpeg" /><Relationship Id="rId2" Type="http://schemas.openxmlformats.org/officeDocument/2006/relationships/notesSlide" Target="../notesSlides/notesSlide6.xml" /><Relationship Id="rId1" Type="http://schemas.openxmlformats.org/officeDocument/2006/relationships/slideLayout" Target="../slideLayouts/slideLayout7.xml" /></Relationships>
</file>

<file path=ppt/slides/_rels/slide7.xml.rels><?xml version="1.0" encoding="UTF-8" standalone="yes"?>
<Relationships xmlns="http://schemas.openxmlformats.org/package/2006/relationships"><Relationship Id="rId3" Type="http://schemas.openxmlformats.org/officeDocument/2006/relationships/image" Target="../media/image1.jpeg" /><Relationship Id="rId2" Type="http://schemas.openxmlformats.org/officeDocument/2006/relationships/notesSlide" Target="../notesSlides/notesSlide7.xml" /><Relationship Id="rId1" Type="http://schemas.openxmlformats.org/officeDocument/2006/relationships/slideLayout" Target="../slideLayouts/slideLayout7.xml" /></Relationships>
</file>

<file path=ppt/slides/_rels/slide8.xml.rels><?xml version="1.0" encoding="UTF-8" standalone="yes"?>
<Relationships xmlns="http://schemas.openxmlformats.org/package/2006/relationships"><Relationship Id="rId3" Type="http://schemas.openxmlformats.org/officeDocument/2006/relationships/image" Target="../media/image1.jpeg" /><Relationship Id="rId2" Type="http://schemas.openxmlformats.org/officeDocument/2006/relationships/notesSlide" Target="../notesSlides/notesSlide8.xml" /><Relationship Id="rId1" Type="http://schemas.openxmlformats.org/officeDocument/2006/relationships/slideLayout" Target="../slideLayouts/slideLayout7.xml" /></Relationships>
</file>

<file path=ppt/slides/_rels/slide9.xml.rels><?xml version="1.0" encoding="UTF-8" standalone="yes"?>
<Relationships xmlns="http://schemas.openxmlformats.org/package/2006/relationships"><Relationship Id="rId3" Type="http://schemas.openxmlformats.org/officeDocument/2006/relationships/image" Target="../media/image1.jpeg" /><Relationship Id="rId2" Type="http://schemas.openxmlformats.org/officeDocument/2006/relationships/notesSlide" Target="../notesSlides/notesSlide9.xml" /><Relationship Id="rId1" Type="http://schemas.openxmlformats.org/officeDocument/2006/relationships/slideLayout" Target="../slideLayouts/slideLayout7.xml" /></Relationships>
</file>

<file path=ppt/slides/_rels/slide10.xml.rels><?xml version="1.0" encoding="UTF-8" standalone="yes"?>
<Relationships xmlns="http://schemas.openxmlformats.org/package/2006/relationships"><Relationship Id="rId3" Type="http://schemas.openxmlformats.org/officeDocument/2006/relationships/image" Target="../media/image1.jpeg" /><Relationship Id="rId2" Type="http://schemas.openxmlformats.org/officeDocument/2006/relationships/notesSlide" Target="../notesSlides/notesSlide10.xml" /><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22960" y="1577340"/>
            <a:ext cx="13716000" cy="480060"/>
            <a:chOff x="0" y="0"/>
            <a:chExt cx="18288000" cy="640080"/>
          </a:xfrm>
        </p:grpSpPr>
        <p:sp>
          <p:nvSpPr>
            <p:cNvPr id="3" name="Freeform 3"/>
            <p:cNvSpPr/>
            <p:nvPr/>
          </p:nvSpPr>
          <p:spPr>
            <a:xfrm>
              <a:off x="0" y="0"/>
              <a:ext cx="18288000" cy="640080"/>
            </a:xfrm>
            <a:custGeom>
              <a:avLst/>
              <a:gdLst/>
              <a:ahLst/>
              <a:cxnLst/>
              <a:rect l="l" t="t" r="r" b="b"/>
              <a:pathLst>
                <a:path w="18288000" h="640080">
                  <a:moveTo>
                    <a:pt x="0" y="0"/>
                  </a:moveTo>
                  <a:lnTo>
                    <a:pt x="18288000" y="0"/>
                  </a:lnTo>
                  <a:lnTo>
                    <a:pt x="18288000" y="640080"/>
                  </a:lnTo>
                  <a:lnTo>
                    <a:pt x="0" y="640080"/>
                  </a:lnTo>
                  <a:close/>
                </a:path>
              </a:pathLst>
            </a:custGeom>
            <a:blipFill>
              <a:blip r:embed="rId3">
                <a:alphaModFix amt="0"/>
              </a:blip>
              <a:stretch>
                <a:fillRect t="-506715" b="-506715"/>
              </a:stretch>
            </a:blipFill>
          </p:spPr>
        </p:sp>
        <p:sp>
          <p:nvSpPr>
            <p:cNvPr id="4" name="TextBox 4"/>
            <p:cNvSpPr txBox="1"/>
            <p:nvPr/>
          </p:nvSpPr>
          <p:spPr>
            <a:xfrm>
              <a:off x="0" y="-47625"/>
              <a:ext cx="18288000" cy="687705"/>
            </a:xfrm>
            <a:prstGeom prst="rect">
              <a:avLst/>
            </a:prstGeom>
          </p:spPr>
          <p:txBody>
            <a:bodyPr lIns="0" tIns="0" rIns="0" bIns="0" rtlCol="0" anchor="ctr"/>
            <a:lstStyle/>
            <a:p>
              <a:pPr algn="l">
                <a:lnSpc>
                  <a:spcPts val="2340"/>
                </a:lnSpc>
              </a:pPr>
              <a:r>
                <a:rPr lang="en-US" sz="1950" b="1" spc="299">
                  <a:solidFill>
                    <a:srgbClr val="1E2761"/>
                  </a:solidFill>
                  <a:latin typeface="Calibri (MS) Bold"/>
                  <a:ea typeface="Calibri (MS) Bold"/>
                  <a:cs typeface="Calibri (MS) Bold"/>
                  <a:sym typeface="Calibri (MS) Bold"/>
                </a:rPr>
                <a:t>DATABASE SYSTEMS — REVIEW 2</a:t>
              </a:r>
            </a:p>
          </p:txBody>
        </p:sp>
      </p:grpSp>
      <p:grpSp>
        <p:nvGrpSpPr>
          <p:cNvPr id="5" name="Group 5"/>
          <p:cNvGrpSpPr/>
          <p:nvPr/>
        </p:nvGrpSpPr>
        <p:grpSpPr>
          <a:xfrm>
            <a:off x="822960" y="2057400"/>
            <a:ext cx="16637508" cy="1371600"/>
            <a:chOff x="0" y="0"/>
            <a:chExt cx="22183344" cy="1828800"/>
          </a:xfrm>
        </p:grpSpPr>
        <p:sp>
          <p:nvSpPr>
            <p:cNvPr id="6" name="Freeform 6"/>
            <p:cNvSpPr/>
            <p:nvPr/>
          </p:nvSpPr>
          <p:spPr>
            <a:xfrm>
              <a:off x="0" y="0"/>
              <a:ext cx="22183344" cy="1828800"/>
            </a:xfrm>
            <a:custGeom>
              <a:avLst/>
              <a:gdLst/>
              <a:ahLst/>
              <a:cxnLst/>
              <a:rect l="l" t="t" r="r" b="b"/>
              <a:pathLst>
                <a:path w="22183344" h="1828800">
                  <a:moveTo>
                    <a:pt x="0" y="0"/>
                  </a:moveTo>
                  <a:lnTo>
                    <a:pt x="22183344" y="0"/>
                  </a:lnTo>
                  <a:lnTo>
                    <a:pt x="22183344" y="1828800"/>
                  </a:lnTo>
                  <a:lnTo>
                    <a:pt x="0" y="1828800"/>
                  </a:lnTo>
                  <a:close/>
                </a:path>
              </a:pathLst>
            </a:custGeom>
            <a:blipFill>
              <a:blip r:embed="rId3">
                <a:alphaModFix amt="0"/>
              </a:blip>
              <a:stretch>
                <a:fillRect t="-186353" b="-186353"/>
              </a:stretch>
            </a:blipFill>
          </p:spPr>
        </p:sp>
        <p:sp>
          <p:nvSpPr>
            <p:cNvPr id="7" name="TextBox 7"/>
            <p:cNvSpPr txBox="1"/>
            <p:nvPr/>
          </p:nvSpPr>
          <p:spPr>
            <a:xfrm>
              <a:off x="0" y="-19050"/>
              <a:ext cx="22183344" cy="1847850"/>
            </a:xfrm>
            <a:prstGeom prst="rect">
              <a:avLst/>
            </a:prstGeom>
          </p:spPr>
          <p:txBody>
            <a:bodyPr lIns="0" tIns="0" rIns="0" bIns="0" rtlCol="0" anchor="ctr"/>
            <a:lstStyle/>
            <a:p>
              <a:pPr algn="l">
                <a:lnSpc>
                  <a:spcPts val="7559"/>
                </a:lnSpc>
              </a:pPr>
              <a:r>
                <a:rPr lang="en-US" sz="6300" b="1">
                  <a:solidFill>
                    <a:srgbClr val="141B47"/>
                  </a:solidFill>
                  <a:latin typeface="Cambria Bold"/>
                  <a:ea typeface="Cambria Bold"/>
                  <a:cs typeface="Cambria Bold"/>
                  <a:sym typeface="Cambria Bold"/>
                </a:rPr>
                <a:t>Social Media Analytics Engine</a:t>
              </a:r>
            </a:p>
          </p:txBody>
        </p:sp>
      </p:grpSp>
      <p:grpSp>
        <p:nvGrpSpPr>
          <p:cNvPr id="8" name="Group 8"/>
          <p:cNvGrpSpPr/>
          <p:nvPr/>
        </p:nvGrpSpPr>
        <p:grpSpPr>
          <a:xfrm>
            <a:off x="822960" y="3497580"/>
            <a:ext cx="14538960" cy="1028700"/>
            <a:chOff x="0" y="0"/>
            <a:chExt cx="19385280" cy="1371600"/>
          </a:xfrm>
        </p:grpSpPr>
        <p:sp>
          <p:nvSpPr>
            <p:cNvPr id="9" name="Freeform 9"/>
            <p:cNvSpPr/>
            <p:nvPr/>
          </p:nvSpPr>
          <p:spPr>
            <a:xfrm>
              <a:off x="0" y="0"/>
              <a:ext cx="19385280" cy="1371600"/>
            </a:xfrm>
            <a:custGeom>
              <a:avLst/>
              <a:gdLst/>
              <a:ahLst/>
              <a:cxnLst/>
              <a:rect l="l" t="t" r="r" b="b"/>
              <a:pathLst>
                <a:path w="19385280" h="1371600">
                  <a:moveTo>
                    <a:pt x="0" y="0"/>
                  </a:moveTo>
                  <a:lnTo>
                    <a:pt x="19385280" y="0"/>
                  </a:lnTo>
                  <a:lnTo>
                    <a:pt x="19385280" y="1371600"/>
                  </a:lnTo>
                  <a:lnTo>
                    <a:pt x="0" y="1371600"/>
                  </a:lnTo>
                  <a:close/>
                </a:path>
              </a:pathLst>
            </a:custGeom>
            <a:blipFill>
              <a:blip r:embed="rId3">
                <a:alphaModFix amt="0"/>
              </a:blip>
              <a:stretch>
                <a:fillRect t="-225388" b="-225388"/>
              </a:stretch>
            </a:blipFill>
          </p:spPr>
        </p:sp>
        <p:sp>
          <p:nvSpPr>
            <p:cNvPr id="10" name="TextBox 10"/>
            <p:cNvSpPr txBox="1"/>
            <p:nvPr/>
          </p:nvSpPr>
          <p:spPr>
            <a:xfrm>
              <a:off x="0" y="-38100"/>
              <a:ext cx="19385280" cy="1409700"/>
            </a:xfrm>
            <a:prstGeom prst="rect">
              <a:avLst/>
            </a:prstGeom>
          </p:spPr>
          <p:txBody>
            <a:bodyPr lIns="0" tIns="0" rIns="0" bIns="0" rtlCol="0" anchor="ctr"/>
            <a:lstStyle/>
            <a:p>
              <a:pPr algn="l">
                <a:lnSpc>
                  <a:spcPts val="2879"/>
                </a:lnSpc>
              </a:pPr>
              <a:r>
                <a:rPr lang="en-US" sz="2400" i="1">
                  <a:solidFill>
                    <a:srgbClr val="555555"/>
                  </a:solidFill>
                  <a:latin typeface="Calibri (MS) Italics"/>
                  <a:ea typeface="Calibri (MS) Italics"/>
                  <a:cs typeface="Calibri (MS) Italics"/>
                  <a:sym typeface="Calibri (MS) Italics"/>
                </a:rPr>
                <a:t>We built a social media analytics engine to demonstrate relational database design and advanced SQL on large-scale social interaction data.</a:t>
              </a:r>
            </a:p>
          </p:txBody>
        </p:sp>
      </p:grpSp>
      <p:sp>
        <p:nvSpPr>
          <p:cNvPr id="11" name="AutoShape 11"/>
          <p:cNvSpPr/>
          <p:nvPr/>
        </p:nvSpPr>
        <p:spPr>
          <a:xfrm rot="22560">
            <a:off x="803843" y="4791075"/>
            <a:ext cx="5798944" cy="0"/>
          </a:xfrm>
          <a:prstGeom prst="line">
            <a:avLst/>
          </a:prstGeom>
          <a:ln w="19050" cap="rnd">
            <a:solidFill>
              <a:srgbClr val="CADCFC"/>
            </a:solidFill>
            <a:prstDash val="solid"/>
            <a:headEnd type="none" w="sm" len="sm"/>
            <a:tailEnd type="none" w="sm" len="sm"/>
          </a:ln>
        </p:spPr>
      </p:sp>
      <p:grpSp>
        <p:nvGrpSpPr>
          <p:cNvPr id="12" name="Group 12"/>
          <p:cNvGrpSpPr/>
          <p:nvPr/>
        </p:nvGrpSpPr>
        <p:grpSpPr>
          <a:xfrm>
            <a:off x="803906" y="5333520"/>
            <a:ext cx="8824360" cy="3014377"/>
            <a:chOff x="0" y="0"/>
            <a:chExt cx="6249670" cy="2134870"/>
          </a:xfrm>
        </p:grpSpPr>
        <p:sp>
          <p:nvSpPr>
            <p:cNvPr id="13" name="Freeform 13"/>
            <p:cNvSpPr/>
            <p:nvPr/>
          </p:nvSpPr>
          <p:spPr>
            <a:xfrm>
              <a:off x="0" y="0"/>
              <a:ext cx="6249670" cy="2134870"/>
            </a:xfrm>
            <a:custGeom>
              <a:avLst/>
              <a:gdLst/>
              <a:ahLst/>
              <a:cxnLst/>
              <a:rect l="l" t="t" r="r" b="b"/>
              <a:pathLst>
                <a:path w="6249670" h="2134870">
                  <a:moveTo>
                    <a:pt x="0" y="148463"/>
                  </a:moveTo>
                  <a:cubicBezTo>
                    <a:pt x="0" y="66548"/>
                    <a:pt x="66548" y="0"/>
                    <a:pt x="148463" y="0"/>
                  </a:cubicBezTo>
                  <a:lnTo>
                    <a:pt x="6101207" y="0"/>
                  </a:lnTo>
                  <a:cubicBezTo>
                    <a:pt x="6183249" y="0"/>
                    <a:pt x="6249670" y="66548"/>
                    <a:pt x="6249670" y="148463"/>
                  </a:cubicBezTo>
                  <a:lnTo>
                    <a:pt x="6249670" y="1986407"/>
                  </a:lnTo>
                  <a:cubicBezTo>
                    <a:pt x="6249670" y="2068449"/>
                    <a:pt x="6183122" y="2134870"/>
                    <a:pt x="6101207" y="2134870"/>
                  </a:cubicBezTo>
                  <a:lnTo>
                    <a:pt x="148463" y="2134870"/>
                  </a:lnTo>
                  <a:cubicBezTo>
                    <a:pt x="66548" y="2134870"/>
                    <a:pt x="0" y="2068322"/>
                    <a:pt x="0" y="1986407"/>
                  </a:cubicBezTo>
                  <a:close/>
                </a:path>
              </a:pathLst>
            </a:custGeom>
            <a:solidFill>
              <a:srgbClr val="1E2761"/>
            </a:solidFill>
            <a:ln w="23812" cap="sq">
              <a:solidFill>
                <a:srgbClr val="1E2761"/>
              </a:solidFill>
              <a:prstDash val="solid"/>
              <a:miter/>
            </a:ln>
          </p:spPr>
        </p:sp>
      </p:grpSp>
      <p:grpSp>
        <p:nvGrpSpPr>
          <p:cNvPr id="14" name="Group 14"/>
          <p:cNvGrpSpPr/>
          <p:nvPr/>
        </p:nvGrpSpPr>
        <p:grpSpPr>
          <a:xfrm>
            <a:off x="1011043" y="5553052"/>
            <a:ext cx="8372369" cy="2540521"/>
            <a:chOff x="0" y="0"/>
            <a:chExt cx="7035533" cy="2134870"/>
          </a:xfrm>
        </p:grpSpPr>
        <p:sp>
          <p:nvSpPr>
            <p:cNvPr id="15" name="Freeform 15"/>
            <p:cNvSpPr/>
            <p:nvPr/>
          </p:nvSpPr>
          <p:spPr>
            <a:xfrm>
              <a:off x="0" y="0"/>
              <a:ext cx="7035533" cy="2134870"/>
            </a:xfrm>
            <a:custGeom>
              <a:avLst/>
              <a:gdLst/>
              <a:ahLst/>
              <a:cxnLst/>
              <a:rect l="l" t="t" r="r" b="b"/>
              <a:pathLst>
                <a:path w="7035533" h="2134870">
                  <a:moveTo>
                    <a:pt x="0" y="148463"/>
                  </a:moveTo>
                  <a:cubicBezTo>
                    <a:pt x="0" y="66548"/>
                    <a:pt x="74916" y="0"/>
                    <a:pt x="167131" y="0"/>
                  </a:cubicBezTo>
                  <a:lnTo>
                    <a:pt x="6868402" y="0"/>
                  </a:lnTo>
                  <a:cubicBezTo>
                    <a:pt x="6960760" y="0"/>
                    <a:pt x="7035533" y="66548"/>
                    <a:pt x="7035533" y="148463"/>
                  </a:cubicBezTo>
                  <a:lnTo>
                    <a:pt x="7035533" y="1986407"/>
                  </a:lnTo>
                  <a:cubicBezTo>
                    <a:pt x="7035533" y="2068449"/>
                    <a:pt x="6960618" y="2134870"/>
                    <a:pt x="6868402" y="2134870"/>
                  </a:cubicBezTo>
                  <a:lnTo>
                    <a:pt x="167131" y="2134870"/>
                  </a:lnTo>
                  <a:cubicBezTo>
                    <a:pt x="74916" y="2134870"/>
                    <a:pt x="0" y="2068322"/>
                    <a:pt x="0" y="1986407"/>
                  </a:cubicBezTo>
                  <a:close/>
                </a:path>
              </a:pathLst>
            </a:custGeom>
            <a:solidFill>
              <a:srgbClr val="FFFFFF"/>
            </a:solidFill>
            <a:ln w="23812" cap="sq">
              <a:solidFill>
                <a:srgbClr val="1E2761"/>
              </a:solidFill>
              <a:prstDash val="solid"/>
              <a:miter/>
            </a:ln>
          </p:spPr>
        </p:sp>
      </p:grpSp>
      <p:grpSp>
        <p:nvGrpSpPr>
          <p:cNvPr id="16" name="Group 16"/>
          <p:cNvGrpSpPr/>
          <p:nvPr/>
        </p:nvGrpSpPr>
        <p:grpSpPr>
          <a:xfrm>
            <a:off x="1252741" y="5765593"/>
            <a:ext cx="7888973" cy="1989479"/>
            <a:chOff x="0" y="0"/>
            <a:chExt cx="6217920" cy="1568065"/>
          </a:xfrm>
        </p:grpSpPr>
        <p:sp>
          <p:nvSpPr>
            <p:cNvPr id="17" name="Freeform 17"/>
            <p:cNvSpPr/>
            <p:nvPr/>
          </p:nvSpPr>
          <p:spPr>
            <a:xfrm>
              <a:off x="0" y="0"/>
              <a:ext cx="6217920" cy="1568064"/>
            </a:xfrm>
            <a:custGeom>
              <a:avLst/>
              <a:gdLst/>
              <a:ahLst/>
              <a:cxnLst/>
              <a:rect l="l" t="t" r="r" b="b"/>
              <a:pathLst>
                <a:path w="6217920" h="1568064">
                  <a:moveTo>
                    <a:pt x="0" y="0"/>
                  </a:moveTo>
                  <a:lnTo>
                    <a:pt x="6217920" y="0"/>
                  </a:lnTo>
                  <a:lnTo>
                    <a:pt x="6217920" y="1568064"/>
                  </a:lnTo>
                  <a:lnTo>
                    <a:pt x="0" y="1568064"/>
                  </a:lnTo>
                  <a:close/>
                </a:path>
              </a:pathLst>
            </a:custGeom>
            <a:blipFill>
              <a:blip r:embed="rId3">
                <a:alphaModFix amt="0"/>
              </a:blip>
              <a:stretch>
                <a:fillRect t="-53939" b="-590"/>
              </a:stretch>
            </a:blipFill>
          </p:spPr>
        </p:sp>
        <p:sp>
          <p:nvSpPr>
            <p:cNvPr id="18" name="TextBox 18"/>
            <p:cNvSpPr txBox="1"/>
            <p:nvPr/>
          </p:nvSpPr>
          <p:spPr>
            <a:xfrm>
              <a:off x="0" y="-47625"/>
              <a:ext cx="6217920" cy="1615690"/>
            </a:xfrm>
            <a:prstGeom prst="rect">
              <a:avLst/>
            </a:prstGeom>
          </p:spPr>
          <p:txBody>
            <a:bodyPr lIns="0" tIns="0" rIns="0" bIns="0" rtlCol="0" anchor="ctr"/>
            <a:lstStyle/>
            <a:p>
              <a:pPr algn="l">
                <a:lnSpc>
                  <a:spcPts val="2520"/>
                </a:lnSpc>
              </a:pPr>
              <a:r>
                <a:rPr lang="en-US" sz="2100" b="1">
                  <a:solidFill>
                    <a:srgbClr val="000000"/>
                  </a:solidFill>
                  <a:latin typeface="Calibri (MS) Bold"/>
                  <a:ea typeface="Calibri (MS) Bold"/>
                  <a:cs typeface="Calibri (MS) Bold"/>
                  <a:sym typeface="Calibri (MS) Bold"/>
                </a:rPr>
                <a:t>Team Members:-</a:t>
              </a:r>
            </a:p>
            <a:p>
              <a:pPr marL="453390" lvl="1" indent="-226695" algn="l">
                <a:lnSpc>
                  <a:spcPts val="2520"/>
                </a:lnSpc>
                <a:buFont typeface="Arial"/>
                <a:buChar char="•"/>
              </a:pPr>
              <a:r>
                <a:rPr lang="en-US" sz="2100" b="1">
                  <a:solidFill>
                    <a:srgbClr val="000000"/>
                  </a:solidFill>
                  <a:latin typeface="Calibri (MS) Bold"/>
                  <a:ea typeface="Calibri (MS) Bold"/>
                  <a:cs typeface="Calibri (MS) Bold"/>
                  <a:sym typeface="Calibri (MS) Bold"/>
                </a:rPr>
                <a:t>Chinmayi Gadre – 1262252785</a:t>
              </a:r>
            </a:p>
            <a:p>
              <a:pPr marL="453390" lvl="1" indent="-226695" algn="l">
                <a:lnSpc>
                  <a:spcPts val="2520"/>
                </a:lnSpc>
                <a:buFont typeface="Arial"/>
                <a:buChar char="•"/>
              </a:pPr>
              <a:r>
                <a:rPr lang="en-US" sz="2100" b="1">
                  <a:solidFill>
                    <a:srgbClr val="000000"/>
                  </a:solidFill>
                  <a:latin typeface="Calibri (MS) Bold"/>
                  <a:ea typeface="Calibri (MS) Bold"/>
                  <a:cs typeface="Calibri (MS) Bold"/>
                  <a:sym typeface="Calibri (MS) Bold"/>
                </a:rPr>
                <a:t>Pournami Roy    – 1262252045</a:t>
              </a:r>
            </a:p>
            <a:p>
              <a:pPr marL="453390" lvl="1" indent="-226695" algn="l">
                <a:lnSpc>
                  <a:spcPts val="2520"/>
                </a:lnSpc>
                <a:buFont typeface="Arial"/>
                <a:buChar char="•"/>
              </a:pPr>
              <a:r>
                <a:rPr lang="en-US" sz="2100" b="1">
                  <a:solidFill>
                    <a:srgbClr val="000000"/>
                  </a:solidFill>
                  <a:latin typeface="Calibri (MS) Bold"/>
                  <a:ea typeface="Calibri (MS) Bold"/>
                  <a:cs typeface="Calibri (MS) Bold"/>
                  <a:sym typeface="Calibri (MS) Bold"/>
                </a:rPr>
                <a:t>Tanishka Tiwari – 1262253274</a:t>
              </a:r>
            </a:p>
            <a:p>
              <a:pPr marL="453390" lvl="1" indent="-226695" algn="l">
                <a:lnSpc>
                  <a:spcPts val="2520"/>
                </a:lnSpc>
                <a:buFont typeface="Arial"/>
                <a:buChar char="•"/>
              </a:pPr>
              <a:r>
                <a:rPr lang="en-US" sz="2100" b="1">
                  <a:solidFill>
                    <a:srgbClr val="000000"/>
                  </a:solidFill>
                  <a:latin typeface="Calibri (MS) Bold"/>
                  <a:ea typeface="Calibri (MS) Bold"/>
                  <a:cs typeface="Calibri (MS) Bold"/>
                  <a:sym typeface="Calibri (MS) Bold"/>
                </a:rPr>
                <a:t>Anushree Singh – 1262252008</a:t>
              </a:r>
            </a:p>
            <a:p>
              <a:pPr marL="453390" lvl="1" indent="-226695" algn="l">
                <a:lnSpc>
                  <a:spcPts val="2520"/>
                </a:lnSpc>
                <a:buFont typeface="Arial"/>
                <a:buChar char="•"/>
              </a:pPr>
              <a:r>
                <a:rPr lang="en-US" sz="2100" b="1">
                  <a:solidFill>
                    <a:srgbClr val="000000"/>
                  </a:solidFill>
                  <a:latin typeface="Calibri (MS) Bold"/>
                  <a:ea typeface="Calibri (MS) Bold"/>
                  <a:cs typeface="Calibri (MS) Bold"/>
                  <a:sym typeface="Calibri (MS) Bold"/>
                </a:rPr>
                <a:t>Palak Soni           – 1262252891</a:t>
              </a:r>
            </a:p>
          </p:txBody>
        </p:sp>
      </p:grpSp>
      <p:grpSp>
        <p:nvGrpSpPr>
          <p:cNvPr id="19" name="Group 19"/>
          <p:cNvGrpSpPr/>
          <p:nvPr/>
        </p:nvGrpSpPr>
        <p:grpSpPr>
          <a:xfrm>
            <a:off x="17323308" y="9669780"/>
            <a:ext cx="548640" cy="411480"/>
            <a:chOff x="0" y="0"/>
            <a:chExt cx="731520" cy="548640"/>
          </a:xfrm>
        </p:grpSpPr>
        <p:sp>
          <p:nvSpPr>
            <p:cNvPr id="20" name="Freeform 20"/>
            <p:cNvSpPr/>
            <p:nvPr/>
          </p:nvSpPr>
          <p:spPr>
            <a:xfrm>
              <a:off x="0" y="0"/>
              <a:ext cx="731520" cy="548640"/>
            </a:xfrm>
            <a:custGeom>
              <a:avLst/>
              <a:gdLst/>
              <a:ahLst/>
              <a:cxnLst/>
              <a:rect l="l" t="t" r="r" b="b"/>
              <a:pathLst>
                <a:path w="731520" h="548640">
                  <a:moveTo>
                    <a:pt x="0" y="0"/>
                  </a:moveTo>
                  <a:lnTo>
                    <a:pt x="731520" y="0"/>
                  </a:lnTo>
                  <a:lnTo>
                    <a:pt x="731520" y="548640"/>
                  </a:lnTo>
                  <a:lnTo>
                    <a:pt x="0" y="548640"/>
                  </a:lnTo>
                  <a:close/>
                </a:path>
              </a:pathLst>
            </a:custGeom>
            <a:blipFill>
              <a:blip r:embed="rId3">
                <a:alphaModFix amt="0"/>
              </a:blip>
              <a:stretch>
                <a:fillRect l="-46227" r="-46227"/>
              </a:stretch>
            </a:blipFill>
          </p:spPr>
        </p:sp>
        <p:sp>
          <p:nvSpPr>
            <p:cNvPr id="21" name="TextBox 21"/>
            <p:cNvSpPr txBox="1"/>
            <p:nvPr/>
          </p:nvSpPr>
          <p:spPr>
            <a:xfrm>
              <a:off x="0" y="-38100"/>
              <a:ext cx="731520" cy="586740"/>
            </a:xfrm>
            <a:prstGeom prst="rect">
              <a:avLst/>
            </a:prstGeom>
          </p:spPr>
          <p:txBody>
            <a:bodyPr lIns="0" tIns="0" rIns="0" bIns="0" rtlCol="0" anchor="ctr"/>
            <a:lstStyle/>
            <a:p>
              <a:pPr algn="r">
                <a:lnSpc>
                  <a:spcPts val="1800"/>
                </a:lnSpc>
              </a:pPr>
              <a:r>
                <a:rPr lang="en-US" sz="1500">
                  <a:solidFill>
                    <a:srgbClr val="999999"/>
                  </a:solidFill>
                  <a:latin typeface="Calibri (MS)"/>
                  <a:ea typeface="Calibri (MS)"/>
                  <a:cs typeface="Calibri (MS)"/>
                  <a:sym typeface="Calibri (MS)"/>
                </a:rPr>
                <a:t>1</a:t>
              </a:r>
            </a:p>
          </p:txBody>
        </p:sp>
      </p:grpSp>
      <p:grpSp>
        <p:nvGrpSpPr>
          <p:cNvPr id="22" name="Group 22"/>
          <p:cNvGrpSpPr/>
          <p:nvPr/>
        </p:nvGrpSpPr>
        <p:grpSpPr>
          <a:xfrm>
            <a:off x="-963358" y="-800576"/>
            <a:ext cx="4687253" cy="1601152"/>
            <a:chOff x="0" y="0"/>
            <a:chExt cx="6249670" cy="2134870"/>
          </a:xfrm>
        </p:grpSpPr>
        <p:sp>
          <p:nvSpPr>
            <p:cNvPr id="23" name="Freeform 23"/>
            <p:cNvSpPr/>
            <p:nvPr/>
          </p:nvSpPr>
          <p:spPr>
            <a:xfrm>
              <a:off x="0" y="0"/>
              <a:ext cx="6249670" cy="2134870"/>
            </a:xfrm>
            <a:custGeom>
              <a:avLst/>
              <a:gdLst/>
              <a:ahLst/>
              <a:cxnLst/>
              <a:rect l="l" t="t" r="r" b="b"/>
              <a:pathLst>
                <a:path w="6249670" h="2134870">
                  <a:moveTo>
                    <a:pt x="0" y="148463"/>
                  </a:moveTo>
                  <a:cubicBezTo>
                    <a:pt x="0" y="66548"/>
                    <a:pt x="66548" y="0"/>
                    <a:pt x="148463" y="0"/>
                  </a:cubicBezTo>
                  <a:lnTo>
                    <a:pt x="6101207" y="0"/>
                  </a:lnTo>
                  <a:cubicBezTo>
                    <a:pt x="6183249" y="0"/>
                    <a:pt x="6249670" y="66548"/>
                    <a:pt x="6249670" y="148463"/>
                  </a:cubicBezTo>
                  <a:lnTo>
                    <a:pt x="6249670" y="1986407"/>
                  </a:lnTo>
                  <a:cubicBezTo>
                    <a:pt x="6249670" y="2068449"/>
                    <a:pt x="6183122" y="2134870"/>
                    <a:pt x="6101207" y="2134870"/>
                  </a:cubicBezTo>
                  <a:lnTo>
                    <a:pt x="148463" y="2134870"/>
                  </a:lnTo>
                  <a:cubicBezTo>
                    <a:pt x="66548" y="2134870"/>
                    <a:pt x="0" y="2068322"/>
                    <a:pt x="0" y="1986407"/>
                  </a:cubicBezTo>
                  <a:close/>
                </a:path>
              </a:pathLst>
            </a:custGeom>
            <a:solidFill>
              <a:srgbClr val="1E2761"/>
            </a:solidFill>
            <a:ln w="23812" cap="sq">
              <a:solidFill>
                <a:srgbClr val="1E2761"/>
              </a:solidFill>
              <a:prstDash val="solid"/>
              <a:miter/>
            </a:ln>
          </p:spPr>
        </p:sp>
      </p:grpSp>
      <p:grpSp>
        <p:nvGrpSpPr>
          <p:cNvPr id="24" name="Group 24"/>
          <p:cNvGrpSpPr/>
          <p:nvPr/>
        </p:nvGrpSpPr>
        <p:grpSpPr>
          <a:xfrm>
            <a:off x="-2107987" y="-271462"/>
            <a:ext cx="4687253" cy="1601152"/>
            <a:chOff x="0" y="0"/>
            <a:chExt cx="6249670" cy="2134870"/>
          </a:xfrm>
        </p:grpSpPr>
        <p:sp>
          <p:nvSpPr>
            <p:cNvPr id="25" name="Freeform 25"/>
            <p:cNvSpPr/>
            <p:nvPr/>
          </p:nvSpPr>
          <p:spPr>
            <a:xfrm>
              <a:off x="0" y="0"/>
              <a:ext cx="6249670" cy="2134870"/>
            </a:xfrm>
            <a:custGeom>
              <a:avLst/>
              <a:gdLst/>
              <a:ahLst/>
              <a:cxnLst/>
              <a:rect l="l" t="t" r="r" b="b"/>
              <a:pathLst>
                <a:path w="6249670" h="2134870">
                  <a:moveTo>
                    <a:pt x="0" y="148463"/>
                  </a:moveTo>
                  <a:cubicBezTo>
                    <a:pt x="0" y="66548"/>
                    <a:pt x="66548" y="0"/>
                    <a:pt x="148463" y="0"/>
                  </a:cubicBezTo>
                  <a:lnTo>
                    <a:pt x="6101207" y="0"/>
                  </a:lnTo>
                  <a:cubicBezTo>
                    <a:pt x="6183249" y="0"/>
                    <a:pt x="6249670" y="66548"/>
                    <a:pt x="6249670" y="148463"/>
                  </a:cubicBezTo>
                  <a:lnTo>
                    <a:pt x="6249670" y="1986407"/>
                  </a:lnTo>
                  <a:cubicBezTo>
                    <a:pt x="6249670" y="2068449"/>
                    <a:pt x="6183122" y="2134870"/>
                    <a:pt x="6101207" y="2134870"/>
                  </a:cubicBezTo>
                  <a:lnTo>
                    <a:pt x="148463" y="2134870"/>
                  </a:lnTo>
                  <a:cubicBezTo>
                    <a:pt x="66548" y="2134870"/>
                    <a:pt x="0" y="2068322"/>
                    <a:pt x="0" y="1986407"/>
                  </a:cubicBezTo>
                  <a:close/>
                </a:path>
              </a:pathLst>
            </a:custGeom>
            <a:solidFill>
              <a:srgbClr val="1E2761"/>
            </a:solidFill>
            <a:ln w="23812" cap="sq">
              <a:solidFill>
                <a:srgbClr val="1E2761"/>
              </a:solidFill>
              <a:prstDash val="solid"/>
              <a:miter/>
            </a:ln>
          </p:spPr>
        </p:sp>
      </p:grpSp>
      <p:grpSp>
        <p:nvGrpSpPr>
          <p:cNvPr id="26" name="Group 26"/>
          <p:cNvGrpSpPr/>
          <p:nvPr/>
        </p:nvGrpSpPr>
        <p:grpSpPr>
          <a:xfrm>
            <a:off x="13600748" y="9214961"/>
            <a:ext cx="4687253" cy="1601152"/>
            <a:chOff x="0" y="0"/>
            <a:chExt cx="6249670" cy="2134870"/>
          </a:xfrm>
        </p:grpSpPr>
        <p:sp>
          <p:nvSpPr>
            <p:cNvPr id="27" name="Freeform 27"/>
            <p:cNvSpPr/>
            <p:nvPr/>
          </p:nvSpPr>
          <p:spPr>
            <a:xfrm>
              <a:off x="0" y="0"/>
              <a:ext cx="6249670" cy="2134870"/>
            </a:xfrm>
            <a:custGeom>
              <a:avLst/>
              <a:gdLst/>
              <a:ahLst/>
              <a:cxnLst/>
              <a:rect l="l" t="t" r="r" b="b"/>
              <a:pathLst>
                <a:path w="6249670" h="2134870">
                  <a:moveTo>
                    <a:pt x="0" y="148463"/>
                  </a:moveTo>
                  <a:cubicBezTo>
                    <a:pt x="0" y="66548"/>
                    <a:pt x="66548" y="0"/>
                    <a:pt x="148463" y="0"/>
                  </a:cubicBezTo>
                  <a:lnTo>
                    <a:pt x="6101207" y="0"/>
                  </a:lnTo>
                  <a:cubicBezTo>
                    <a:pt x="6183249" y="0"/>
                    <a:pt x="6249670" y="66548"/>
                    <a:pt x="6249670" y="148463"/>
                  </a:cubicBezTo>
                  <a:lnTo>
                    <a:pt x="6249670" y="1986407"/>
                  </a:lnTo>
                  <a:cubicBezTo>
                    <a:pt x="6249670" y="2068449"/>
                    <a:pt x="6183122" y="2134870"/>
                    <a:pt x="6101207" y="2134870"/>
                  </a:cubicBezTo>
                  <a:lnTo>
                    <a:pt x="148463" y="2134870"/>
                  </a:lnTo>
                  <a:cubicBezTo>
                    <a:pt x="66548" y="2134870"/>
                    <a:pt x="0" y="2068322"/>
                    <a:pt x="0" y="1986407"/>
                  </a:cubicBezTo>
                  <a:close/>
                </a:path>
              </a:pathLst>
            </a:custGeom>
            <a:solidFill>
              <a:srgbClr val="1E2761"/>
            </a:solidFill>
            <a:ln w="23812" cap="sq">
              <a:solidFill>
                <a:srgbClr val="1E2761"/>
              </a:solidFill>
              <a:prstDash val="solid"/>
              <a:miter/>
            </a:ln>
          </p:spPr>
        </p:sp>
      </p:grpSp>
      <p:grpSp>
        <p:nvGrpSpPr>
          <p:cNvPr id="28" name="Group 28"/>
          <p:cNvGrpSpPr/>
          <p:nvPr/>
        </p:nvGrpSpPr>
        <p:grpSpPr>
          <a:xfrm>
            <a:off x="14979682" y="8685848"/>
            <a:ext cx="4687253" cy="1601152"/>
            <a:chOff x="0" y="0"/>
            <a:chExt cx="6249670" cy="2134870"/>
          </a:xfrm>
        </p:grpSpPr>
        <p:sp>
          <p:nvSpPr>
            <p:cNvPr id="29" name="Freeform 29"/>
            <p:cNvSpPr/>
            <p:nvPr/>
          </p:nvSpPr>
          <p:spPr>
            <a:xfrm>
              <a:off x="0" y="0"/>
              <a:ext cx="6249670" cy="2134870"/>
            </a:xfrm>
            <a:custGeom>
              <a:avLst/>
              <a:gdLst/>
              <a:ahLst/>
              <a:cxnLst/>
              <a:rect l="l" t="t" r="r" b="b"/>
              <a:pathLst>
                <a:path w="6249670" h="2134870">
                  <a:moveTo>
                    <a:pt x="0" y="148463"/>
                  </a:moveTo>
                  <a:cubicBezTo>
                    <a:pt x="0" y="66548"/>
                    <a:pt x="66548" y="0"/>
                    <a:pt x="148463" y="0"/>
                  </a:cubicBezTo>
                  <a:lnTo>
                    <a:pt x="6101207" y="0"/>
                  </a:lnTo>
                  <a:cubicBezTo>
                    <a:pt x="6183249" y="0"/>
                    <a:pt x="6249670" y="66548"/>
                    <a:pt x="6249670" y="148463"/>
                  </a:cubicBezTo>
                  <a:lnTo>
                    <a:pt x="6249670" y="1986407"/>
                  </a:lnTo>
                  <a:cubicBezTo>
                    <a:pt x="6249670" y="2068449"/>
                    <a:pt x="6183122" y="2134870"/>
                    <a:pt x="6101207" y="2134870"/>
                  </a:cubicBezTo>
                  <a:lnTo>
                    <a:pt x="148463" y="2134870"/>
                  </a:lnTo>
                  <a:cubicBezTo>
                    <a:pt x="66548" y="2134870"/>
                    <a:pt x="0" y="2068322"/>
                    <a:pt x="0" y="1986407"/>
                  </a:cubicBezTo>
                  <a:close/>
                </a:path>
              </a:pathLst>
            </a:custGeom>
            <a:solidFill>
              <a:srgbClr val="1E2761"/>
            </a:solidFill>
            <a:ln w="23812" cap="sq">
              <a:solidFill>
                <a:srgbClr val="1E2761"/>
              </a:solidFill>
              <a:prstDash val="solid"/>
              <a:miter/>
            </a:ln>
          </p:spPr>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22960" y="548640"/>
            <a:ext cx="10972800" cy="411480"/>
            <a:chOff x="0" y="0"/>
            <a:chExt cx="14630400" cy="548640"/>
          </a:xfrm>
        </p:grpSpPr>
        <p:sp>
          <p:nvSpPr>
            <p:cNvPr id="3" name="Freeform 3"/>
            <p:cNvSpPr/>
            <p:nvPr/>
          </p:nvSpPr>
          <p:spPr>
            <a:xfrm>
              <a:off x="0" y="0"/>
              <a:ext cx="14630400" cy="548640"/>
            </a:xfrm>
            <a:custGeom>
              <a:avLst/>
              <a:gdLst/>
              <a:ahLst/>
              <a:cxnLst/>
              <a:rect l="l" t="t" r="r" b="b"/>
              <a:pathLst>
                <a:path w="14630400" h="548640">
                  <a:moveTo>
                    <a:pt x="0" y="0"/>
                  </a:moveTo>
                  <a:lnTo>
                    <a:pt x="14630400" y="0"/>
                  </a:lnTo>
                  <a:lnTo>
                    <a:pt x="14630400" y="548640"/>
                  </a:lnTo>
                  <a:lnTo>
                    <a:pt x="0" y="548640"/>
                  </a:lnTo>
                  <a:close/>
                </a:path>
              </a:pathLst>
            </a:custGeom>
            <a:blipFill>
              <a:blip r:embed="rId3">
                <a:alphaModFix amt="0"/>
              </a:blip>
              <a:stretch>
                <a:fillRect t="-469601" b="-469601"/>
              </a:stretch>
            </a:blipFill>
          </p:spPr>
        </p:sp>
        <p:sp>
          <p:nvSpPr>
            <p:cNvPr id="4" name="TextBox 4"/>
            <p:cNvSpPr txBox="1"/>
            <p:nvPr/>
          </p:nvSpPr>
          <p:spPr>
            <a:xfrm>
              <a:off x="0" y="-38100"/>
              <a:ext cx="14630400" cy="586740"/>
            </a:xfrm>
            <a:prstGeom prst="rect">
              <a:avLst/>
            </a:prstGeom>
          </p:spPr>
          <p:txBody>
            <a:bodyPr lIns="0" tIns="0" rIns="0" bIns="0" rtlCol="0" anchor="ctr"/>
            <a:lstStyle/>
            <a:p>
              <a:pPr algn="l">
                <a:lnSpc>
                  <a:spcPts val="2160"/>
                </a:lnSpc>
              </a:pPr>
              <a:r>
                <a:rPr lang="en-US" sz="1800" b="1" spc="300">
                  <a:solidFill>
                    <a:srgbClr val="1E2761"/>
                  </a:solidFill>
                  <a:latin typeface="Calibri (MS) Bold"/>
                  <a:ea typeface="Calibri (MS) Bold"/>
                  <a:cs typeface="Calibri (MS) Bold"/>
                  <a:sym typeface="Calibri (MS) Bold"/>
                </a:rPr>
                <a:t>MOTIVATION</a:t>
              </a:r>
            </a:p>
          </p:txBody>
        </p:sp>
      </p:grpSp>
      <p:grpSp>
        <p:nvGrpSpPr>
          <p:cNvPr id="5" name="Group 5"/>
          <p:cNvGrpSpPr/>
          <p:nvPr/>
        </p:nvGrpSpPr>
        <p:grpSpPr>
          <a:xfrm>
            <a:off x="822960" y="932688"/>
            <a:ext cx="16637508" cy="960120"/>
            <a:chOff x="0" y="0"/>
            <a:chExt cx="22183344" cy="1280160"/>
          </a:xfrm>
        </p:grpSpPr>
        <p:sp>
          <p:nvSpPr>
            <p:cNvPr id="6" name="Freeform 6"/>
            <p:cNvSpPr/>
            <p:nvPr/>
          </p:nvSpPr>
          <p:spPr>
            <a:xfrm>
              <a:off x="0" y="0"/>
              <a:ext cx="22183344" cy="1280160"/>
            </a:xfrm>
            <a:custGeom>
              <a:avLst/>
              <a:gdLst/>
              <a:ahLst/>
              <a:cxnLst/>
              <a:rect l="l" t="t" r="r" b="b"/>
              <a:pathLst>
                <a:path w="22183344" h="1280160">
                  <a:moveTo>
                    <a:pt x="0" y="0"/>
                  </a:moveTo>
                  <a:lnTo>
                    <a:pt x="22183344" y="0"/>
                  </a:lnTo>
                  <a:lnTo>
                    <a:pt x="22183344" y="1280160"/>
                  </a:lnTo>
                  <a:lnTo>
                    <a:pt x="0" y="1280160"/>
                  </a:lnTo>
                  <a:close/>
                </a:path>
              </a:pathLst>
            </a:custGeom>
            <a:blipFill>
              <a:blip r:embed="rId3">
                <a:alphaModFix amt="0"/>
              </a:blip>
              <a:stretch>
                <a:fillRect t="-287647" b="-287647"/>
              </a:stretch>
            </a:blipFill>
          </p:spPr>
        </p:sp>
        <p:sp>
          <p:nvSpPr>
            <p:cNvPr id="7" name="TextBox 7"/>
            <p:cNvSpPr txBox="1"/>
            <p:nvPr/>
          </p:nvSpPr>
          <p:spPr>
            <a:xfrm>
              <a:off x="0" y="-9525"/>
              <a:ext cx="22183344" cy="1289685"/>
            </a:xfrm>
            <a:prstGeom prst="rect">
              <a:avLst/>
            </a:prstGeom>
          </p:spPr>
          <p:txBody>
            <a:bodyPr lIns="0" tIns="0" rIns="0" bIns="0" rtlCol="0" anchor="ctr"/>
            <a:lstStyle/>
            <a:p>
              <a:pPr algn="l">
                <a:lnSpc>
                  <a:spcPts val="5759"/>
                </a:lnSpc>
              </a:pPr>
              <a:r>
                <a:rPr lang="en-US" sz="4800" b="1">
                  <a:solidFill>
                    <a:srgbClr val="141B47"/>
                  </a:solidFill>
                  <a:latin typeface="Cambria Bold"/>
                  <a:ea typeface="Cambria Bold"/>
                  <a:cs typeface="Cambria Bold"/>
                  <a:sym typeface="Cambria Bold"/>
                </a:rPr>
                <a:t>Problem Statement</a:t>
              </a:r>
            </a:p>
          </p:txBody>
        </p:sp>
      </p:grpSp>
      <p:grpSp>
        <p:nvGrpSpPr>
          <p:cNvPr id="8" name="Group 8"/>
          <p:cNvGrpSpPr/>
          <p:nvPr/>
        </p:nvGrpSpPr>
        <p:grpSpPr>
          <a:xfrm>
            <a:off x="822960" y="2125980"/>
            <a:ext cx="7818120" cy="685800"/>
            <a:chOff x="0" y="0"/>
            <a:chExt cx="10424160" cy="914400"/>
          </a:xfrm>
        </p:grpSpPr>
        <p:sp>
          <p:nvSpPr>
            <p:cNvPr id="9" name="Freeform 9"/>
            <p:cNvSpPr/>
            <p:nvPr/>
          </p:nvSpPr>
          <p:spPr>
            <a:xfrm>
              <a:off x="0" y="0"/>
              <a:ext cx="10424160" cy="914400"/>
            </a:xfrm>
            <a:custGeom>
              <a:avLst/>
              <a:gdLst/>
              <a:ahLst/>
              <a:cxnLst/>
              <a:rect l="l" t="t" r="r" b="b"/>
              <a:pathLst>
                <a:path w="10424160" h="914400">
                  <a:moveTo>
                    <a:pt x="0" y="0"/>
                  </a:moveTo>
                  <a:lnTo>
                    <a:pt x="10424160" y="0"/>
                  </a:lnTo>
                  <a:lnTo>
                    <a:pt x="10424160" y="914400"/>
                  </a:lnTo>
                  <a:lnTo>
                    <a:pt x="0" y="914400"/>
                  </a:lnTo>
                  <a:close/>
                </a:path>
              </a:pathLst>
            </a:custGeom>
            <a:blipFill>
              <a:blip r:embed="rId3">
                <a:alphaModFix amt="0"/>
              </a:blip>
              <a:stretch>
                <a:fillRect t="-172129" b="-172129"/>
              </a:stretch>
            </a:blipFill>
          </p:spPr>
        </p:sp>
        <p:sp>
          <p:nvSpPr>
            <p:cNvPr id="10" name="TextBox 10"/>
            <p:cNvSpPr txBox="1"/>
            <p:nvPr/>
          </p:nvSpPr>
          <p:spPr>
            <a:xfrm>
              <a:off x="0" y="-38100"/>
              <a:ext cx="10424160" cy="952500"/>
            </a:xfrm>
            <a:prstGeom prst="rect">
              <a:avLst/>
            </a:prstGeom>
          </p:spPr>
          <p:txBody>
            <a:bodyPr lIns="0" tIns="0" rIns="0" bIns="0" rtlCol="0" anchor="ctr"/>
            <a:lstStyle/>
            <a:p>
              <a:pPr algn="l">
                <a:lnSpc>
                  <a:spcPts val="2879"/>
                </a:lnSpc>
              </a:pPr>
              <a:r>
                <a:rPr lang="en-US" sz="2400" b="1">
                  <a:solidFill>
                    <a:srgbClr val="1E2761"/>
                  </a:solidFill>
                  <a:latin typeface="Calibri (MS) Bold"/>
                  <a:ea typeface="Calibri (MS) Bold"/>
                  <a:cs typeface="Calibri (MS) Bold"/>
                  <a:sym typeface="Calibri (MS) Bold"/>
                </a:rPr>
                <a:t>Why social analytics needs structured relational data</a:t>
              </a:r>
            </a:p>
          </p:txBody>
        </p:sp>
      </p:grpSp>
      <p:grpSp>
        <p:nvGrpSpPr>
          <p:cNvPr id="11" name="Group 11"/>
          <p:cNvGrpSpPr/>
          <p:nvPr/>
        </p:nvGrpSpPr>
        <p:grpSpPr>
          <a:xfrm>
            <a:off x="822960" y="2880360"/>
            <a:ext cx="7818120" cy="2194560"/>
            <a:chOff x="0" y="0"/>
            <a:chExt cx="10424160" cy="2926080"/>
          </a:xfrm>
        </p:grpSpPr>
        <p:sp>
          <p:nvSpPr>
            <p:cNvPr id="12" name="Freeform 12"/>
            <p:cNvSpPr/>
            <p:nvPr/>
          </p:nvSpPr>
          <p:spPr>
            <a:xfrm>
              <a:off x="0" y="0"/>
              <a:ext cx="10424160" cy="2926080"/>
            </a:xfrm>
            <a:custGeom>
              <a:avLst/>
              <a:gdLst/>
              <a:ahLst/>
              <a:cxnLst/>
              <a:rect l="l" t="t" r="r" b="b"/>
              <a:pathLst>
                <a:path w="10424160" h="2926080">
                  <a:moveTo>
                    <a:pt x="0" y="0"/>
                  </a:moveTo>
                  <a:lnTo>
                    <a:pt x="10424160" y="0"/>
                  </a:lnTo>
                  <a:lnTo>
                    <a:pt x="10424160" y="2926080"/>
                  </a:lnTo>
                  <a:lnTo>
                    <a:pt x="0" y="2926080"/>
                  </a:lnTo>
                  <a:close/>
                </a:path>
              </a:pathLst>
            </a:custGeom>
            <a:blipFill>
              <a:blip r:embed="rId3">
                <a:alphaModFix amt="0"/>
              </a:blip>
              <a:stretch>
                <a:fillRect t="-19415" b="-19415"/>
              </a:stretch>
            </a:blipFill>
          </p:spPr>
        </p:sp>
        <p:sp>
          <p:nvSpPr>
            <p:cNvPr id="13" name="TextBox 13"/>
            <p:cNvSpPr txBox="1"/>
            <p:nvPr/>
          </p:nvSpPr>
          <p:spPr>
            <a:xfrm>
              <a:off x="0" y="-104775"/>
              <a:ext cx="10424160" cy="3030855"/>
            </a:xfrm>
            <a:prstGeom prst="rect">
              <a:avLst/>
            </a:prstGeom>
          </p:spPr>
          <p:txBody>
            <a:bodyPr lIns="0" tIns="0" rIns="0" bIns="0" rtlCol="0" anchor="ctr"/>
            <a:lstStyle/>
            <a:p>
              <a:pPr algn="l">
                <a:lnSpc>
                  <a:spcPts val="3150"/>
                </a:lnSpc>
              </a:pPr>
              <a:r>
                <a:rPr lang="en-US" sz="2100" b="1">
                  <a:solidFill>
                    <a:srgbClr val="555555"/>
                  </a:solidFill>
                  <a:latin typeface="Calibri (MS) Bold"/>
                  <a:ea typeface="Calibri (MS) Bold"/>
                  <a:cs typeface="Calibri (MS) Bold"/>
                  <a:sym typeface="Calibri (MS) Bold"/>
                </a:rPr>
                <a:t>The focus of this project is not basic CRUD. Social platforms generate large volumes of connected activity, and answering real questions about that activity requires the database itself to do the analytical work.</a:t>
              </a:r>
            </a:p>
          </p:txBody>
        </p:sp>
      </p:grpSp>
      <p:grpSp>
        <p:nvGrpSpPr>
          <p:cNvPr id="14" name="Group 14"/>
          <p:cNvGrpSpPr/>
          <p:nvPr/>
        </p:nvGrpSpPr>
        <p:grpSpPr>
          <a:xfrm>
            <a:off x="822960" y="5349240"/>
            <a:ext cx="7818120" cy="1508760"/>
            <a:chOff x="0" y="0"/>
            <a:chExt cx="10424160" cy="2011680"/>
          </a:xfrm>
        </p:grpSpPr>
        <p:sp>
          <p:nvSpPr>
            <p:cNvPr id="15" name="Freeform 15"/>
            <p:cNvSpPr/>
            <p:nvPr/>
          </p:nvSpPr>
          <p:spPr>
            <a:xfrm>
              <a:off x="0" y="0"/>
              <a:ext cx="10424160" cy="2011680"/>
            </a:xfrm>
            <a:custGeom>
              <a:avLst/>
              <a:gdLst/>
              <a:ahLst/>
              <a:cxnLst/>
              <a:rect l="l" t="t" r="r" b="b"/>
              <a:pathLst>
                <a:path w="10424160" h="2011680">
                  <a:moveTo>
                    <a:pt x="0" y="0"/>
                  </a:moveTo>
                  <a:lnTo>
                    <a:pt x="10424160" y="0"/>
                  </a:lnTo>
                  <a:lnTo>
                    <a:pt x="10424160" y="2011680"/>
                  </a:lnTo>
                  <a:lnTo>
                    <a:pt x="0" y="2011680"/>
                  </a:lnTo>
                  <a:close/>
                </a:path>
              </a:pathLst>
            </a:custGeom>
            <a:blipFill>
              <a:blip r:embed="rId3">
                <a:alphaModFix amt="0"/>
              </a:blip>
              <a:stretch>
                <a:fillRect t="-50967" b="-50967"/>
              </a:stretch>
            </a:blipFill>
          </p:spPr>
        </p:sp>
        <p:sp>
          <p:nvSpPr>
            <p:cNvPr id="16" name="TextBox 16"/>
            <p:cNvSpPr txBox="1"/>
            <p:nvPr/>
          </p:nvSpPr>
          <p:spPr>
            <a:xfrm>
              <a:off x="0" y="-104775"/>
              <a:ext cx="10424160" cy="2116455"/>
            </a:xfrm>
            <a:prstGeom prst="rect">
              <a:avLst/>
            </a:prstGeom>
          </p:spPr>
          <p:txBody>
            <a:bodyPr lIns="0" tIns="0" rIns="0" bIns="0" rtlCol="0" anchor="ctr"/>
            <a:lstStyle/>
            <a:p>
              <a:pPr algn="l">
                <a:lnSpc>
                  <a:spcPts val="3150"/>
                </a:lnSpc>
              </a:pPr>
              <a:r>
                <a:rPr lang="en-US" sz="2100" b="1">
                  <a:solidFill>
                    <a:srgbClr val="555555"/>
                  </a:solidFill>
                  <a:latin typeface="Calibri (MS) Bold"/>
                  <a:ea typeface="Calibri (MS) Bold"/>
                  <a:cs typeface="Calibri (MS) Bold"/>
                  <a:sym typeface="Calibri (MS) Bold"/>
                </a:rPr>
                <a:t>We analyse users, posts, comments, followers and engagement to surface trends, rankings and activity patterns — not just to store and retrieve rows.</a:t>
              </a:r>
            </a:p>
          </p:txBody>
        </p:sp>
      </p:grpSp>
      <p:grpSp>
        <p:nvGrpSpPr>
          <p:cNvPr id="17" name="Group 17"/>
          <p:cNvGrpSpPr/>
          <p:nvPr/>
        </p:nvGrpSpPr>
        <p:grpSpPr>
          <a:xfrm>
            <a:off x="9728835" y="2116455"/>
            <a:ext cx="7700010" cy="6671310"/>
            <a:chOff x="0" y="0"/>
            <a:chExt cx="10266680" cy="8895080"/>
          </a:xfrm>
        </p:grpSpPr>
        <p:sp>
          <p:nvSpPr>
            <p:cNvPr id="18" name="Freeform 18"/>
            <p:cNvSpPr/>
            <p:nvPr/>
          </p:nvSpPr>
          <p:spPr>
            <a:xfrm>
              <a:off x="0" y="0"/>
              <a:ext cx="10266680" cy="8895080"/>
            </a:xfrm>
            <a:custGeom>
              <a:avLst/>
              <a:gdLst/>
              <a:ahLst/>
              <a:cxnLst/>
              <a:rect l="l" t="t" r="r" b="b"/>
              <a:pathLst>
                <a:path w="10266680" h="8895080">
                  <a:moveTo>
                    <a:pt x="0" y="146685"/>
                  </a:moveTo>
                  <a:cubicBezTo>
                    <a:pt x="0" y="65659"/>
                    <a:pt x="65659" y="0"/>
                    <a:pt x="146685" y="0"/>
                  </a:cubicBezTo>
                  <a:lnTo>
                    <a:pt x="10119995" y="0"/>
                  </a:lnTo>
                  <a:cubicBezTo>
                    <a:pt x="10201021" y="0"/>
                    <a:pt x="10266680" y="65659"/>
                    <a:pt x="10266680" y="146685"/>
                  </a:cubicBezTo>
                  <a:lnTo>
                    <a:pt x="10266680" y="8748395"/>
                  </a:lnTo>
                  <a:cubicBezTo>
                    <a:pt x="10266680" y="8829421"/>
                    <a:pt x="10201021" y="8895080"/>
                    <a:pt x="10119995" y="8895080"/>
                  </a:cubicBezTo>
                  <a:lnTo>
                    <a:pt x="146685" y="8895080"/>
                  </a:lnTo>
                  <a:cubicBezTo>
                    <a:pt x="65659" y="8895080"/>
                    <a:pt x="0" y="8829421"/>
                    <a:pt x="0" y="8748395"/>
                  </a:cubicBezTo>
                  <a:close/>
                </a:path>
              </a:pathLst>
            </a:custGeom>
            <a:solidFill>
              <a:srgbClr val="F7F8FC"/>
            </a:solidFill>
            <a:ln w="19050" cap="sq">
              <a:solidFill>
                <a:srgbClr val="CADCFC"/>
              </a:solidFill>
              <a:prstDash val="solid"/>
              <a:miter/>
            </a:ln>
          </p:spPr>
        </p:sp>
      </p:grpSp>
      <p:grpSp>
        <p:nvGrpSpPr>
          <p:cNvPr id="19" name="Group 19"/>
          <p:cNvGrpSpPr/>
          <p:nvPr/>
        </p:nvGrpSpPr>
        <p:grpSpPr>
          <a:xfrm>
            <a:off x="10218420" y="2537460"/>
            <a:ext cx="6720840" cy="411480"/>
            <a:chOff x="0" y="0"/>
            <a:chExt cx="8961120" cy="548640"/>
          </a:xfrm>
        </p:grpSpPr>
        <p:sp>
          <p:nvSpPr>
            <p:cNvPr id="20" name="Freeform 20"/>
            <p:cNvSpPr/>
            <p:nvPr/>
          </p:nvSpPr>
          <p:spPr>
            <a:xfrm>
              <a:off x="0" y="0"/>
              <a:ext cx="8961120" cy="548640"/>
            </a:xfrm>
            <a:custGeom>
              <a:avLst/>
              <a:gdLst/>
              <a:ahLst/>
              <a:cxnLst/>
              <a:rect l="l" t="t" r="r" b="b"/>
              <a:pathLst>
                <a:path w="8961120" h="548640">
                  <a:moveTo>
                    <a:pt x="0" y="0"/>
                  </a:moveTo>
                  <a:lnTo>
                    <a:pt x="8961120" y="0"/>
                  </a:lnTo>
                  <a:lnTo>
                    <a:pt x="8961120" y="548640"/>
                  </a:lnTo>
                  <a:lnTo>
                    <a:pt x="0" y="548640"/>
                  </a:lnTo>
                  <a:close/>
                </a:path>
              </a:pathLst>
            </a:custGeom>
            <a:blipFill>
              <a:blip r:embed="rId3">
                <a:alphaModFix amt="0"/>
              </a:blip>
              <a:stretch>
                <a:fillRect t="-268255" b="-268255"/>
              </a:stretch>
            </a:blipFill>
          </p:spPr>
        </p:sp>
        <p:sp>
          <p:nvSpPr>
            <p:cNvPr id="21" name="TextBox 21"/>
            <p:cNvSpPr txBox="1"/>
            <p:nvPr/>
          </p:nvSpPr>
          <p:spPr>
            <a:xfrm>
              <a:off x="0" y="-28575"/>
              <a:ext cx="8961120" cy="577215"/>
            </a:xfrm>
            <a:prstGeom prst="rect">
              <a:avLst/>
            </a:prstGeom>
          </p:spPr>
          <p:txBody>
            <a:bodyPr lIns="0" tIns="0" rIns="0" bIns="0" rtlCol="0" anchor="ctr"/>
            <a:lstStyle/>
            <a:p>
              <a:pPr algn="l">
                <a:lnSpc>
                  <a:spcPts val="1980"/>
                </a:lnSpc>
              </a:pPr>
              <a:r>
                <a:rPr lang="en-US" sz="1650" b="1" spc="225">
                  <a:solidFill>
                    <a:srgbClr val="1E2761"/>
                  </a:solidFill>
                  <a:latin typeface="Calibri (MS) Bold"/>
                  <a:ea typeface="Calibri (MS) Bold"/>
                  <a:cs typeface="Calibri (MS) Bold"/>
                  <a:sym typeface="Calibri (MS) Bold"/>
                </a:rPr>
                <a:t>FROM RAW ACTIVITY ...</a:t>
              </a:r>
            </a:p>
          </p:txBody>
        </p:sp>
      </p:grpSp>
      <p:grpSp>
        <p:nvGrpSpPr>
          <p:cNvPr id="22" name="Group 22"/>
          <p:cNvGrpSpPr/>
          <p:nvPr/>
        </p:nvGrpSpPr>
        <p:grpSpPr>
          <a:xfrm>
            <a:off x="10218420" y="3017520"/>
            <a:ext cx="6720840" cy="2606040"/>
            <a:chOff x="0" y="0"/>
            <a:chExt cx="8961120" cy="3474720"/>
          </a:xfrm>
        </p:grpSpPr>
        <p:sp>
          <p:nvSpPr>
            <p:cNvPr id="23" name="Freeform 23"/>
            <p:cNvSpPr/>
            <p:nvPr/>
          </p:nvSpPr>
          <p:spPr>
            <a:xfrm>
              <a:off x="0" y="0"/>
              <a:ext cx="8961120" cy="3474720"/>
            </a:xfrm>
            <a:custGeom>
              <a:avLst/>
              <a:gdLst/>
              <a:ahLst/>
              <a:cxnLst/>
              <a:rect l="l" t="t" r="r" b="b"/>
              <a:pathLst>
                <a:path w="8961120" h="3474720">
                  <a:moveTo>
                    <a:pt x="0" y="0"/>
                  </a:moveTo>
                  <a:lnTo>
                    <a:pt x="8961120" y="0"/>
                  </a:lnTo>
                  <a:lnTo>
                    <a:pt x="8961120" y="3474720"/>
                  </a:lnTo>
                  <a:lnTo>
                    <a:pt x="0" y="3474720"/>
                  </a:lnTo>
                  <a:close/>
                </a:path>
              </a:pathLst>
            </a:custGeom>
            <a:blipFill>
              <a:blip r:embed="rId3">
                <a:alphaModFix amt="0"/>
              </a:blip>
              <a:stretch>
                <a:fillRect t="-250" b="-250"/>
              </a:stretch>
            </a:blipFill>
          </p:spPr>
        </p:sp>
        <p:sp>
          <p:nvSpPr>
            <p:cNvPr id="24" name="TextBox 24"/>
            <p:cNvSpPr txBox="1"/>
            <p:nvPr/>
          </p:nvSpPr>
          <p:spPr>
            <a:xfrm>
              <a:off x="0" y="-38100"/>
              <a:ext cx="8961120" cy="3512820"/>
            </a:xfrm>
            <a:prstGeom prst="rect">
              <a:avLst/>
            </a:prstGeom>
          </p:spPr>
          <p:txBody>
            <a:bodyPr lIns="0" tIns="0" rIns="0" bIns="0" rtlCol="0" anchor="ctr"/>
            <a:lstStyle/>
            <a:p>
              <a:pPr marL="366474" lvl="1" indent="-183237" algn="l">
                <a:lnSpc>
                  <a:spcPts val="2430"/>
                </a:lnSpc>
                <a:buFont typeface="Arial"/>
                <a:buChar char="•"/>
              </a:pPr>
              <a:r>
                <a:rPr lang="en-US" sz="2025">
                  <a:solidFill>
                    <a:srgbClr val="555555"/>
                  </a:solidFill>
                  <a:latin typeface="Calibri (MS)"/>
                  <a:ea typeface="Calibri (MS)"/>
                  <a:cs typeface="Calibri (MS)"/>
                  <a:sym typeface="Calibri (MS)"/>
                </a:rPr>
                <a:t>Users</a:t>
              </a:r>
            </a:p>
            <a:p>
              <a:pPr marL="366474" lvl="1" indent="-183237" algn="l">
                <a:lnSpc>
                  <a:spcPts val="2430"/>
                </a:lnSpc>
                <a:buFont typeface="Arial"/>
                <a:buChar char="•"/>
              </a:pPr>
              <a:r>
                <a:rPr lang="en-US" sz="2025">
                  <a:solidFill>
                    <a:srgbClr val="555555"/>
                  </a:solidFill>
                  <a:latin typeface="Calibri (MS)"/>
                  <a:ea typeface="Calibri (MS)"/>
                  <a:cs typeface="Calibri (MS)"/>
                  <a:sym typeface="Calibri (MS)"/>
                </a:rPr>
                <a:t>Posts</a:t>
              </a:r>
            </a:p>
            <a:p>
              <a:pPr marL="366474" lvl="1" indent="-183237" algn="l">
                <a:lnSpc>
                  <a:spcPts val="2430"/>
                </a:lnSpc>
                <a:buFont typeface="Arial"/>
                <a:buChar char="•"/>
              </a:pPr>
              <a:r>
                <a:rPr lang="en-US" sz="2025">
                  <a:solidFill>
                    <a:srgbClr val="555555"/>
                  </a:solidFill>
                  <a:latin typeface="Calibri (MS)"/>
                  <a:ea typeface="Calibri (MS)"/>
                  <a:cs typeface="Calibri (MS)"/>
                  <a:sym typeface="Calibri (MS)"/>
                </a:rPr>
                <a:t>Comments</a:t>
              </a:r>
            </a:p>
            <a:p>
              <a:pPr marL="366474" lvl="1" indent="-183237" algn="l">
                <a:lnSpc>
                  <a:spcPts val="2430"/>
                </a:lnSpc>
                <a:buFont typeface="Arial"/>
                <a:buChar char="•"/>
              </a:pPr>
              <a:r>
                <a:rPr lang="en-US" sz="2025">
                  <a:solidFill>
                    <a:srgbClr val="555555"/>
                  </a:solidFill>
                  <a:latin typeface="Calibri (MS)"/>
                  <a:ea typeface="Calibri (MS)"/>
                  <a:cs typeface="Calibri (MS)"/>
                  <a:sym typeface="Calibri (MS)"/>
                </a:rPr>
                <a:t>Followers</a:t>
              </a:r>
            </a:p>
            <a:p>
              <a:pPr marL="366474" lvl="1" indent="-183237" algn="l">
                <a:lnSpc>
                  <a:spcPts val="2430"/>
                </a:lnSpc>
                <a:buFont typeface="Arial"/>
                <a:buChar char="•"/>
              </a:pPr>
              <a:r>
                <a:rPr lang="en-US" sz="2025">
                  <a:solidFill>
                    <a:srgbClr val="555555"/>
                  </a:solidFill>
                  <a:latin typeface="Calibri (MS)"/>
                  <a:ea typeface="Calibri (MS)"/>
                  <a:cs typeface="Calibri (MS)"/>
                  <a:sym typeface="Calibri (MS)"/>
                </a:rPr>
                <a:t>Interactions (views, likes, saves, shares)</a:t>
              </a:r>
            </a:p>
          </p:txBody>
        </p:sp>
      </p:grpSp>
      <p:sp>
        <p:nvSpPr>
          <p:cNvPr id="25" name="AutoShape 25"/>
          <p:cNvSpPr/>
          <p:nvPr/>
        </p:nvSpPr>
        <p:spPr>
          <a:xfrm rot="12120">
            <a:off x="10206495" y="5755958"/>
            <a:ext cx="6744691" cy="0"/>
          </a:xfrm>
          <a:prstGeom prst="line">
            <a:avLst/>
          </a:prstGeom>
          <a:ln w="9525" cap="rnd">
            <a:solidFill>
              <a:srgbClr val="CADCFC"/>
            </a:solidFill>
            <a:prstDash val="solid"/>
            <a:headEnd type="none" w="sm" len="sm"/>
            <a:tailEnd type="none" w="sm" len="sm"/>
          </a:ln>
        </p:spPr>
      </p:sp>
      <p:grpSp>
        <p:nvGrpSpPr>
          <p:cNvPr id="26" name="Group 26"/>
          <p:cNvGrpSpPr/>
          <p:nvPr/>
        </p:nvGrpSpPr>
        <p:grpSpPr>
          <a:xfrm>
            <a:off x="10218420" y="6035040"/>
            <a:ext cx="6720840" cy="411480"/>
            <a:chOff x="0" y="0"/>
            <a:chExt cx="8961120" cy="548640"/>
          </a:xfrm>
        </p:grpSpPr>
        <p:sp>
          <p:nvSpPr>
            <p:cNvPr id="27" name="Freeform 27"/>
            <p:cNvSpPr/>
            <p:nvPr/>
          </p:nvSpPr>
          <p:spPr>
            <a:xfrm>
              <a:off x="0" y="0"/>
              <a:ext cx="8961120" cy="548640"/>
            </a:xfrm>
            <a:custGeom>
              <a:avLst/>
              <a:gdLst/>
              <a:ahLst/>
              <a:cxnLst/>
              <a:rect l="l" t="t" r="r" b="b"/>
              <a:pathLst>
                <a:path w="8961120" h="548640">
                  <a:moveTo>
                    <a:pt x="0" y="0"/>
                  </a:moveTo>
                  <a:lnTo>
                    <a:pt x="8961120" y="0"/>
                  </a:lnTo>
                  <a:lnTo>
                    <a:pt x="8961120" y="548640"/>
                  </a:lnTo>
                  <a:lnTo>
                    <a:pt x="0" y="548640"/>
                  </a:lnTo>
                  <a:close/>
                </a:path>
              </a:pathLst>
            </a:custGeom>
            <a:blipFill>
              <a:blip r:embed="rId3">
                <a:alphaModFix amt="0"/>
              </a:blip>
              <a:stretch>
                <a:fillRect t="-268255" b="-268255"/>
              </a:stretch>
            </a:blipFill>
          </p:spPr>
        </p:sp>
        <p:sp>
          <p:nvSpPr>
            <p:cNvPr id="28" name="TextBox 28"/>
            <p:cNvSpPr txBox="1"/>
            <p:nvPr/>
          </p:nvSpPr>
          <p:spPr>
            <a:xfrm>
              <a:off x="0" y="-28575"/>
              <a:ext cx="8961120" cy="577215"/>
            </a:xfrm>
            <a:prstGeom prst="rect">
              <a:avLst/>
            </a:prstGeom>
          </p:spPr>
          <p:txBody>
            <a:bodyPr lIns="0" tIns="0" rIns="0" bIns="0" rtlCol="0" anchor="ctr"/>
            <a:lstStyle/>
            <a:p>
              <a:pPr algn="l">
                <a:lnSpc>
                  <a:spcPts val="1980"/>
                </a:lnSpc>
              </a:pPr>
              <a:r>
                <a:rPr lang="en-US" sz="1650" b="1" spc="225">
                  <a:solidFill>
                    <a:srgbClr val="1E2761"/>
                  </a:solidFill>
                  <a:latin typeface="Calibri (MS) Bold"/>
                  <a:ea typeface="Calibri (MS) Bold"/>
                  <a:cs typeface="Calibri (MS) Bold"/>
                  <a:sym typeface="Calibri (MS) Bold"/>
                </a:rPr>
                <a:t>... TO STRUCTURED INSIGHT</a:t>
              </a:r>
            </a:p>
          </p:txBody>
        </p:sp>
      </p:grpSp>
      <p:grpSp>
        <p:nvGrpSpPr>
          <p:cNvPr id="29" name="Group 29"/>
          <p:cNvGrpSpPr/>
          <p:nvPr/>
        </p:nvGrpSpPr>
        <p:grpSpPr>
          <a:xfrm>
            <a:off x="10218420" y="6515100"/>
            <a:ext cx="6720840" cy="2057400"/>
            <a:chOff x="0" y="0"/>
            <a:chExt cx="8961120" cy="2743200"/>
          </a:xfrm>
        </p:grpSpPr>
        <p:sp>
          <p:nvSpPr>
            <p:cNvPr id="30" name="Freeform 30"/>
            <p:cNvSpPr/>
            <p:nvPr/>
          </p:nvSpPr>
          <p:spPr>
            <a:xfrm>
              <a:off x="0" y="0"/>
              <a:ext cx="8961120" cy="2743200"/>
            </a:xfrm>
            <a:custGeom>
              <a:avLst/>
              <a:gdLst/>
              <a:ahLst/>
              <a:cxnLst/>
              <a:rect l="l" t="t" r="r" b="b"/>
              <a:pathLst>
                <a:path w="8961120" h="2743200">
                  <a:moveTo>
                    <a:pt x="0" y="0"/>
                  </a:moveTo>
                  <a:lnTo>
                    <a:pt x="8961120" y="0"/>
                  </a:lnTo>
                  <a:lnTo>
                    <a:pt x="8961120" y="2743200"/>
                  </a:lnTo>
                  <a:lnTo>
                    <a:pt x="0" y="2743200"/>
                  </a:lnTo>
                  <a:close/>
                </a:path>
              </a:pathLst>
            </a:custGeom>
            <a:blipFill>
              <a:blip r:embed="rId3">
                <a:alphaModFix amt="0"/>
              </a:blip>
              <a:stretch>
                <a:fillRect t="-13651" b="-13651"/>
              </a:stretch>
            </a:blipFill>
          </p:spPr>
        </p:sp>
        <p:sp>
          <p:nvSpPr>
            <p:cNvPr id="31" name="TextBox 31"/>
            <p:cNvSpPr txBox="1"/>
            <p:nvPr/>
          </p:nvSpPr>
          <p:spPr>
            <a:xfrm>
              <a:off x="0" y="-38100"/>
              <a:ext cx="8961120" cy="2781300"/>
            </a:xfrm>
            <a:prstGeom prst="rect">
              <a:avLst/>
            </a:prstGeom>
          </p:spPr>
          <p:txBody>
            <a:bodyPr lIns="0" tIns="0" rIns="0" bIns="0" rtlCol="0" anchor="ctr"/>
            <a:lstStyle/>
            <a:p>
              <a:pPr marL="366474" lvl="1" indent="-183237" algn="l">
                <a:lnSpc>
                  <a:spcPts val="2430"/>
                </a:lnSpc>
                <a:buFont typeface="Arial"/>
                <a:buChar char="•"/>
              </a:pPr>
              <a:r>
                <a:rPr lang="en-US" sz="2025">
                  <a:solidFill>
                    <a:srgbClr val="555555"/>
                  </a:solidFill>
                  <a:latin typeface="Calibri (MS)"/>
                  <a:ea typeface="Calibri (MS)"/>
                  <a:cs typeface="Calibri (MS)"/>
                  <a:sym typeface="Calibri (MS)"/>
                </a:rPr>
                <a:t>Engagement trends over time</a:t>
              </a:r>
            </a:p>
            <a:p>
              <a:pPr marL="366474" lvl="1" indent="-183237" algn="l">
                <a:lnSpc>
                  <a:spcPts val="2430"/>
                </a:lnSpc>
                <a:buFont typeface="Arial"/>
                <a:buChar char="•"/>
              </a:pPr>
              <a:r>
                <a:rPr lang="en-US" sz="2025">
                  <a:solidFill>
                    <a:srgbClr val="555555"/>
                  </a:solidFill>
                  <a:latin typeface="Calibri (MS)"/>
                  <a:ea typeface="Calibri (MS)"/>
                  <a:cs typeface="Calibri (MS)"/>
                  <a:sym typeface="Calibri (MS)"/>
                </a:rPr>
                <a:t>Creator and post rankings</a:t>
              </a:r>
            </a:p>
            <a:p>
              <a:pPr marL="366474" lvl="1" indent="-183237" algn="l">
                <a:lnSpc>
                  <a:spcPts val="2430"/>
                </a:lnSpc>
                <a:buFont typeface="Arial"/>
                <a:buChar char="•"/>
              </a:pPr>
              <a:r>
                <a:rPr lang="en-US" sz="2025">
                  <a:solidFill>
                    <a:srgbClr val="555555"/>
                  </a:solidFill>
                  <a:latin typeface="Calibri (MS)"/>
                  <a:ea typeface="Calibri (MS)"/>
                  <a:cs typeface="Calibri (MS)"/>
                  <a:sym typeface="Calibri (MS)"/>
                </a:rPr>
                <a:t>Peak activity patterns</a:t>
              </a:r>
            </a:p>
          </p:txBody>
        </p:sp>
      </p:grpSp>
      <p:grpSp>
        <p:nvGrpSpPr>
          <p:cNvPr id="32" name="Group 32"/>
          <p:cNvGrpSpPr/>
          <p:nvPr/>
        </p:nvGrpSpPr>
        <p:grpSpPr>
          <a:xfrm>
            <a:off x="17323308" y="9669780"/>
            <a:ext cx="548640" cy="411480"/>
            <a:chOff x="0" y="0"/>
            <a:chExt cx="731520" cy="548640"/>
          </a:xfrm>
        </p:grpSpPr>
        <p:sp>
          <p:nvSpPr>
            <p:cNvPr id="33" name="Freeform 33"/>
            <p:cNvSpPr/>
            <p:nvPr/>
          </p:nvSpPr>
          <p:spPr>
            <a:xfrm>
              <a:off x="0" y="0"/>
              <a:ext cx="731520" cy="548640"/>
            </a:xfrm>
            <a:custGeom>
              <a:avLst/>
              <a:gdLst/>
              <a:ahLst/>
              <a:cxnLst/>
              <a:rect l="l" t="t" r="r" b="b"/>
              <a:pathLst>
                <a:path w="731520" h="548640">
                  <a:moveTo>
                    <a:pt x="0" y="0"/>
                  </a:moveTo>
                  <a:lnTo>
                    <a:pt x="731520" y="0"/>
                  </a:lnTo>
                  <a:lnTo>
                    <a:pt x="731520" y="548640"/>
                  </a:lnTo>
                  <a:lnTo>
                    <a:pt x="0" y="548640"/>
                  </a:lnTo>
                  <a:close/>
                </a:path>
              </a:pathLst>
            </a:custGeom>
            <a:blipFill>
              <a:blip r:embed="rId3">
                <a:alphaModFix amt="0"/>
              </a:blip>
              <a:stretch>
                <a:fillRect l="-46227" r="-46227"/>
              </a:stretch>
            </a:blipFill>
          </p:spPr>
        </p:sp>
        <p:sp>
          <p:nvSpPr>
            <p:cNvPr id="34" name="TextBox 34"/>
            <p:cNvSpPr txBox="1"/>
            <p:nvPr/>
          </p:nvSpPr>
          <p:spPr>
            <a:xfrm>
              <a:off x="0" y="-38100"/>
              <a:ext cx="731520" cy="586740"/>
            </a:xfrm>
            <a:prstGeom prst="rect">
              <a:avLst/>
            </a:prstGeom>
          </p:spPr>
          <p:txBody>
            <a:bodyPr lIns="0" tIns="0" rIns="0" bIns="0" rtlCol="0" anchor="ctr"/>
            <a:lstStyle/>
            <a:p>
              <a:pPr algn="r">
                <a:lnSpc>
                  <a:spcPts val="1800"/>
                </a:lnSpc>
              </a:pPr>
              <a:r>
                <a:rPr lang="en-US" sz="1500">
                  <a:solidFill>
                    <a:srgbClr val="999999"/>
                  </a:solidFill>
                  <a:latin typeface="Calibri (MS)"/>
                  <a:ea typeface="Calibri (MS)"/>
                  <a:cs typeface="Calibri (MS)"/>
                  <a:sym typeface="Calibri (MS)"/>
                </a:rPr>
                <a:t>2</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22960" y="548640"/>
            <a:ext cx="10972800" cy="411480"/>
            <a:chOff x="0" y="0"/>
            <a:chExt cx="14630400" cy="548640"/>
          </a:xfrm>
        </p:grpSpPr>
        <p:sp>
          <p:nvSpPr>
            <p:cNvPr id="3" name="Freeform 3"/>
            <p:cNvSpPr/>
            <p:nvPr/>
          </p:nvSpPr>
          <p:spPr>
            <a:xfrm>
              <a:off x="0" y="0"/>
              <a:ext cx="14630400" cy="548640"/>
            </a:xfrm>
            <a:custGeom>
              <a:avLst/>
              <a:gdLst/>
              <a:ahLst/>
              <a:cxnLst/>
              <a:rect l="l" t="t" r="r" b="b"/>
              <a:pathLst>
                <a:path w="14630400" h="548640">
                  <a:moveTo>
                    <a:pt x="0" y="0"/>
                  </a:moveTo>
                  <a:lnTo>
                    <a:pt x="14630400" y="0"/>
                  </a:lnTo>
                  <a:lnTo>
                    <a:pt x="14630400" y="548640"/>
                  </a:lnTo>
                  <a:lnTo>
                    <a:pt x="0" y="548640"/>
                  </a:lnTo>
                  <a:close/>
                </a:path>
              </a:pathLst>
            </a:custGeom>
            <a:blipFill>
              <a:blip r:embed="rId3">
                <a:alphaModFix amt="0"/>
              </a:blip>
              <a:stretch>
                <a:fillRect t="-469601" b="-469601"/>
              </a:stretch>
            </a:blipFill>
          </p:spPr>
        </p:sp>
        <p:sp>
          <p:nvSpPr>
            <p:cNvPr id="4" name="TextBox 4"/>
            <p:cNvSpPr txBox="1"/>
            <p:nvPr/>
          </p:nvSpPr>
          <p:spPr>
            <a:xfrm>
              <a:off x="0" y="-38100"/>
              <a:ext cx="14630400" cy="586740"/>
            </a:xfrm>
            <a:prstGeom prst="rect">
              <a:avLst/>
            </a:prstGeom>
          </p:spPr>
          <p:txBody>
            <a:bodyPr lIns="0" tIns="0" rIns="0" bIns="0" rtlCol="0" anchor="ctr"/>
            <a:lstStyle/>
            <a:p>
              <a:pPr algn="l">
                <a:lnSpc>
                  <a:spcPts val="2160"/>
                </a:lnSpc>
              </a:pPr>
              <a:r>
                <a:rPr lang="en-US" sz="1800" b="1" spc="300">
                  <a:solidFill>
                    <a:srgbClr val="1E2761"/>
                  </a:solidFill>
                  <a:latin typeface="Calibri (MS) Bold"/>
                  <a:ea typeface="Calibri (MS) Bold"/>
                  <a:cs typeface="Calibri (MS) Bold"/>
                  <a:sym typeface="Calibri (MS) Bold"/>
                </a:rPr>
                <a:t>DATA MODEL</a:t>
              </a:r>
            </a:p>
          </p:txBody>
        </p:sp>
      </p:grpSp>
      <p:grpSp>
        <p:nvGrpSpPr>
          <p:cNvPr id="5" name="Group 5"/>
          <p:cNvGrpSpPr/>
          <p:nvPr/>
        </p:nvGrpSpPr>
        <p:grpSpPr>
          <a:xfrm>
            <a:off x="822960" y="932688"/>
            <a:ext cx="16637508" cy="960120"/>
            <a:chOff x="0" y="0"/>
            <a:chExt cx="22183344" cy="1280160"/>
          </a:xfrm>
        </p:grpSpPr>
        <p:sp>
          <p:nvSpPr>
            <p:cNvPr id="6" name="Freeform 6"/>
            <p:cNvSpPr/>
            <p:nvPr/>
          </p:nvSpPr>
          <p:spPr>
            <a:xfrm>
              <a:off x="0" y="0"/>
              <a:ext cx="22183344" cy="1280160"/>
            </a:xfrm>
            <a:custGeom>
              <a:avLst/>
              <a:gdLst/>
              <a:ahLst/>
              <a:cxnLst/>
              <a:rect l="l" t="t" r="r" b="b"/>
              <a:pathLst>
                <a:path w="22183344" h="1280160">
                  <a:moveTo>
                    <a:pt x="0" y="0"/>
                  </a:moveTo>
                  <a:lnTo>
                    <a:pt x="22183344" y="0"/>
                  </a:lnTo>
                  <a:lnTo>
                    <a:pt x="22183344" y="1280160"/>
                  </a:lnTo>
                  <a:lnTo>
                    <a:pt x="0" y="1280160"/>
                  </a:lnTo>
                  <a:close/>
                </a:path>
              </a:pathLst>
            </a:custGeom>
            <a:blipFill>
              <a:blip r:embed="rId3">
                <a:alphaModFix amt="0"/>
              </a:blip>
              <a:stretch>
                <a:fillRect t="-287647" b="-287647"/>
              </a:stretch>
            </a:blipFill>
          </p:spPr>
        </p:sp>
        <p:sp>
          <p:nvSpPr>
            <p:cNvPr id="7" name="TextBox 7"/>
            <p:cNvSpPr txBox="1"/>
            <p:nvPr/>
          </p:nvSpPr>
          <p:spPr>
            <a:xfrm>
              <a:off x="0" y="-9525"/>
              <a:ext cx="22183344" cy="1289685"/>
            </a:xfrm>
            <a:prstGeom prst="rect">
              <a:avLst/>
            </a:prstGeom>
          </p:spPr>
          <p:txBody>
            <a:bodyPr lIns="0" tIns="0" rIns="0" bIns="0" rtlCol="0" anchor="ctr"/>
            <a:lstStyle/>
            <a:p>
              <a:pPr algn="l">
                <a:lnSpc>
                  <a:spcPts val="5759"/>
                </a:lnSpc>
              </a:pPr>
              <a:r>
                <a:rPr lang="en-US" sz="4800" b="1">
                  <a:solidFill>
                    <a:srgbClr val="141B47"/>
                  </a:solidFill>
                  <a:latin typeface="Cambria Bold"/>
                  <a:ea typeface="Cambria Bold"/>
                  <a:cs typeface="Cambria Bold"/>
                  <a:sym typeface="Cambria Bold"/>
                </a:rPr>
                <a:t>ER / Schema</a:t>
              </a:r>
            </a:p>
          </p:txBody>
        </p:sp>
      </p:grpSp>
      <p:grpSp>
        <p:nvGrpSpPr>
          <p:cNvPr id="8" name="Group 8"/>
          <p:cNvGrpSpPr/>
          <p:nvPr/>
        </p:nvGrpSpPr>
        <p:grpSpPr>
          <a:xfrm>
            <a:off x="822960" y="2057400"/>
            <a:ext cx="13716000" cy="548640"/>
            <a:chOff x="0" y="0"/>
            <a:chExt cx="18288000" cy="731520"/>
          </a:xfrm>
        </p:grpSpPr>
        <p:sp>
          <p:nvSpPr>
            <p:cNvPr id="9" name="Freeform 9"/>
            <p:cNvSpPr/>
            <p:nvPr/>
          </p:nvSpPr>
          <p:spPr>
            <a:xfrm>
              <a:off x="0" y="0"/>
              <a:ext cx="18288000" cy="731520"/>
            </a:xfrm>
            <a:custGeom>
              <a:avLst/>
              <a:gdLst/>
              <a:ahLst/>
              <a:cxnLst/>
              <a:rect l="l" t="t" r="r" b="b"/>
              <a:pathLst>
                <a:path w="18288000" h="731520">
                  <a:moveTo>
                    <a:pt x="0" y="0"/>
                  </a:moveTo>
                  <a:lnTo>
                    <a:pt x="18288000" y="0"/>
                  </a:lnTo>
                  <a:lnTo>
                    <a:pt x="18288000" y="731520"/>
                  </a:lnTo>
                  <a:lnTo>
                    <a:pt x="0" y="731520"/>
                  </a:lnTo>
                  <a:close/>
                </a:path>
              </a:pathLst>
            </a:custGeom>
            <a:blipFill>
              <a:blip r:embed="rId3">
                <a:alphaModFix amt="0"/>
              </a:blip>
              <a:stretch>
                <a:fillRect t="-437125" b="-437125"/>
              </a:stretch>
            </a:blipFill>
          </p:spPr>
        </p:sp>
        <p:sp>
          <p:nvSpPr>
            <p:cNvPr id="10" name="TextBox 10"/>
            <p:cNvSpPr txBox="1"/>
            <p:nvPr/>
          </p:nvSpPr>
          <p:spPr>
            <a:xfrm>
              <a:off x="0" y="-47625"/>
              <a:ext cx="18288000" cy="779145"/>
            </a:xfrm>
            <a:prstGeom prst="rect">
              <a:avLst/>
            </a:prstGeom>
          </p:spPr>
          <p:txBody>
            <a:bodyPr lIns="0" tIns="0" rIns="0" bIns="0" rtlCol="0" anchor="ctr"/>
            <a:lstStyle/>
            <a:p>
              <a:pPr algn="l">
                <a:lnSpc>
                  <a:spcPts val="2520"/>
                </a:lnSpc>
              </a:pPr>
              <a:r>
                <a:rPr lang="en-US" sz="2100" i="1">
                  <a:solidFill>
                    <a:srgbClr val="555555"/>
                  </a:solidFill>
                  <a:latin typeface="Calibri (MS) Italics"/>
                  <a:ea typeface="Calibri (MS) Italics"/>
                  <a:cs typeface="Calibri (MS) Italics"/>
                  <a:sym typeface="Calibri (MS) Italics"/>
                </a:rPr>
                <a:t>Five core tables, connected by primary and foreign keys</a:t>
              </a:r>
            </a:p>
          </p:txBody>
        </p:sp>
      </p:grpSp>
      <p:grpSp>
        <p:nvGrpSpPr>
          <p:cNvPr id="11" name="Group 11"/>
          <p:cNvGrpSpPr/>
          <p:nvPr/>
        </p:nvGrpSpPr>
        <p:grpSpPr>
          <a:xfrm>
            <a:off x="12428374" y="3145155"/>
            <a:ext cx="3036570" cy="4956810"/>
            <a:chOff x="0" y="0"/>
            <a:chExt cx="4048760" cy="6609080"/>
          </a:xfrm>
        </p:grpSpPr>
        <p:sp>
          <p:nvSpPr>
            <p:cNvPr id="12" name="Freeform 12"/>
            <p:cNvSpPr/>
            <p:nvPr/>
          </p:nvSpPr>
          <p:spPr>
            <a:xfrm>
              <a:off x="0" y="0"/>
              <a:ext cx="4048760" cy="6609080"/>
            </a:xfrm>
            <a:custGeom>
              <a:avLst/>
              <a:gdLst/>
              <a:ahLst/>
              <a:cxnLst/>
              <a:rect l="l" t="t" r="r" b="b"/>
              <a:pathLst>
                <a:path w="4048760" h="6609080">
                  <a:moveTo>
                    <a:pt x="0" y="110363"/>
                  </a:moveTo>
                  <a:cubicBezTo>
                    <a:pt x="0" y="49403"/>
                    <a:pt x="49403" y="0"/>
                    <a:pt x="110363" y="0"/>
                  </a:cubicBezTo>
                  <a:lnTo>
                    <a:pt x="3938397" y="0"/>
                  </a:lnTo>
                  <a:cubicBezTo>
                    <a:pt x="3999357" y="0"/>
                    <a:pt x="4048760" y="49403"/>
                    <a:pt x="4048760" y="110363"/>
                  </a:cubicBezTo>
                  <a:lnTo>
                    <a:pt x="4048760" y="6498717"/>
                  </a:lnTo>
                  <a:cubicBezTo>
                    <a:pt x="4048760" y="6559677"/>
                    <a:pt x="3999357" y="6609080"/>
                    <a:pt x="3938397" y="6609080"/>
                  </a:cubicBezTo>
                  <a:lnTo>
                    <a:pt x="110363" y="6609080"/>
                  </a:lnTo>
                  <a:cubicBezTo>
                    <a:pt x="49403" y="6609080"/>
                    <a:pt x="0" y="6559677"/>
                    <a:pt x="0" y="6498717"/>
                  </a:cubicBezTo>
                  <a:close/>
                </a:path>
              </a:pathLst>
            </a:custGeom>
            <a:solidFill>
              <a:srgbClr val="F7F8FC"/>
            </a:solidFill>
            <a:ln w="19050" cap="sq">
              <a:solidFill>
                <a:srgbClr val="CADCFC"/>
              </a:solidFill>
              <a:prstDash val="solid"/>
              <a:miter/>
            </a:ln>
          </p:spPr>
        </p:sp>
      </p:grpSp>
      <p:grpSp>
        <p:nvGrpSpPr>
          <p:cNvPr id="13" name="Group 13"/>
          <p:cNvGrpSpPr/>
          <p:nvPr/>
        </p:nvGrpSpPr>
        <p:grpSpPr>
          <a:xfrm>
            <a:off x="12712219" y="3429000"/>
            <a:ext cx="2468880" cy="4389120"/>
            <a:chOff x="0" y="0"/>
            <a:chExt cx="3291840" cy="5852160"/>
          </a:xfrm>
        </p:grpSpPr>
        <p:sp>
          <p:nvSpPr>
            <p:cNvPr id="14" name="Freeform 14"/>
            <p:cNvSpPr/>
            <p:nvPr/>
          </p:nvSpPr>
          <p:spPr>
            <a:xfrm>
              <a:off x="0" y="0"/>
              <a:ext cx="3291840" cy="5852160"/>
            </a:xfrm>
            <a:custGeom>
              <a:avLst/>
              <a:gdLst/>
              <a:ahLst/>
              <a:cxnLst/>
              <a:rect l="l" t="t" r="r" b="b"/>
              <a:pathLst>
                <a:path w="3291840" h="5852160">
                  <a:moveTo>
                    <a:pt x="0" y="0"/>
                  </a:moveTo>
                  <a:lnTo>
                    <a:pt x="3291840" y="0"/>
                  </a:lnTo>
                  <a:lnTo>
                    <a:pt x="3291840" y="5852160"/>
                  </a:lnTo>
                  <a:lnTo>
                    <a:pt x="0" y="5852160"/>
                  </a:lnTo>
                  <a:close/>
                </a:path>
              </a:pathLst>
            </a:custGeom>
            <a:blipFill>
              <a:blip r:embed="rId3">
                <a:alphaModFix amt="0"/>
              </a:blip>
              <a:stretch>
                <a:fillRect l="-178095" r="-178095"/>
              </a:stretch>
            </a:blipFill>
          </p:spPr>
        </p:sp>
        <p:sp>
          <p:nvSpPr>
            <p:cNvPr id="15" name="TextBox 15"/>
            <p:cNvSpPr txBox="1"/>
            <p:nvPr/>
          </p:nvSpPr>
          <p:spPr>
            <a:xfrm>
              <a:off x="0" y="-38100"/>
              <a:ext cx="3291840" cy="5890260"/>
            </a:xfrm>
            <a:prstGeom prst="rect">
              <a:avLst/>
            </a:prstGeom>
          </p:spPr>
          <p:txBody>
            <a:bodyPr lIns="0" tIns="0" rIns="0" bIns="0" rtlCol="0" anchor="ctr"/>
            <a:lstStyle/>
            <a:p>
              <a:pPr marL="312182" lvl="1" indent="-156091" algn="l">
                <a:lnSpc>
                  <a:spcPts val="2070"/>
                </a:lnSpc>
                <a:buFont typeface="Arial"/>
                <a:buChar char="•"/>
              </a:pPr>
              <a:r>
                <a:rPr lang="en-US" sz="1725">
                  <a:solidFill>
                    <a:srgbClr val="555555"/>
                  </a:solidFill>
                  <a:latin typeface="Calibri (MS)"/>
                  <a:ea typeface="Calibri (MS)"/>
                  <a:cs typeface="Calibri (MS)"/>
                  <a:sym typeface="Calibri (MS)"/>
                </a:rPr>
                <a:t>Users create posts</a:t>
              </a:r>
            </a:p>
            <a:p>
              <a:pPr marL="312182" lvl="1" indent="-156091" algn="l">
                <a:lnSpc>
                  <a:spcPts val="2070"/>
                </a:lnSpc>
                <a:buFont typeface="Arial"/>
                <a:buChar char="•"/>
              </a:pPr>
              <a:r>
                <a:rPr lang="en-US" sz="1725">
                  <a:solidFill>
                    <a:srgbClr val="555555"/>
                  </a:solidFill>
                  <a:latin typeface="Calibri (MS)"/>
                  <a:ea typeface="Calibri (MS)"/>
                  <a:cs typeface="Calibri (MS)"/>
                  <a:sym typeface="Calibri (MS)"/>
                </a:rPr>
                <a:t>Posts receive comments and interactions</a:t>
              </a:r>
            </a:p>
            <a:p>
              <a:pPr marL="312182" lvl="1" indent="-156091" algn="l">
                <a:lnSpc>
                  <a:spcPts val="2070"/>
                </a:lnSpc>
                <a:buFont typeface="Arial"/>
                <a:buChar char="•"/>
              </a:pPr>
              <a:r>
                <a:rPr lang="en-US" sz="1725">
                  <a:solidFill>
                    <a:srgbClr val="555555"/>
                  </a:solidFill>
                  <a:latin typeface="Calibri (MS)"/>
                  <a:ea typeface="Calibri (MS)"/>
                  <a:cs typeface="Calibri (MS)"/>
                  <a:sym typeface="Calibri (MS)"/>
                </a:rPr>
                <a:t>Followers models a self-referencing many-to-many relationship</a:t>
              </a:r>
            </a:p>
          </p:txBody>
        </p:sp>
      </p:grpSp>
      <p:grpSp>
        <p:nvGrpSpPr>
          <p:cNvPr id="16" name="Group 16"/>
          <p:cNvGrpSpPr/>
          <p:nvPr/>
        </p:nvGrpSpPr>
        <p:grpSpPr>
          <a:xfrm>
            <a:off x="17323308" y="9669780"/>
            <a:ext cx="548640" cy="411480"/>
            <a:chOff x="0" y="0"/>
            <a:chExt cx="731520" cy="548640"/>
          </a:xfrm>
        </p:grpSpPr>
        <p:sp>
          <p:nvSpPr>
            <p:cNvPr id="17" name="Freeform 17"/>
            <p:cNvSpPr/>
            <p:nvPr/>
          </p:nvSpPr>
          <p:spPr>
            <a:xfrm>
              <a:off x="0" y="0"/>
              <a:ext cx="731520" cy="548640"/>
            </a:xfrm>
            <a:custGeom>
              <a:avLst/>
              <a:gdLst/>
              <a:ahLst/>
              <a:cxnLst/>
              <a:rect l="l" t="t" r="r" b="b"/>
              <a:pathLst>
                <a:path w="731520" h="548640">
                  <a:moveTo>
                    <a:pt x="0" y="0"/>
                  </a:moveTo>
                  <a:lnTo>
                    <a:pt x="731520" y="0"/>
                  </a:lnTo>
                  <a:lnTo>
                    <a:pt x="731520" y="548640"/>
                  </a:lnTo>
                  <a:lnTo>
                    <a:pt x="0" y="548640"/>
                  </a:lnTo>
                  <a:close/>
                </a:path>
              </a:pathLst>
            </a:custGeom>
            <a:blipFill>
              <a:blip r:embed="rId3">
                <a:alphaModFix amt="0"/>
              </a:blip>
              <a:stretch>
                <a:fillRect l="-46227" r="-46227"/>
              </a:stretch>
            </a:blipFill>
          </p:spPr>
        </p:sp>
        <p:sp>
          <p:nvSpPr>
            <p:cNvPr id="18" name="TextBox 18"/>
            <p:cNvSpPr txBox="1"/>
            <p:nvPr/>
          </p:nvSpPr>
          <p:spPr>
            <a:xfrm>
              <a:off x="0" y="-38100"/>
              <a:ext cx="731520" cy="586740"/>
            </a:xfrm>
            <a:prstGeom prst="rect">
              <a:avLst/>
            </a:prstGeom>
          </p:spPr>
          <p:txBody>
            <a:bodyPr lIns="0" tIns="0" rIns="0" bIns="0" rtlCol="0" anchor="ctr"/>
            <a:lstStyle/>
            <a:p>
              <a:pPr algn="r">
                <a:lnSpc>
                  <a:spcPts val="1800"/>
                </a:lnSpc>
              </a:pPr>
              <a:r>
                <a:rPr lang="en-US" sz="1500">
                  <a:solidFill>
                    <a:srgbClr val="999999"/>
                  </a:solidFill>
                  <a:latin typeface="Calibri (MS)"/>
                  <a:ea typeface="Calibri (MS)"/>
                  <a:cs typeface="Calibri (MS)"/>
                  <a:sym typeface="Calibri (MS)"/>
                </a:rPr>
                <a:t>3</a:t>
              </a:r>
            </a:p>
          </p:txBody>
        </p:sp>
      </p:grpSp>
      <p:sp>
        <p:nvSpPr>
          <p:cNvPr id="19" name="Freeform 19"/>
          <p:cNvSpPr/>
          <p:nvPr/>
        </p:nvSpPr>
        <p:spPr>
          <a:xfrm>
            <a:off x="1614339" y="2606040"/>
            <a:ext cx="10107036" cy="7475220"/>
          </a:xfrm>
          <a:custGeom>
            <a:avLst/>
            <a:gdLst/>
            <a:ahLst/>
            <a:cxnLst/>
            <a:rect l="l" t="t" r="r" b="b"/>
            <a:pathLst>
              <a:path w="10107036" h="7475220">
                <a:moveTo>
                  <a:pt x="0" y="0"/>
                </a:moveTo>
                <a:lnTo>
                  <a:pt x="10107036" y="0"/>
                </a:lnTo>
                <a:lnTo>
                  <a:pt x="10107036" y="7475220"/>
                </a:lnTo>
                <a:lnTo>
                  <a:pt x="0" y="7475220"/>
                </a:lnTo>
                <a:lnTo>
                  <a:pt x="0" y="0"/>
                </a:lnTo>
                <a:close/>
              </a:path>
            </a:pathLst>
          </a:custGeom>
          <a:blipFill>
            <a:blip r:embed="rId4"/>
            <a:stretch>
              <a:fillRect t="-1674" b="-1674"/>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22960" y="548640"/>
            <a:ext cx="10972800" cy="411480"/>
            <a:chOff x="0" y="0"/>
            <a:chExt cx="14630400" cy="548640"/>
          </a:xfrm>
        </p:grpSpPr>
        <p:sp>
          <p:nvSpPr>
            <p:cNvPr id="3" name="Freeform 3"/>
            <p:cNvSpPr/>
            <p:nvPr/>
          </p:nvSpPr>
          <p:spPr>
            <a:xfrm>
              <a:off x="0" y="0"/>
              <a:ext cx="14630400" cy="548640"/>
            </a:xfrm>
            <a:custGeom>
              <a:avLst/>
              <a:gdLst/>
              <a:ahLst/>
              <a:cxnLst/>
              <a:rect l="l" t="t" r="r" b="b"/>
              <a:pathLst>
                <a:path w="14630400" h="548640">
                  <a:moveTo>
                    <a:pt x="0" y="0"/>
                  </a:moveTo>
                  <a:lnTo>
                    <a:pt x="14630400" y="0"/>
                  </a:lnTo>
                  <a:lnTo>
                    <a:pt x="14630400" y="548640"/>
                  </a:lnTo>
                  <a:lnTo>
                    <a:pt x="0" y="548640"/>
                  </a:lnTo>
                  <a:close/>
                </a:path>
              </a:pathLst>
            </a:custGeom>
            <a:blipFill>
              <a:blip r:embed="rId3">
                <a:alphaModFix amt="0"/>
              </a:blip>
              <a:stretch>
                <a:fillRect t="-469601" b="-469601"/>
              </a:stretch>
            </a:blipFill>
          </p:spPr>
        </p:sp>
        <p:sp>
          <p:nvSpPr>
            <p:cNvPr id="4" name="TextBox 4"/>
            <p:cNvSpPr txBox="1"/>
            <p:nvPr/>
          </p:nvSpPr>
          <p:spPr>
            <a:xfrm>
              <a:off x="0" y="-38100"/>
              <a:ext cx="14630400" cy="586740"/>
            </a:xfrm>
            <a:prstGeom prst="rect">
              <a:avLst/>
            </a:prstGeom>
          </p:spPr>
          <p:txBody>
            <a:bodyPr lIns="0" tIns="0" rIns="0" bIns="0" rtlCol="0" anchor="ctr"/>
            <a:lstStyle/>
            <a:p>
              <a:pPr algn="l">
                <a:lnSpc>
                  <a:spcPts val="2160"/>
                </a:lnSpc>
              </a:pPr>
              <a:r>
                <a:rPr lang="en-US" sz="1800" b="1" spc="300">
                  <a:solidFill>
                    <a:srgbClr val="1E2761"/>
                  </a:solidFill>
                  <a:latin typeface="Calibri (MS) Bold"/>
                  <a:ea typeface="Calibri (MS) Bold"/>
                  <a:cs typeface="Calibri (MS) Bold"/>
                  <a:sym typeface="Calibri (MS) Bold"/>
                </a:rPr>
                <a:t>SCHEMA DEFINITION</a:t>
              </a:r>
            </a:p>
          </p:txBody>
        </p:sp>
      </p:grpSp>
      <p:grpSp>
        <p:nvGrpSpPr>
          <p:cNvPr id="5" name="Group 5"/>
          <p:cNvGrpSpPr/>
          <p:nvPr/>
        </p:nvGrpSpPr>
        <p:grpSpPr>
          <a:xfrm>
            <a:off x="822960" y="932688"/>
            <a:ext cx="16637508" cy="960120"/>
            <a:chOff x="0" y="0"/>
            <a:chExt cx="22183344" cy="1280160"/>
          </a:xfrm>
        </p:grpSpPr>
        <p:sp>
          <p:nvSpPr>
            <p:cNvPr id="6" name="Freeform 6"/>
            <p:cNvSpPr/>
            <p:nvPr/>
          </p:nvSpPr>
          <p:spPr>
            <a:xfrm>
              <a:off x="0" y="0"/>
              <a:ext cx="22183344" cy="1280160"/>
            </a:xfrm>
            <a:custGeom>
              <a:avLst/>
              <a:gdLst/>
              <a:ahLst/>
              <a:cxnLst/>
              <a:rect l="l" t="t" r="r" b="b"/>
              <a:pathLst>
                <a:path w="22183344" h="1280160">
                  <a:moveTo>
                    <a:pt x="0" y="0"/>
                  </a:moveTo>
                  <a:lnTo>
                    <a:pt x="22183344" y="0"/>
                  </a:lnTo>
                  <a:lnTo>
                    <a:pt x="22183344" y="1280160"/>
                  </a:lnTo>
                  <a:lnTo>
                    <a:pt x="0" y="1280160"/>
                  </a:lnTo>
                  <a:close/>
                </a:path>
              </a:pathLst>
            </a:custGeom>
            <a:blipFill>
              <a:blip r:embed="rId3">
                <a:alphaModFix amt="0"/>
              </a:blip>
              <a:stretch>
                <a:fillRect t="-287647" b="-287647"/>
              </a:stretch>
            </a:blipFill>
          </p:spPr>
        </p:sp>
        <p:sp>
          <p:nvSpPr>
            <p:cNvPr id="7" name="TextBox 7"/>
            <p:cNvSpPr txBox="1"/>
            <p:nvPr/>
          </p:nvSpPr>
          <p:spPr>
            <a:xfrm>
              <a:off x="0" y="-9525"/>
              <a:ext cx="22183344" cy="1289685"/>
            </a:xfrm>
            <a:prstGeom prst="rect">
              <a:avLst/>
            </a:prstGeom>
          </p:spPr>
          <p:txBody>
            <a:bodyPr lIns="0" tIns="0" rIns="0" bIns="0" rtlCol="0" anchor="ctr"/>
            <a:lstStyle/>
            <a:p>
              <a:pPr algn="l">
                <a:lnSpc>
                  <a:spcPts val="5759"/>
                </a:lnSpc>
              </a:pPr>
              <a:r>
                <a:rPr lang="en-US" sz="4800" b="1">
                  <a:solidFill>
                    <a:srgbClr val="141B47"/>
                  </a:solidFill>
                  <a:latin typeface="Cambria Bold"/>
                  <a:ea typeface="Cambria Bold"/>
                  <a:cs typeface="Cambria Bold"/>
                  <a:sym typeface="Cambria Bold"/>
                </a:rPr>
                <a:t>DDL + Constraints</a:t>
              </a:r>
            </a:p>
          </p:txBody>
        </p:sp>
      </p:grpSp>
      <p:graphicFrame>
        <p:nvGraphicFramePr>
          <p:cNvPr id="8" name="Table 8"/>
          <p:cNvGraphicFramePr>
            <a:graphicFrameLocks noGrp="1"/>
          </p:cNvGraphicFramePr>
          <p:nvPr/>
        </p:nvGraphicFramePr>
        <p:xfrm>
          <a:off x="822960" y="2125980"/>
          <a:ext cx="16059150" cy="5562600"/>
        </p:xfrm>
        <a:graphic>
          <a:graphicData uri="http://schemas.openxmlformats.org/drawingml/2006/table">
            <a:tbl>
              <a:tblPr/>
              <a:tblGrid>
                <a:gridCol w="2626815">
                  <a:extLst>
                    <a:ext uri="{9D8B030D-6E8A-4147-A177-3AD203B41FA5}">
                      <a16:colId xmlns:a16="http://schemas.microsoft.com/office/drawing/2014/main" val="20000"/>
                    </a:ext>
                  </a:extLst>
                </a:gridCol>
                <a:gridCol w="13432335">
                  <a:extLst>
                    <a:ext uri="{9D8B030D-6E8A-4147-A177-3AD203B41FA5}">
                      <a16:colId xmlns:a16="http://schemas.microsoft.com/office/drawing/2014/main" val="20001"/>
                    </a:ext>
                  </a:extLst>
                </a:gridCol>
              </a:tblGrid>
              <a:tr h="557709">
                <a:tc>
                  <a:txBody>
                    <a:bodyPr/>
                    <a:lstStyle/>
                    <a:p>
                      <a:pPr algn="l">
                        <a:lnSpc>
                          <a:spcPts val="2250"/>
                        </a:lnSpc>
                        <a:defRPr/>
                      </a:pPr>
                      <a:r>
                        <a:rPr lang="en-US" sz="1875" b="1">
                          <a:solidFill>
                            <a:srgbClr val="FFFFFF"/>
                          </a:solidFill>
                          <a:latin typeface="Calibri (MS) Bold"/>
                          <a:ea typeface="Calibri (MS) Bold"/>
                          <a:cs typeface="Calibri (MS) Bold"/>
                          <a:sym typeface="Calibri (MS) Bold"/>
                        </a:rPr>
                        <a:t>Table</a:t>
                      </a:r>
                      <a:endParaRPr lang="en-US" sz="1100"/>
                    </a:p>
                  </a:txBody>
                  <a:tcPr marT="91440" marB="91440" anchor="ctr">
                    <a:lnL w="12700" cap="flat" cmpd="sng" algn="ctr">
                      <a:solidFill>
                        <a:srgbClr val="E8E8E8"/>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rgbClr val="E8E8E8"/>
                      </a:solidFill>
                      <a:prstDash val="solid"/>
                      <a:round/>
                      <a:headEnd type="none" w="med" len="med"/>
                      <a:tailEnd type="none" w="med" len="med"/>
                    </a:lnT>
                    <a:lnB w="12700" cap="flat" cmpd="sng" algn="ctr">
                      <a:solidFill>
                        <a:srgbClr val="E8E8E8"/>
                      </a:solidFill>
                      <a:prstDash val="solid"/>
                      <a:round/>
                      <a:headEnd type="none" w="med" len="med"/>
                      <a:tailEnd type="none" w="med" len="med"/>
                    </a:lnB>
                    <a:solidFill>
                      <a:srgbClr val="1E2761"/>
                    </a:solidFill>
                  </a:tcPr>
                </a:tc>
                <a:tc>
                  <a:txBody>
                    <a:bodyPr/>
                    <a:lstStyle/>
                    <a:p>
                      <a:pPr algn="l">
                        <a:lnSpc>
                          <a:spcPts val="2250"/>
                        </a:lnSpc>
                        <a:defRPr/>
                      </a:pPr>
                      <a:r>
                        <a:rPr lang="en-US" sz="1875" b="1">
                          <a:solidFill>
                            <a:srgbClr val="FFFFFF"/>
                          </a:solidFill>
                          <a:latin typeface="Calibri (MS) Bold"/>
                          <a:ea typeface="Calibri (MS) Bold"/>
                          <a:cs typeface="Calibri (MS) Bold"/>
                          <a:sym typeface="Calibri (MS) Bold"/>
                        </a:rPr>
                        <a:t>Constraints</a:t>
                      </a:r>
                      <a:endParaRPr lang="en-US" sz="1100"/>
                    </a:p>
                  </a:txBody>
                  <a:tcPr marT="91440" marB="91440" anchor="ctr">
                    <a:lnL w="12700" cap="flat" cmpd="sng" algn="ctr">
                      <a:solidFill>
                        <a:srgbClr val="E8E8E8"/>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rgbClr val="E8E8E8"/>
                      </a:solidFill>
                      <a:prstDash val="solid"/>
                      <a:round/>
                      <a:headEnd type="none" w="med" len="med"/>
                      <a:tailEnd type="none" w="med" len="med"/>
                    </a:lnT>
                    <a:lnB w="12700" cap="flat" cmpd="sng" algn="ctr">
                      <a:solidFill>
                        <a:srgbClr val="E8E8E8"/>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1014016">
                <a:tc>
                  <a:txBody>
                    <a:bodyPr/>
                    <a:lstStyle/>
                    <a:p>
                      <a:pPr algn="l">
                        <a:lnSpc>
                          <a:spcPts val="2250"/>
                        </a:lnSpc>
                        <a:defRPr/>
                      </a:pPr>
                      <a:r>
                        <a:rPr lang="en-US" sz="1875" b="1">
                          <a:solidFill>
                            <a:srgbClr val="141B47"/>
                          </a:solidFill>
                          <a:latin typeface="Calibri (MS) Bold"/>
                          <a:ea typeface="Calibri (MS) Bold"/>
                          <a:cs typeface="Calibri (MS) Bold"/>
                          <a:sym typeface="Calibri (MS) Bold"/>
                        </a:rPr>
                        <a:t>users</a:t>
                      </a:r>
                      <a:endParaRPr lang="en-US" sz="1100"/>
                    </a:p>
                  </a:txBody>
                  <a:tcPr marT="91440" marB="91440" anchor="ctr">
                    <a:lnL w="12700" cap="flat" cmpd="sng" algn="ctr">
                      <a:solidFill>
                        <a:srgbClr val="E8E8E8"/>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rgbClr val="E8E8E8"/>
                      </a:solidFill>
                      <a:prstDash val="solid"/>
                      <a:round/>
                      <a:headEnd type="none" w="med" len="med"/>
                      <a:tailEnd type="none" w="med" len="med"/>
                    </a:lnT>
                    <a:lnB w="12700" cap="flat" cmpd="sng" algn="ctr">
                      <a:solidFill>
                        <a:srgbClr val="E8E8E8"/>
                      </a:solidFill>
                      <a:prstDash val="solid"/>
                      <a:round/>
                      <a:headEnd type="none" w="med" len="med"/>
                      <a:tailEnd type="none" w="med" len="med"/>
                    </a:lnB>
                  </a:tcPr>
                </a:tc>
                <a:tc>
                  <a:txBody>
                    <a:bodyPr/>
                    <a:lstStyle/>
                    <a:p>
                      <a:pPr algn="l">
                        <a:lnSpc>
                          <a:spcPts val="2250"/>
                        </a:lnSpc>
                        <a:defRPr/>
                      </a:pPr>
                      <a:r>
                        <a:rPr lang="en-US" sz="1875">
                          <a:solidFill>
                            <a:srgbClr val="555555"/>
                          </a:solidFill>
                          <a:latin typeface="Calibri (MS)"/>
                          <a:ea typeface="Calibri (MS)"/>
                          <a:cs typeface="Calibri (MS)"/>
                          <a:sym typeface="Calibri (MS)"/>
                        </a:rPr>
                        <a:t>PK (AUTO_INCREMENT); UNIQUE username, email; CHECK email format; NOT NULL (except bio)</a:t>
                      </a:r>
                      <a:endParaRPr lang="en-US" sz="1100"/>
                    </a:p>
                  </a:txBody>
                  <a:tcPr marT="91440" marB="91440" anchor="ctr">
                    <a:lnL w="12700" cap="flat" cmpd="sng" algn="ctr">
                      <a:solidFill>
                        <a:srgbClr val="E8E8E8"/>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rgbClr val="E8E8E8"/>
                      </a:solidFill>
                      <a:prstDash val="solid"/>
                      <a:round/>
                      <a:headEnd type="none" w="med" len="med"/>
                      <a:tailEnd type="none" w="med" len="med"/>
                    </a:lnT>
                    <a:lnB w="12700" cap="flat" cmpd="sng" algn="ctr">
                      <a:solidFill>
                        <a:srgbClr val="E8E8E8"/>
                      </a:solidFill>
                      <a:prstDash val="solid"/>
                      <a:round/>
                      <a:headEnd type="none" w="med" len="med"/>
                      <a:tailEnd type="none" w="med" len="med"/>
                    </a:lnB>
                  </a:tcPr>
                </a:tc>
                <a:extLst>
                  <a:ext uri="{0D108BD9-81ED-4DB2-BD59-A6C34878D82A}">
                    <a16:rowId xmlns:a16="http://schemas.microsoft.com/office/drawing/2014/main" val="10001"/>
                  </a:ext>
                </a:extLst>
              </a:tr>
              <a:tr h="883642">
                <a:tc>
                  <a:txBody>
                    <a:bodyPr/>
                    <a:lstStyle/>
                    <a:p>
                      <a:pPr algn="l">
                        <a:lnSpc>
                          <a:spcPts val="2250"/>
                        </a:lnSpc>
                        <a:defRPr/>
                      </a:pPr>
                      <a:r>
                        <a:rPr lang="en-US" sz="1875" b="1">
                          <a:solidFill>
                            <a:srgbClr val="141B47"/>
                          </a:solidFill>
                          <a:latin typeface="Calibri (MS) Bold"/>
                          <a:ea typeface="Calibri (MS) Bold"/>
                          <a:cs typeface="Calibri (MS) Bold"/>
                          <a:sym typeface="Calibri (MS) Bold"/>
                        </a:rPr>
                        <a:t>posts</a:t>
                      </a:r>
                      <a:endParaRPr lang="en-US" sz="1100"/>
                    </a:p>
                  </a:txBody>
                  <a:tcPr marT="91440" marB="91440" anchor="ctr">
                    <a:lnL w="12700" cap="flat" cmpd="sng" algn="ctr">
                      <a:solidFill>
                        <a:srgbClr val="E8E8E8"/>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rgbClr val="E8E8E8"/>
                      </a:solidFill>
                      <a:prstDash val="solid"/>
                      <a:round/>
                      <a:headEnd type="none" w="med" len="med"/>
                      <a:tailEnd type="none" w="med" len="med"/>
                    </a:lnT>
                    <a:lnB w="12700" cap="flat" cmpd="sng" algn="ctr">
                      <a:solidFill>
                        <a:srgbClr val="E8E8E8"/>
                      </a:solidFill>
                      <a:prstDash val="solid"/>
                      <a:round/>
                      <a:headEnd type="none" w="med" len="med"/>
                      <a:tailEnd type="none" w="med" len="med"/>
                    </a:lnB>
                  </a:tcPr>
                </a:tc>
                <a:tc>
                  <a:txBody>
                    <a:bodyPr/>
                    <a:lstStyle/>
                    <a:p>
                      <a:pPr algn="l">
                        <a:lnSpc>
                          <a:spcPts val="2250"/>
                        </a:lnSpc>
                        <a:defRPr/>
                      </a:pPr>
                      <a:r>
                        <a:rPr lang="en-US" sz="1875">
                          <a:solidFill>
                            <a:srgbClr val="555555"/>
                          </a:solidFill>
                          <a:latin typeface="Calibri (MS)"/>
                          <a:ea typeface="Calibri (MS)"/>
                          <a:cs typeface="Calibri (MS)"/>
                          <a:sym typeface="Calibri (MS)"/>
                        </a:rPr>
                        <a:t>PK; FK -&gt; users ON DELETE CASCADE; CHECK post_type IN (text, image, video, link)</a:t>
                      </a:r>
                      <a:endParaRPr lang="en-US" sz="1100"/>
                    </a:p>
                  </a:txBody>
                  <a:tcPr marT="91440" marB="91440" anchor="ctr">
                    <a:lnL w="12700" cap="flat" cmpd="sng" algn="ctr">
                      <a:solidFill>
                        <a:srgbClr val="E8E8E8"/>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rgbClr val="E8E8E8"/>
                      </a:solidFill>
                      <a:prstDash val="solid"/>
                      <a:round/>
                      <a:headEnd type="none" w="med" len="med"/>
                      <a:tailEnd type="none" w="med" len="med"/>
                    </a:lnT>
                    <a:lnB w="12700" cap="flat" cmpd="sng" algn="ctr">
                      <a:solidFill>
                        <a:srgbClr val="E8E8E8"/>
                      </a:solidFill>
                      <a:prstDash val="solid"/>
                      <a:round/>
                      <a:headEnd type="none" w="med" len="med"/>
                      <a:tailEnd type="none" w="med" len="med"/>
                    </a:lnB>
                  </a:tcPr>
                </a:tc>
                <a:extLst>
                  <a:ext uri="{0D108BD9-81ED-4DB2-BD59-A6C34878D82A}">
                    <a16:rowId xmlns:a16="http://schemas.microsoft.com/office/drawing/2014/main" val="10002"/>
                  </a:ext>
                </a:extLst>
              </a:tr>
              <a:tr h="753269">
                <a:tc>
                  <a:txBody>
                    <a:bodyPr/>
                    <a:lstStyle/>
                    <a:p>
                      <a:pPr algn="l">
                        <a:lnSpc>
                          <a:spcPts val="2250"/>
                        </a:lnSpc>
                        <a:defRPr/>
                      </a:pPr>
                      <a:r>
                        <a:rPr lang="en-US" sz="1875" b="1">
                          <a:solidFill>
                            <a:srgbClr val="141B47"/>
                          </a:solidFill>
                          <a:latin typeface="Calibri (MS) Bold"/>
                          <a:ea typeface="Calibri (MS) Bold"/>
                          <a:cs typeface="Calibri (MS) Bold"/>
                          <a:sym typeface="Calibri (MS) Bold"/>
                        </a:rPr>
                        <a:t>comments</a:t>
                      </a:r>
                      <a:endParaRPr lang="en-US" sz="1100"/>
                    </a:p>
                  </a:txBody>
                  <a:tcPr marT="91440" marB="91440" anchor="ctr">
                    <a:lnL w="12700" cap="flat" cmpd="sng" algn="ctr">
                      <a:solidFill>
                        <a:srgbClr val="E8E8E8"/>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rgbClr val="E8E8E8"/>
                      </a:solidFill>
                      <a:prstDash val="solid"/>
                      <a:round/>
                      <a:headEnd type="none" w="med" len="med"/>
                      <a:tailEnd type="none" w="med" len="med"/>
                    </a:lnT>
                    <a:lnB w="12700" cap="flat" cmpd="sng" algn="ctr">
                      <a:solidFill>
                        <a:srgbClr val="E8E8E8"/>
                      </a:solidFill>
                      <a:prstDash val="solid"/>
                      <a:round/>
                      <a:headEnd type="none" w="med" len="med"/>
                      <a:tailEnd type="none" w="med" len="med"/>
                    </a:lnB>
                  </a:tcPr>
                </a:tc>
                <a:tc>
                  <a:txBody>
                    <a:bodyPr/>
                    <a:lstStyle/>
                    <a:p>
                      <a:pPr algn="l">
                        <a:lnSpc>
                          <a:spcPts val="2250"/>
                        </a:lnSpc>
                        <a:defRPr/>
                      </a:pPr>
                      <a:r>
                        <a:rPr lang="en-US" sz="1875">
                          <a:solidFill>
                            <a:srgbClr val="555555"/>
                          </a:solidFill>
                          <a:latin typeface="Calibri (MS)"/>
                          <a:ea typeface="Calibri (MS)"/>
                          <a:cs typeface="Calibri (MS)"/>
                          <a:sym typeface="Calibri (MS)"/>
                        </a:rPr>
                        <a:t>PK; FK -&gt; posts CASCADE; FK -&gt; users CASCADE</a:t>
                      </a:r>
                      <a:endParaRPr lang="en-US" sz="1100"/>
                    </a:p>
                  </a:txBody>
                  <a:tcPr marT="91440" marB="91440" anchor="ctr">
                    <a:lnL w="12700" cap="flat" cmpd="sng" algn="ctr">
                      <a:solidFill>
                        <a:srgbClr val="E8E8E8"/>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rgbClr val="E8E8E8"/>
                      </a:solidFill>
                      <a:prstDash val="solid"/>
                      <a:round/>
                      <a:headEnd type="none" w="med" len="med"/>
                      <a:tailEnd type="none" w="med" len="med"/>
                    </a:lnT>
                    <a:lnB w="12700" cap="flat" cmpd="sng" algn="ctr">
                      <a:solidFill>
                        <a:srgbClr val="E8E8E8"/>
                      </a:solidFill>
                      <a:prstDash val="solid"/>
                      <a:round/>
                      <a:headEnd type="none" w="med" len="med"/>
                      <a:tailEnd type="none" w="med" len="med"/>
                    </a:lnB>
                  </a:tcPr>
                </a:tc>
                <a:extLst>
                  <a:ext uri="{0D108BD9-81ED-4DB2-BD59-A6C34878D82A}">
                    <a16:rowId xmlns:a16="http://schemas.microsoft.com/office/drawing/2014/main" val="10003"/>
                  </a:ext>
                </a:extLst>
              </a:tr>
              <a:tr h="1144389">
                <a:tc>
                  <a:txBody>
                    <a:bodyPr/>
                    <a:lstStyle/>
                    <a:p>
                      <a:pPr algn="l">
                        <a:lnSpc>
                          <a:spcPts val="2250"/>
                        </a:lnSpc>
                        <a:defRPr/>
                      </a:pPr>
                      <a:r>
                        <a:rPr lang="en-US" sz="1875" b="1">
                          <a:solidFill>
                            <a:srgbClr val="141B47"/>
                          </a:solidFill>
                          <a:latin typeface="Calibri (MS) Bold"/>
                          <a:ea typeface="Calibri (MS) Bold"/>
                          <a:cs typeface="Calibri (MS) Bold"/>
                          <a:sym typeface="Calibri (MS) Bold"/>
                        </a:rPr>
                        <a:t>followers</a:t>
                      </a:r>
                      <a:endParaRPr lang="en-US" sz="1100"/>
                    </a:p>
                  </a:txBody>
                  <a:tcPr marT="91440" marB="91440" anchor="ctr">
                    <a:lnL w="12700" cap="flat" cmpd="sng" algn="ctr">
                      <a:solidFill>
                        <a:srgbClr val="E8E8E8"/>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rgbClr val="E8E8E8"/>
                      </a:solidFill>
                      <a:prstDash val="solid"/>
                      <a:round/>
                      <a:headEnd type="none" w="med" len="med"/>
                      <a:tailEnd type="none" w="med" len="med"/>
                    </a:lnT>
                    <a:lnB w="12700" cap="flat" cmpd="sng" algn="ctr">
                      <a:solidFill>
                        <a:srgbClr val="E8E8E8"/>
                      </a:solidFill>
                      <a:prstDash val="solid"/>
                      <a:round/>
                      <a:headEnd type="none" w="med" len="med"/>
                      <a:tailEnd type="none" w="med" len="med"/>
                    </a:lnB>
                  </a:tcPr>
                </a:tc>
                <a:tc>
                  <a:txBody>
                    <a:bodyPr/>
                    <a:lstStyle/>
                    <a:p>
                      <a:pPr algn="l">
                        <a:lnSpc>
                          <a:spcPts val="2250"/>
                        </a:lnSpc>
                        <a:defRPr/>
                      </a:pPr>
                      <a:r>
                        <a:rPr lang="en-US" sz="1875">
                          <a:solidFill>
                            <a:srgbClr val="555555"/>
                          </a:solidFill>
                          <a:latin typeface="Calibri (MS)"/>
                          <a:ea typeface="Calibri (MS)"/>
                          <a:cs typeface="Calibri (MS)"/>
                          <a:sym typeface="Calibri (MS)"/>
                        </a:rPr>
                        <a:t>Composite PK (follower_id, followee_id); both FK -&gt; users CASCADE; CHECK follower_id &lt;&gt; followee_id</a:t>
                      </a:r>
                      <a:endParaRPr lang="en-US" sz="1100"/>
                    </a:p>
                  </a:txBody>
                  <a:tcPr marT="91440" marB="91440" anchor="ctr">
                    <a:lnL w="12700" cap="flat" cmpd="sng" algn="ctr">
                      <a:solidFill>
                        <a:srgbClr val="E8E8E8"/>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rgbClr val="E8E8E8"/>
                      </a:solidFill>
                      <a:prstDash val="solid"/>
                      <a:round/>
                      <a:headEnd type="none" w="med" len="med"/>
                      <a:tailEnd type="none" w="med" len="med"/>
                    </a:lnT>
                    <a:lnB w="12700" cap="flat" cmpd="sng" algn="ctr">
                      <a:solidFill>
                        <a:srgbClr val="E8E8E8"/>
                      </a:solidFill>
                      <a:prstDash val="solid"/>
                      <a:round/>
                      <a:headEnd type="none" w="med" len="med"/>
                      <a:tailEnd type="none" w="med" len="med"/>
                    </a:lnB>
                  </a:tcPr>
                </a:tc>
                <a:extLst>
                  <a:ext uri="{0D108BD9-81ED-4DB2-BD59-A6C34878D82A}">
                    <a16:rowId xmlns:a16="http://schemas.microsoft.com/office/drawing/2014/main" val="10004"/>
                  </a:ext>
                </a:extLst>
              </a:tr>
              <a:tr h="1209576">
                <a:tc>
                  <a:txBody>
                    <a:bodyPr/>
                    <a:lstStyle/>
                    <a:p>
                      <a:pPr algn="l">
                        <a:lnSpc>
                          <a:spcPts val="2250"/>
                        </a:lnSpc>
                        <a:defRPr/>
                      </a:pPr>
                      <a:r>
                        <a:rPr lang="en-US" sz="1875" b="1">
                          <a:solidFill>
                            <a:srgbClr val="141B47"/>
                          </a:solidFill>
                          <a:latin typeface="Calibri (MS) Bold"/>
                          <a:ea typeface="Calibri (MS) Bold"/>
                          <a:cs typeface="Calibri (MS) Bold"/>
                          <a:sym typeface="Calibri (MS) Bold"/>
                        </a:rPr>
                        <a:t>interactions</a:t>
                      </a:r>
                      <a:endParaRPr lang="en-US" sz="1100"/>
                    </a:p>
                  </a:txBody>
                  <a:tcPr marT="91440" marB="91440" anchor="ctr">
                    <a:lnL w="12700" cap="flat" cmpd="sng" algn="ctr">
                      <a:solidFill>
                        <a:srgbClr val="E8E8E8"/>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rgbClr val="E8E8E8"/>
                      </a:solidFill>
                      <a:prstDash val="solid"/>
                      <a:round/>
                      <a:headEnd type="none" w="med" len="med"/>
                      <a:tailEnd type="none" w="med" len="med"/>
                    </a:lnT>
                    <a:lnB w="12700" cap="flat" cmpd="sng" algn="ctr">
                      <a:solidFill>
                        <a:srgbClr val="E8E8E8"/>
                      </a:solidFill>
                      <a:prstDash val="solid"/>
                      <a:round/>
                      <a:headEnd type="none" w="med" len="med"/>
                      <a:tailEnd type="none" w="med" len="med"/>
                    </a:lnB>
                  </a:tcPr>
                </a:tc>
                <a:tc>
                  <a:txBody>
                    <a:bodyPr/>
                    <a:lstStyle/>
                    <a:p>
                      <a:pPr algn="l">
                        <a:lnSpc>
                          <a:spcPts val="2250"/>
                        </a:lnSpc>
                        <a:defRPr/>
                      </a:pPr>
                      <a:r>
                        <a:rPr lang="en-US" sz="1875">
                          <a:solidFill>
                            <a:srgbClr val="555555"/>
                          </a:solidFill>
                          <a:latin typeface="Calibri (MS)"/>
                          <a:ea typeface="Calibri (MS)"/>
                          <a:cs typeface="Calibri (MS)"/>
                          <a:sym typeface="Calibri (MS)"/>
                        </a:rPr>
                        <a:t>PK (BIGINT); FK -&gt; posts, users CASCADE; CHECK interaction_type IN (like, share, save, view); UNIQUE (post_id, user_id, interaction_type)</a:t>
                      </a:r>
                      <a:endParaRPr lang="en-US" sz="1100"/>
                    </a:p>
                  </a:txBody>
                  <a:tcPr marT="91440" marB="91440" anchor="ctr">
                    <a:lnL w="12700" cap="flat" cmpd="sng" algn="ctr">
                      <a:solidFill>
                        <a:srgbClr val="E8E8E8"/>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rgbClr val="E8E8E8"/>
                      </a:solidFill>
                      <a:prstDash val="solid"/>
                      <a:round/>
                      <a:headEnd type="none" w="med" len="med"/>
                      <a:tailEnd type="none" w="med" len="med"/>
                    </a:lnT>
                    <a:lnB w="12700" cap="flat" cmpd="sng" algn="ctr">
                      <a:solidFill>
                        <a:srgbClr val="E8E8E8"/>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pSp>
        <p:nvGrpSpPr>
          <p:cNvPr id="9" name="Group 9"/>
          <p:cNvGrpSpPr/>
          <p:nvPr/>
        </p:nvGrpSpPr>
        <p:grpSpPr>
          <a:xfrm>
            <a:off x="822960" y="8023860"/>
            <a:ext cx="16637508" cy="960120"/>
            <a:chOff x="0" y="0"/>
            <a:chExt cx="22183344" cy="1280160"/>
          </a:xfrm>
        </p:grpSpPr>
        <p:sp>
          <p:nvSpPr>
            <p:cNvPr id="10" name="Freeform 10"/>
            <p:cNvSpPr/>
            <p:nvPr/>
          </p:nvSpPr>
          <p:spPr>
            <a:xfrm>
              <a:off x="0" y="0"/>
              <a:ext cx="22183344" cy="1280160"/>
            </a:xfrm>
            <a:custGeom>
              <a:avLst/>
              <a:gdLst/>
              <a:ahLst/>
              <a:cxnLst/>
              <a:rect l="l" t="t" r="r" b="b"/>
              <a:pathLst>
                <a:path w="22183344" h="1280160">
                  <a:moveTo>
                    <a:pt x="0" y="0"/>
                  </a:moveTo>
                  <a:lnTo>
                    <a:pt x="22183344" y="0"/>
                  </a:lnTo>
                  <a:lnTo>
                    <a:pt x="22183344" y="1280160"/>
                  </a:lnTo>
                  <a:lnTo>
                    <a:pt x="0" y="1280160"/>
                  </a:lnTo>
                  <a:close/>
                </a:path>
              </a:pathLst>
            </a:custGeom>
            <a:blipFill>
              <a:blip r:embed="rId3">
                <a:alphaModFix amt="0"/>
              </a:blip>
              <a:stretch>
                <a:fillRect t="-287647" b="-287647"/>
              </a:stretch>
            </a:blipFill>
          </p:spPr>
        </p:sp>
        <p:sp>
          <p:nvSpPr>
            <p:cNvPr id="11" name="TextBox 11"/>
            <p:cNvSpPr txBox="1"/>
            <p:nvPr/>
          </p:nvSpPr>
          <p:spPr>
            <a:xfrm>
              <a:off x="0" y="-38100"/>
              <a:ext cx="22183344" cy="1318260"/>
            </a:xfrm>
            <a:prstGeom prst="rect">
              <a:avLst/>
            </a:prstGeom>
          </p:spPr>
          <p:txBody>
            <a:bodyPr lIns="0" tIns="0" rIns="0" bIns="0" rtlCol="0" anchor="ctr"/>
            <a:lstStyle/>
            <a:p>
              <a:pPr algn="l">
                <a:lnSpc>
                  <a:spcPts val="2250"/>
                </a:lnSpc>
              </a:pPr>
              <a:r>
                <a:rPr lang="en-US" sz="1875" i="1">
                  <a:solidFill>
                    <a:srgbClr val="1E2761"/>
                  </a:solidFill>
                  <a:latin typeface="Calibri (MS) Italics"/>
                  <a:ea typeface="Calibri (MS) Italics"/>
                  <a:cs typeface="Calibri (MS) Italics"/>
                  <a:sym typeface="Calibri (MS) Italics"/>
                </a:rPr>
                <a:t>PRIMARY KEY · FOREIGN KEY · UNIQUE (single &amp; composite) · CHECK (value list &amp; pattern) · NOT NULL · AUTO_INCREMENT · DEFAULT — the database enforces integrity instead of relying only on application code.</a:t>
              </a:r>
            </a:p>
          </p:txBody>
        </p:sp>
      </p:grpSp>
      <p:grpSp>
        <p:nvGrpSpPr>
          <p:cNvPr id="12" name="Group 12"/>
          <p:cNvGrpSpPr/>
          <p:nvPr/>
        </p:nvGrpSpPr>
        <p:grpSpPr>
          <a:xfrm>
            <a:off x="17323308" y="9669780"/>
            <a:ext cx="548640" cy="411480"/>
            <a:chOff x="0" y="0"/>
            <a:chExt cx="731520" cy="548640"/>
          </a:xfrm>
        </p:grpSpPr>
        <p:sp>
          <p:nvSpPr>
            <p:cNvPr id="13" name="Freeform 13"/>
            <p:cNvSpPr/>
            <p:nvPr/>
          </p:nvSpPr>
          <p:spPr>
            <a:xfrm>
              <a:off x="0" y="0"/>
              <a:ext cx="731520" cy="548640"/>
            </a:xfrm>
            <a:custGeom>
              <a:avLst/>
              <a:gdLst/>
              <a:ahLst/>
              <a:cxnLst/>
              <a:rect l="l" t="t" r="r" b="b"/>
              <a:pathLst>
                <a:path w="731520" h="548640">
                  <a:moveTo>
                    <a:pt x="0" y="0"/>
                  </a:moveTo>
                  <a:lnTo>
                    <a:pt x="731520" y="0"/>
                  </a:lnTo>
                  <a:lnTo>
                    <a:pt x="731520" y="548640"/>
                  </a:lnTo>
                  <a:lnTo>
                    <a:pt x="0" y="548640"/>
                  </a:lnTo>
                  <a:close/>
                </a:path>
              </a:pathLst>
            </a:custGeom>
            <a:blipFill>
              <a:blip r:embed="rId3">
                <a:alphaModFix amt="0"/>
              </a:blip>
              <a:stretch>
                <a:fillRect l="-46227" r="-46227"/>
              </a:stretch>
            </a:blipFill>
          </p:spPr>
        </p:sp>
        <p:sp>
          <p:nvSpPr>
            <p:cNvPr id="14" name="TextBox 14"/>
            <p:cNvSpPr txBox="1"/>
            <p:nvPr/>
          </p:nvSpPr>
          <p:spPr>
            <a:xfrm>
              <a:off x="0" y="-38100"/>
              <a:ext cx="731520" cy="586740"/>
            </a:xfrm>
            <a:prstGeom prst="rect">
              <a:avLst/>
            </a:prstGeom>
          </p:spPr>
          <p:txBody>
            <a:bodyPr lIns="0" tIns="0" rIns="0" bIns="0" rtlCol="0" anchor="ctr"/>
            <a:lstStyle/>
            <a:p>
              <a:pPr algn="r">
                <a:lnSpc>
                  <a:spcPts val="1800"/>
                </a:lnSpc>
              </a:pPr>
              <a:r>
                <a:rPr lang="en-US" sz="1500">
                  <a:solidFill>
                    <a:srgbClr val="999999"/>
                  </a:solidFill>
                  <a:latin typeface="Calibri (MS)"/>
                  <a:ea typeface="Calibri (MS)"/>
                  <a:cs typeface="Calibri (MS)"/>
                  <a:sym typeface="Calibri (MS)"/>
                </a:rPr>
                <a:t>4</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22960" y="548640"/>
            <a:ext cx="10972800" cy="411480"/>
            <a:chOff x="0" y="0"/>
            <a:chExt cx="14630400" cy="548640"/>
          </a:xfrm>
        </p:grpSpPr>
        <p:sp>
          <p:nvSpPr>
            <p:cNvPr id="3" name="Freeform 3"/>
            <p:cNvSpPr/>
            <p:nvPr/>
          </p:nvSpPr>
          <p:spPr>
            <a:xfrm>
              <a:off x="0" y="0"/>
              <a:ext cx="14630400" cy="548640"/>
            </a:xfrm>
            <a:custGeom>
              <a:avLst/>
              <a:gdLst/>
              <a:ahLst/>
              <a:cxnLst/>
              <a:rect l="l" t="t" r="r" b="b"/>
              <a:pathLst>
                <a:path w="14630400" h="548640">
                  <a:moveTo>
                    <a:pt x="0" y="0"/>
                  </a:moveTo>
                  <a:lnTo>
                    <a:pt x="14630400" y="0"/>
                  </a:lnTo>
                  <a:lnTo>
                    <a:pt x="14630400" y="548640"/>
                  </a:lnTo>
                  <a:lnTo>
                    <a:pt x="0" y="548640"/>
                  </a:lnTo>
                  <a:close/>
                </a:path>
              </a:pathLst>
            </a:custGeom>
            <a:blipFill>
              <a:blip r:embed="rId3">
                <a:alphaModFix amt="0"/>
              </a:blip>
              <a:stretch>
                <a:fillRect t="-469601" b="-469601"/>
              </a:stretch>
            </a:blipFill>
          </p:spPr>
        </p:sp>
        <p:sp>
          <p:nvSpPr>
            <p:cNvPr id="4" name="TextBox 4"/>
            <p:cNvSpPr txBox="1"/>
            <p:nvPr/>
          </p:nvSpPr>
          <p:spPr>
            <a:xfrm>
              <a:off x="0" y="-38100"/>
              <a:ext cx="14630400" cy="586740"/>
            </a:xfrm>
            <a:prstGeom prst="rect">
              <a:avLst/>
            </a:prstGeom>
          </p:spPr>
          <p:txBody>
            <a:bodyPr lIns="0" tIns="0" rIns="0" bIns="0" rtlCol="0" anchor="ctr"/>
            <a:lstStyle/>
            <a:p>
              <a:pPr algn="l">
                <a:lnSpc>
                  <a:spcPts val="2160"/>
                </a:lnSpc>
              </a:pPr>
              <a:r>
                <a:rPr lang="en-US" sz="1800" b="1" spc="300">
                  <a:solidFill>
                    <a:srgbClr val="1E2761"/>
                  </a:solidFill>
                  <a:latin typeface="Calibri (MS) Bold"/>
                  <a:ea typeface="Calibri (MS) Bold"/>
                  <a:cs typeface="Calibri (MS) Bold"/>
                  <a:sym typeface="Calibri (MS) Bold"/>
                </a:rPr>
                <a:t>QUERY LAB</a:t>
              </a:r>
            </a:p>
          </p:txBody>
        </p:sp>
      </p:grpSp>
      <p:grpSp>
        <p:nvGrpSpPr>
          <p:cNvPr id="5" name="Group 5"/>
          <p:cNvGrpSpPr/>
          <p:nvPr/>
        </p:nvGrpSpPr>
        <p:grpSpPr>
          <a:xfrm>
            <a:off x="822960" y="932688"/>
            <a:ext cx="16637508" cy="960120"/>
            <a:chOff x="0" y="0"/>
            <a:chExt cx="22183344" cy="1280160"/>
          </a:xfrm>
        </p:grpSpPr>
        <p:sp>
          <p:nvSpPr>
            <p:cNvPr id="6" name="Freeform 6"/>
            <p:cNvSpPr/>
            <p:nvPr/>
          </p:nvSpPr>
          <p:spPr>
            <a:xfrm>
              <a:off x="0" y="0"/>
              <a:ext cx="22183344" cy="1280160"/>
            </a:xfrm>
            <a:custGeom>
              <a:avLst/>
              <a:gdLst/>
              <a:ahLst/>
              <a:cxnLst/>
              <a:rect l="l" t="t" r="r" b="b"/>
              <a:pathLst>
                <a:path w="22183344" h="1280160">
                  <a:moveTo>
                    <a:pt x="0" y="0"/>
                  </a:moveTo>
                  <a:lnTo>
                    <a:pt x="22183344" y="0"/>
                  </a:lnTo>
                  <a:lnTo>
                    <a:pt x="22183344" y="1280160"/>
                  </a:lnTo>
                  <a:lnTo>
                    <a:pt x="0" y="1280160"/>
                  </a:lnTo>
                  <a:close/>
                </a:path>
              </a:pathLst>
            </a:custGeom>
            <a:blipFill>
              <a:blip r:embed="rId3">
                <a:alphaModFix amt="0"/>
              </a:blip>
              <a:stretch>
                <a:fillRect t="-287647" b="-287647"/>
              </a:stretch>
            </a:blipFill>
          </p:spPr>
        </p:sp>
        <p:sp>
          <p:nvSpPr>
            <p:cNvPr id="7" name="TextBox 7"/>
            <p:cNvSpPr txBox="1"/>
            <p:nvPr/>
          </p:nvSpPr>
          <p:spPr>
            <a:xfrm>
              <a:off x="0" y="-9525"/>
              <a:ext cx="22183344" cy="1289685"/>
            </a:xfrm>
            <a:prstGeom prst="rect">
              <a:avLst/>
            </a:prstGeom>
          </p:spPr>
          <p:txBody>
            <a:bodyPr lIns="0" tIns="0" rIns="0" bIns="0" rtlCol="0" anchor="ctr"/>
            <a:lstStyle/>
            <a:p>
              <a:pPr algn="l">
                <a:lnSpc>
                  <a:spcPts val="5759"/>
                </a:lnSpc>
              </a:pPr>
              <a:r>
                <a:rPr lang="en-US" sz="4800" b="1">
                  <a:solidFill>
                    <a:srgbClr val="141B47"/>
                  </a:solidFill>
                  <a:latin typeface="Cambria Bold"/>
                  <a:ea typeface="Cambria Bold"/>
                  <a:cs typeface="Cambria Bold"/>
                  <a:sym typeface="Cambria Bold"/>
                </a:rPr>
                <a:t>Advanced Queries</a:t>
              </a:r>
            </a:p>
          </p:txBody>
        </p:sp>
      </p:grpSp>
      <p:grpSp>
        <p:nvGrpSpPr>
          <p:cNvPr id="8" name="Group 8"/>
          <p:cNvGrpSpPr/>
          <p:nvPr/>
        </p:nvGrpSpPr>
        <p:grpSpPr>
          <a:xfrm>
            <a:off x="822960" y="2057400"/>
            <a:ext cx="16637508" cy="617220"/>
            <a:chOff x="0" y="0"/>
            <a:chExt cx="22183344" cy="822960"/>
          </a:xfrm>
        </p:grpSpPr>
        <p:sp>
          <p:nvSpPr>
            <p:cNvPr id="9" name="Freeform 9"/>
            <p:cNvSpPr/>
            <p:nvPr/>
          </p:nvSpPr>
          <p:spPr>
            <a:xfrm>
              <a:off x="0" y="0"/>
              <a:ext cx="22183344" cy="822960"/>
            </a:xfrm>
            <a:custGeom>
              <a:avLst/>
              <a:gdLst/>
              <a:ahLst/>
              <a:cxnLst/>
              <a:rect l="l" t="t" r="r" b="b"/>
              <a:pathLst>
                <a:path w="22183344" h="822960">
                  <a:moveTo>
                    <a:pt x="0" y="0"/>
                  </a:moveTo>
                  <a:lnTo>
                    <a:pt x="22183344" y="0"/>
                  </a:lnTo>
                  <a:lnTo>
                    <a:pt x="22183344" y="822960"/>
                  </a:lnTo>
                  <a:lnTo>
                    <a:pt x="0" y="822960"/>
                  </a:lnTo>
                  <a:close/>
                </a:path>
              </a:pathLst>
            </a:custGeom>
            <a:blipFill>
              <a:blip r:embed="rId3">
                <a:alphaModFix amt="0"/>
              </a:blip>
              <a:stretch>
                <a:fillRect t="-475230" b="-475230"/>
              </a:stretch>
            </a:blipFill>
          </p:spPr>
        </p:sp>
        <p:sp>
          <p:nvSpPr>
            <p:cNvPr id="10" name="TextBox 10"/>
            <p:cNvSpPr txBox="1"/>
            <p:nvPr/>
          </p:nvSpPr>
          <p:spPr>
            <a:xfrm>
              <a:off x="0" y="-47625"/>
              <a:ext cx="22183344" cy="870585"/>
            </a:xfrm>
            <a:prstGeom prst="rect">
              <a:avLst/>
            </a:prstGeom>
          </p:spPr>
          <p:txBody>
            <a:bodyPr lIns="0" tIns="0" rIns="0" bIns="0" rtlCol="0" anchor="ctr"/>
            <a:lstStyle/>
            <a:p>
              <a:pPr algn="l">
                <a:lnSpc>
                  <a:spcPts val="2520"/>
                </a:lnSpc>
              </a:pPr>
              <a:r>
                <a:rPr lang="en-US" sz="2100" i="1">
                  <a:solidFill>
                    <a:srgbClr val="555555"/>
                  </a:solidFill>
                  <a:latin typeface="Calibri (MS) Italics"/>
                  <a:ea typeface="Calibri (MS) Italics"/>
                  <a:cs typeface="Calibri (MS) Italics"/>
                  <a:sym typeface="Calibri (MS) Italics"/>
                </a:rPr>
                <a:t>We use joins, CTEs, subqueries, aggregates and window functions for analytics — not simple lookup queries.</a:t>
              </a:r>
            </a:p>
          </p:txBody>
        </p:sp>
      </p:grpSp>
      <p:graphicFrame>
        <p:nvGraphicFramePr>
          <p:cNvPr id="11" name="Table 11"/>
          <p:cNvGraphicFramePr>
            <a:graphicFrameLocks noGrp="1"/>
          </p:cNvGraphicFramePr>
          <p:nvPr/>
        </p:nvGraphicFramePr>
        <p:xfrm>
          <a:off x="822960" y="2948940"/>
          <a:ext cx="16059150" cy="5467350"/>
        </p:xfrm>
        <a:graphic>
          <a:graphicData uri="http://schemas.openxmlformats.org/drawingml/2006/table">
            <a:tbl>
              <a:tblPr/>
              <a:tblGrid>
                <a:gridCol w="8622312">
                  <a:extLst>
                    <a:ext uri="{9D8B030D-6E8A-4147-A177-3AD203B41FA5}">
                      <a16:colId xmlns:a16="http://schemas.microsoft.com/office/drawing/2014/main" val="20000"/>
                    </a:ext>
                  </a:extLst>
                </a:gridCol>
                <a:gridCol w="7436838">
                  <a:extLst>
                    <a:ext uri="{9D8B030D-6E8A-4147-A177-3AD203B41FA5}">
                      <a16:colId xmlns:a16="http://schemas.microsoft.com/office/drawing/2014/main" val="20001"/>
                    </a:ext>
                  </a:extLst>
                </a:gridCol>
              </a:tblGrid>
              <a:tr h="626923">
                <a:tc>
                  <a:txBody>
                    <a:bodyPr/>
                    <a:lstStyle/>
                    <a:p>
                      <a:pPr algn="l">
                        <a:lnSpc>
                          <a:spcPts val="2340"/>
                        </a:lnSpc>
                        <a:defRPr/>
                      </a:pPr>
                      <a:r>
                        <a:rPr lang="en-US" sz="1950" b="1">
                          <a:solidFill>
                            <a:srgbClr val="FFFFFF"/>
                          </a:solidFill>
                          <a:latin typeface="Calibri (MS) Bold"/>
                          <a:ea typeface="Calibri (MS) Bold"/>
                          <a:cs typeface="Calibri (MS) Bold"/>
                          <a:sym typeface="Calibri (MS) Bold"/>
                        </a:rPr>
                        <a:t>Requirement</a:t>
                      </a:r>
                      <a:endParaRPr lang="en-US" sz="1100"/>
                    </a:p>
                  </a:txBody>
                  <a:tcPr marT="91440" marB="91440" anchor="ctr">
                    <a:lnL w="12700" cap="flat" cmpd="sng" algn="ctr">
                      <a:solidFill>
                        <a:srgbClr val="E8E8E8"/>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rgbClr val="E8E8E8"/>
                      </a:solidFill>
                      <a:prstDash val="solid"/>
                      <a:round/>
                      <a:headEnd type="none" w="med" len="med"/>
                      <a:tailEnd type="none" w="med" len="med"/>
                    </a:lnT>
                    <a:lnB w="12700" cap="flat" cmpd="sng" algn="ctr">
                      <a:solidFill>
                        <a:srgbClr val="E8E8E8"/>
                      </a:solidFill>
                      <a:prstDash val="solid"/>
                      <a:round/>
                      <a:headEnd type="none" w="med" len="med"/>
                      <a:tailEnd type="none" w="med" len="med"/>
                    </a:lnB>
                    <a:solidFill>
                      <a:srgbClr val="1E2761"/>
                    </a:solidFill>
                  </a:tcPr>
                </a:tc>
                <a:tc>
                  <a:txBody>
                    <a:bodyPr/>
                    <a:lstStyle/>
                    <a:p>
                      <a:pPr algn="l">
                        <a:lnSpc>
                          <a:spcPts val="2340"/>
                        </a:lnSpc>
                        <a:defRPr/>
                      </a:pPr>
                      <a:r>
                        <a:rPr lang="en-US" sz="1950" b="1">
                          <a:solidFill>
                            <a:srgbClr val="FFFFFF"/>
                          </a:solidFill>
                          <a:latin typeface="Calibri (MS) Bold"/>
                          <a:ea typeface="Calibri (MS) Bold"/>
                          <a:cs typeface="Calibri (MS) Bold"/>
                          <a:sym typeface="Calibri (MS) Bold"/>
                        </a:rPr>
                        <a:t>SQL Techniques Used</a:t>
                      </a:r>
                      <a:endParaRPr lang="en-US" sz="1100"/>
                    </a:p>
                  </a:txBody>
                  <a:tcPr marT="91440" marB="91440" anchor="ctr">
                    <a:lnL w="12700" cap="flat" cmpd="sng" algn="ctr">
                      <a:solidFill>
                        <a:srgbClr val="E8E8E8"/>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rgbClr val="E8E8E8"/>
                      </a:solidFill>
                      <a:prstDash val="solid"/>
                      <a:round/>
                      <a:headEnd type="none" w="med" len="med"/>
                      <a:tailEnd type="none" w="med" len="med"/>
                    </a:lnT>
                    <a:lnB w="12700" cap="flat" cmpd="sng" algn="ctr">
                      <a:solidFill>
                        <a:srgbClr val="E8E8E8"/>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1020572">
                <a:tc>
                  <a:txBody>
                    <a:bodyPr/>
                    <a:lstStyle/>
                    <a:p>
                      <a:pPr algn="l">
                        <a:lnSpc>
                          <a:spcPts val="2340"/>
                        </a:lnSpc>
                        <a:defRPr/>
                      </a:pPr>
                      <a:r>
                        <a:rPr lang="en-US" sz="1950">
                          <a:solidFill>
                            <a:srgbClr val="141B47"/>
                          </a:solidFill>
                          <a:latin typeface="Calibri (MS)"/>
                          <a:ea typeface="Calibri (MS)"/>
                          <a:cs typeface="Calibri (MS)"/>
                          <a:sym typeface="Calibri (MS)"/>
                        </a:rPr>
                        <a:t>Top-performing posts by weighted engagement</a:t>
                      </a:r>
                      <a:endParaRPr lang="en-US" sz="1100"/>
                    </a:p>
                  </a:txBody>
                  <a:tcPr marT="91440" marB="91440" anchor="ctr">
                    <a:lnL w="12700" cap="flat" cmpd="sng" algn="ctr">
                      <a:solidFill>
                        <a:srgbClr val="E8E8E8"/>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rgbClr val="E8E8E8"/>
                      </a:solidFill>
                      <a:prstDash val="solid"/>
                      <a:round/>
                      <a:headEnd type="none" w="med" len="med"/>
                      <a:tailEnd type="none" w="med" len="med"/>
                    </a:lnT>
                    <a:lnB w="12700" cap="flat" cmpd="sng" algn="ctr">
                      <a:solidFill>
                        <a:srgbClr val="E8E8E8"/>
                      </a:solidFill>
                      <a:prstDash val="solid"/>
                      <a:round/>
                      <a:headEnd type="none" w="med" len="med"/>
                      <a:tailEnd type="none" w="med" len="med"/>
                    </a:lnB>
                  </a:tcPr>
                </a:tc>
                <a:tc>
                  <a:txBody>
                    <a:bodyPr/>
                    <a:lstStyle/>
                    <a:p>
                      <a:pPr algn="l">
                        <a:lnSpc>
                          <a:spcPts val="2340"/>
                        </a:lnSpc>
                        <a:defRPr/>
                      </a:pPr>
                      <a:r>
                        <a:rPr lang="en-US" sz="1950">
                          <a:solidFill>
                            <a:srgbClr val="555555"/>
                          </a:solidFill>
                          <a:latin typeface="Calibri (MS)"/>
                          <a:ea typeface="Calibri (MS)"/>
                          <a:cs typeface="Calibri (MS)"/>
                          <a:sym typeface="Calibri (MS)"/>
                        </a:rPr>
                        <a:t>JOIN, GROUP BY, HAVING, conditional aggregate</a:t>
                      </a:r>
                      <a:endParaRPr lang="en-US" sz="1100"/>
                    </a:p>
                  </a:txBody>
                  <a:tcPr marT="91440" marB="91440" anchor="ctr">
                    <a:lnL w="12700" cap="flat" cmpd="sng" algn="ctr">
                      <a:solidFill>
                        <a:srgbClr val="E8E8E8"/>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rgbClr val="E8E8E8"/>
                      </a:solidFill>
                      <a:prstDash val="solid"/>
                      <a:round/>
                      <a:headEnd type="none" w="med" len="med"/>
                      <a:tailEnd type="none" w="med" len="med"/>
                    </a:lnT>
                    <a:lnB w="12700" cap="flat" cmpd="sng" algn="ctr">
                      <a:solidFill>
                        <a:srgbClr val="E8E8E8"/>
                      </a:solidFill>
                      <a:prstDash val="solid"/>
                      <a:round/>
                      <a:headEnd type="none" w="med" len="med"/>
                      <a:tailEnd type="none" w="med" len="med"/>
                    </a:lnB>
                  </a:tcPr>
                </a:tc>
                <a:extLst>
                  <a:ext uri="{0D108BD9-81ED-4DB2-BD59-A6C34878D82A}">
                    <a16:rowId xmlns:a16="http://schemas.microsoft.com/office/drawing/2014/main" val="10001"/>
                  </a:ext>
                </a:extLst>
              </a:tr>
              <a:tr h="1020572">
                <a:tc>
                  <a:txBody>
                    <a:bodyPr/>
                    <a:lstStyle/>
                    <a:p>
                      <a:pPr algn="l">
                        <a:lnSpc>
                          <a:spcPts val="2340"/>
                        </a:lnSpc>
                        <a:defRPr/>
                      </a:pPr>
                      <a:r>
                        <a:rPr lang="en-US" sz="1950">
                          <a:solidFill>
                            <a:srgbClr val="141B47"/>
                          </a:solidFill>
                          <a:latin typeface="Calibri (MS)"/>
                          <a:ea typeface="Calibri (MS)"/>
                          <a:cs typeface="Calibri (MS)"/>
                          <a:sym typeface="Calibri (MS)"/>
                        </a:rPr>
                        <a:t>Rank creators overall and within their country</a:t>
                      </a:r>
                      <a:endParaRPr lang="en-US" sz="1100"/>
                    </a:p>
                  </a:txBody>
                  <a:tcPr marT="91440" marB="91440" anchor="ctr">
                    <a:lnL w="12700" cap="flat" cmpd="sng" algn="ctr">
                      <a:solidFill>
                        <a:srgbClr val="E8E8E8"/>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rgbClr val="E8E8E8"/>
                      </a:solidFill>
                      <a:prstDash val="solid"/>
                      <a:round/>
                      <a:headEnd type="none" w="med" len="med"/>
                      <a:tailEnd type="none" w="med" len="med"/>
                    </a:lnT>
                    <a:lnB w="12700" cap="flat" cmpd="sng" algn="ctr">
                      <a:solidFill>
                        <a:srgbClr val="E8E8E8"/>
                      </a:solidFill>
                      <a:prstDash val="solid"/>
                      <a:round/>
                      <a:headEnd type="none" w="med" len="med"/>
                      <a:tailEnd type="none" w="med" len="med"/>
                    </a:lnB>
                  </a:tcPr>
                </a:tc>
                <a:tc>
                  <a:txBody>
                    <a:bodyPr/>
                    <a:lstStyle/>
                    <a:p>
                      <a:pPr algn="l">
                        <a:lnSpc>
                          <a:spcPts val="2340"/>
                        </a:lnSpc>
                        <a:defRPr/>
                      </a:pPr>
                      <a:r>
                        <a:rPr lang="en-US" sz="1950">
                          <a:solidFill>
                            <a:srgbClr val="555555"/>
                          </a:solidFill>
                          <a:latin typeface="Calibri (MS)"/>
                          <a:ea typeface="Calibri (MS)"/>
                          <a:cs typeface="Calibri (MS)"/>
                          <a:sym typeface="Calibri (MS)"/>
                        </a:rPr>
                        <a:t>CTE, RANK, DENSE_RANK, PERCENT_RANK, PARTITION BY</a:t>
                      </a:r>
                      <a:endParaRPr lang="en-US" sz="1100"/>
                    </a:p>
                  </a:txBody>
                  <a:tcPr marT="91440" marB="91440" anchor="ctr">
                    <a:lnL w="12700" cap="flat" cmpd="sng" algn="ctr">
                      <a:solidFill>
                        <a:srgbClr val="E8E8E8"/>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rgbClr val="E8E8E8"/>
                      </a:solidFill>
                      <a:prstDash val="solid"/>
                      <a:round/>
                      <a:headEnd type="none" w="med" len="med"/>
                      <a:tailEnd type="none" w="med" len="med"/>
                    </a:lnT>
                    <a:lnB w="12700" cap="flat" cmpd="sng" algn="ctr">
                      <a:solidFill>
                        <a:srgbClr val="E8E8E8"/>
                      </a:solidFill>
                      <a:prstDash val="solid"/>
                      <a:round/>
                      <a:headEnd type="none" w="med" len="med"/>
                      <a:tailEnd type="none" w="med" len="med"/>
                    </a:lnB>
                  </a:tcPr>
                </a:tc>
                <a:extLst>
                  <a:ext uri="{0D108BD9-81ED-4DB2-BD59-A6C34878D82A}">
                    <a16:rowId xmlns:a16="http://schemas.microsoft.com/office/drawing/2014/main" val="10002"/>
                  </a:ext>
                </a:extLst>
              </a:tr>
              <a:tr h="1020572">
                <a:tc>
                  <a:txBody>
                    <a:bodyPr/>
                    <a:lstStyle/>
                    <a:p>
                      <a:pPr algn="l">
                        <a:lnSpc>
                          <a:spcPts val="2340"/>
                        </a:lnSpc>
                        <a:defRPr/>
                      </a:pPr>
                      <a:r>
                        <a:rPr lang="en-US" sz="1950">
                          <a:solidFill>
                            <a:srgbClr val="141B47"/>
                          </a:solidFill>
                          <a:latin typeface="Calibri (MS)"/>
                          <a:ea typeface="Calibri (MS)"/>
                          <a:cs typeface="Calibri (MS)"/>
                          <a:sym typeface="Calibri (MS)"/>
                        </a:rPr>
                        <a:t>Trending posts — activity in the last 7 days, regardless of publish date</a:t>
                      </a:r>
                      <a:endParaRPr lang="en-US" sz="1100"/>
                    </a:p>
                  </a:txBody>
                  <a:tcPr marT="91440" marB="91440" anchor="ctr">
                    <a:lnL w="12700" cap="flat" cmpd="sng" algn="ctr">
                      <a:solidFill>
                        <a:srgbClr val="E8E8E8"/>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rgbClr val="E8E8E8"/>
                      </a:solidFill>
                      <a:prstDash val="solid"/>
                      <a:round/>
                      <a:headEnd type="none" w="med" len="med"/>
                      <a:tailEnd type="none" w="med" len="med"/>
                    </a:lnT>
                    <a:lnB w="12700" cap="flat" cmpd="sng" algn="ctr">
                      <a:solidFill>
                        <a:srgbClr val="E8E8E8"/>
                      </a:solidFill>
                      <a:prstDash val="solid"/>
                      <a:round/>
                      <a:headEnd type="none" w="med" len="med"/>
                      <a:tailEnd type="none" w="med" len="med"/>
                    </a:lnB>
                  </a:tcPr>
                </a:tc>
                <a:tc>
                  <a:txBody>
                    <a:bodyPr/>
                    <a:lstStyle/>
                    <a:p>
                      <a:pPr algn="l">
                        <a:lnSpc>
                          <a:spcPts val="2340"/>
                        </a:lnSpc>
                        <a:defRPr/>
                      </a:pPr>
                      <a:r>
                        <a:rPr lang="en-US" sz="1950">
                          <a:solidFill>
                            <a:srgbClr val="555555"/>
                          </a:solidFill>
                          <a:latin typeface="Calibri (MS)"/>
                          <a:ea typeface="Calibri (MS)"/>
                          <a:cs typeface="Calibri (MS)"/>
                          <a:sym typeface="Calibri (MS)"/>
                        </a:rPr>
                        <a:t>CTE, UNION ALL, weighted SUM, DENSE_RANK, date filtering</a:t>
                      </a:r>
                      <a:endParaRPr lang="en-US" sz="1100"/>
                    </a:p>
                  </a:txBody>
                  <a:tcPr marT="91440" marB="91440" anchor="ctr">
                    <a:lnL w="12700" cap="flat" cmpd="sng" algn="ctr">
                      <a:solidFill>
                        <a:srgbClr val="E8E8E8"/>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rgbClr val="E8E8E8"/>
                      </a:solidFill>
                      <a:prstDash val="solid"/>
                      <a:round/>
                      <a:headEnd type="none" w="med" len="med"/>
                      <a:tailEnd type="none" w="med" len="med"/>
                    </a:lnT>
                    <a:lnB w="12700" cap="flat" cmpd="sng" algn="ctr">
                      <a:solidFill>
                        <a:srgbClr val="E8E8E8"/>
                      </a:solidFill>
                      <a:prstDash val="solid"/>
                      <a:round/>
                      <a:headEnd type="none" w="med" len="med"/>
                      <a:tailEnd type="none" w="med" len="med"/>
                    </a:lnB>
                  </a:tcPr>
                </a:tc>
                <a:extLst>
                  <a:ext uri="{0D108BD9-81ED-4DB2-BD59-A6C34878D82A}">
                    <a16:rowId xmlns:a16="http://schemas.microsoft.com/office/drawing/2014/main" val="10003"/>
                  </a:ext>
                </a:extLst>
              </a:tr>
              <a:tr h="954964">
                <a:tc>
                  <a:txBody>
                    <a:bodyPr/>
                    <a:lstStyle/>
                    <a:p>
                      <a:pPr algn="l">
                        <a:lnSpc>
                          <a:spcPts val="2340"/>
                        </a:lnSpc>
                        <a:defRPr/>
                      </a:pPr>
                      <a:r>
                        <a:rPr lang="en-US" sz="1950">
                          <a:solidFill>
                            <a:srgbClr val="141B47"/>
                          </a:solidFill>
                          <a:latin typeface="Calibri (MS)"/>
                          <a:ea typeface="Calibri (MS)"/>
                          <a:cs typeface="Calibri (MS)"/>
                          <a:sym typeface="Calibri (MS)"/>
                        </a:rPr>
                        <a:t>Compare each post against its author's own average</a:t>
                      </a:r>
                      <a:endParaRPr lang="en-US" sz="1100"/>
                    </a:p>
                  </a:txBody>
                  <a:tcPr marT="91440" marB="91440" anchor="ctr">
                    <a:lnL w="12700" cap="flat" cmpd="sng" algn="ctr">
                      <a:solidFill>
                        <a:srgbClr val="E8E8E8"/>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rgbClr val="E8E8E8"/>
                      </a:solidFill>
                      <a:prstDash val="solid"/>
                      <a:round/>
                      <a:headEnd type="none" w="med" len="med"/>
                      <a:tailEnd type="none" w="med" len="med"/>
                    </a:lnT>
                    <a:lnB w="12700" cap="flat" cmpd="sng" algn="ctr">
                      <a:solidFill>
                        <a:srgbClr val="E8E8E8"/>
                      </a:solidFill>
                      <a:prstDash val="solid"/>
                      <a:round/>
                      <a:headEnd type="none" w="med" len="med"/>
                      <a:tailEnd type="none" w="med" len="med"/>
                    </a:lnB>
                  </a:tcPr>
                </a:tc>
                <a:tc>
                  <a:txBody>
                    <a:bodyPr/>
                    <a:lstStyle/>
                    <a:p>
                      <a:pPr algn="l">
                        <a:lnSpc>
                          <a:spcPts val="2340"/>
                        </a:lnSpc>
                        <a:defRPr/>
                      </a:pPr>
                      <a:r>
                        <a:rPr lang="en-US" sz="1950">
                          <a:solidFill>
                            <a:srgbClr val="555555"/>
                          </a:solidFill>
                          <a:latin typeface="Calibri (MS)"/>
                          <a:ea typeface="Calibri (MS)"/>
                          <a:cs typeface="Calibri (MS)"/>
                          <a:sym typeface="Calibri (MS)"/>
                        </a:rPr>
                        <a:t>Window AVG with PARTITION BY, CASE, CTE</a:t>
                      </a:r>
                      <a:endParaRPr lang="en-US" sz="1100"/>
                    </a:p>
                  </a:txBody>
                  <a:tcPr marT="91440" marB="91440" anchor="ctr">
                    <a:lnL w="12700" cap="flat" cmpd="sng" algn="ctr">
                      <a:solidFill>
                        <a:srgbClr val="E8E8E8"/>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rgbClr val="E8E8E8"/>
                      </a:solidFill>
                      <a:prstDash val="solid"/>
                      <a:round/>
                      <a:headEnd type="none" w="med" len="med"/>
                      <a:tailEnd type="none" w="med" len="med"/>
                    </a:lnT>
                    <a:lnB w="12700" cap="flat" cmpd="sng" algn="ctr">
                      <a:solidFill>
                        <a:srgbClr val="E8E8E8"/>
                      </a:solidFill>
                      <a:prstDash val="solid"/>
                      <a:round/>
                      <a:headEnd type="none" w="med" len="med"/>
                      <a:tailEnd type="none" w="med" len="med"/>
                    </a:lnB>
                  </a:tcPr>
                </a:tc>
                <a:extLst>
                  <a:ext uri="{0D108BD9-81ED-4DB2-BD59-A6C34878D82A}">
                    <a16:rowId xmlns:a16="http://schemas.microsoft.com/office/drawing/2014/main" val="10004"/>
                  </a:ext>
                </a:extLst>
              </a:tr>
              <a:tr h="823747">
                <a:tc>
                  <a:txBody>
                    <a:bodyPr/>
                    <a:lstStyle/>
                    <a:p>
                      <a:pPr algn="l">
                        <a:lnSpc>
                          <a:spcPts val="2340"/>
                        </a:lnSpc>
                        <a:defRPr/>
                      </a:pPr>
                      <a:r>
                        <a:rPr lang="en-US" sz="1950">
                          <a:solidFill>
                            <a:srgbClr val="141B47"/>
                          </a:solidFill>
                          <a:latin typeface="Calibri (MS)"/>
                          <a:ea typeface="Calibri (MS)"/>
                          <a:cs typeface="Calibri (MS)"/>
                          <a:sym typeface="Calibri (MS)"/>
                        </a:rPr>
                        <a:t>Daily engagement totals with a 7-day moving average</a:t>
                      </a:r>
                      <a:endParaRPr lang="en-US" sz="1100"/>
                    </a:p>
                  </a:txBody>
                  <a:tcPr marT="91440" marB="91440" anchor="ctr">
                    <a:lnL w="12700" cap="flat" cmpd="sng" algn="ctr">
                      <a:solidFill>
                        <a:srgbClr val="E8E8E8"/>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rgbClr val="E8E8E8"/>
                      </a:solidFill>
                      <a:prstDash val="solid"/>
                      <a:round/>
                      <a:headEnd type="none" w="med" len="med"/>
                      <a:tailEnd type="none" w="med" len="med"/>
                    </a:lnT>
                    <a:lnB w="12700" cap="flat" cmpd="sng" algn="ctr">
                      <a:solidFill>
                        <a:srgbClr val="E8E8E8"/>
                      </a:solidFill>
                      <a:prstDash val="solid"/>
                      <a:round/>
                      <a:headEnd type="none" w="med" len="med"/>
                      <a:tailEnd type="none" w="med" len="med"/>
                    </a:lnB>
                  </a:tcPr>
                </a:tc>
                <a:tc>
                  <a:txBody>
                    <a:bodyPr/>
                    <a:lstStyle/>
                    <a:p>
                      <a:pPr algn="l">
                        <a:lnSpc>
                          <a:spcPts val="2340"/>
                        </a:lnSpc>
                        <a:defRPr/>
                      </a:pPr>
                      <a:r>
                        <a:rPr lang="en-US" sz="1950">
                          <a:solidFill>
                            <a:srgbClr val="555555"/>
                          </a:solidFill>
                          <a:latin typeface="Calibri (MS)"/>
                          <a:ea typeface="Calibri (MS)"/>
                          <a:cs typeface="Calibri (MS)"/>
                          <a:sym typeface="Calibri (MS)"/>
                        </a:rPr>
                        <a:t>Window frame ROWS BETWEEN, LAG, running total</a:t>
                      </a:r>
                      <a:endParaRPr lang="en-US" sz="1100"/>
                    </a:p>
                  </a:txBody>
                  <a:tcPr marT="91440" marB="91440" anchor="ctr">
                    <a:lnL w="12700" cap="flat" cmpd="sng" algn="ctr">
                      <a:solidFill>
                        <a:srgbClr val="E8E8E8"/>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rgbClr val="E8E8E8"/>
                      </a:solidFill>
                      <a:prstDash val="solid"/>
                      <a:round/>
                      <a:headEnd type="none" w="med" len="med"/>
                      <a:tailEnd type="none" w="med" len="med"/>
                    </a:lnT>
                    <a:lnB w="12700" cap="flat" cmpd="sng" algn="ctr">
                      <a:solidFill>
                        <a:srgbClr val="E8E8E8"/>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pSp>
        <p:nvGrpSpPr>
          <p:cNvPr id="12" name="Group 12"/>
          <p:cNvGrpSpPr/>
          <p:nvPr/>
        </p:nvGrpSpPr>
        <p:grpSpPr>
          <a:xfrm>
            <a:off x="17323308" y="9669780"/>
            <a:ext cx="548640" cy="411480"/>
            <a:chOff x="0" y="0"/>
            <a:chExt cx="731520" cy="548640"/>
          </a:xfrm>
        </p:grpSpPr>
        <p:sp>
          <p:nvSpPr>
            <p:cNvPr id="13" name="Freeform 13"/>
            <p:cNvSpPr/>
            <p:nvPr/>
          </p:nvSpPr>
          <p:spPr>
            <a:xfrm>
              <a:off x="0" y="0"/>
              <a:ext cx="731520" cy="548640"/>
            </a:xfrm>
            <a:custGeom>
              <a:avLst/>
              <a:gdLst/>
              <a:ahLst/>
              <a:cxnLst/>
              <a:rect l="l" t="t" r="r" b="b"/>
              <a:pathLst>
                <a:path w="731520" h="548640">
                  <a:moveTo>
                    <a:pt x="0" y="0"/>
                  </a:moveTo>
                  <a:lnTo>
                    <a:pt x="731520" y="0"/>
                  </a:lnTo>
                  <a:lnTo>
                    <a:pt x="731520" y="548640"/>
                  </a:lnTo>
                  <a:lnTo>
                    <a:pt x="0" y="548640"/>
                  </a:lnTo>
                  <a:close/>
                </a:path>
              </a:pathLst>
            </a:custGeom>
            <a:blipFill>
              <a:blip r:embed="rId3">
                <a:alphaModFix amt="0"/>
              </a:blip>
              <a:stretch>
                <a:fillRect l="-46227" r="-46227"/>
              </a:stretch>
            </a:blipFill>
          </p:spPr>
        </p:sp>
        <p:sp>
          <p:nvSpPr>
            <p:cNvPr id="14" name="TextBox 14"/>
            <p:cNvSpPr txBox="1"/>
            <p:nvPr/>
          </p:nvSpPr>
          <p:spPr>
            <a:xfrm>
              <a:off x="0" y="-38100"/>
              <a:ext cx="731520" cy="586740"/>
            </a:xfrm>
            <a:prstGeom prst="rect">
              <a:avLst/>
            </a:prstGeom>
          </p:spPr>
          <p:txBody>
            <a:bodyPr lIns="0" tIns="0" rIns="0" bIns="0" rtlCol="0" anchor="ctr"/>
            <a:lstStyle/>
            <a:p>
              <a:pPr algn="r">
                <a:lnSpc>
                  <a:spcPts val="1800"/>
                </a:lnSpc>
              </a:pPr>
              <a:r>
                <a:rPr lang="en-US" sz="1500">
                  <a:solidFill>
                    <a:srgbClr val="999999"/>
                  </a:solidFill>
                  <a:latin typeface="Calibri (MS)"/>
                  <a:ea typeface="Calibri (MS)"/>
                  <a:cs typeface="Calibri (MS)"/>
                  <a:sym typeface="Calibri (MS)"/>
                </a:rPr>
                <a:t>5</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22960" y="548640"/>
            <a:ext cx="10972800" cy="411480"/>
            <a:chOff x="0" y="0"/>
            <a:chExt cx="14630400" cy="548640"/>
          </a:xfrm>
        </p:grpSpPr>
        <p:sp>
          <p:nvSpPr>
            <p:cNvPr id="3" name="Freeform 3"/>
            <p:cNvSpPr/>
            <p:nvPr/>
          </p:nvSpPr>
          <p:spPr>
            <a:xfrm>
              <a:off x="0" y="0"/>
              <a:ext cx="14630400" cy="548640"/>
            </a:xfrm>
            <a:custGeom>
              <a:avLst/>
              <a:gdLst/>
              <a:ahLst/>
              <a:cxnLst/>
              <a:rect l="l" t="t" r="r" b="b"/>
              <a:pathLst>
                <a:path w="14630400" h="548640">
                  <a:moveTo>
                    <a:pt x="0" y="0"/>
                  </a:moveTo>
                  <a:lnTo>
                    <a:pt x="14630400" y="0"/>
                  </a:lnTo>
                  <a:lnTo>
                    <a:pt x="14630400" y="548640"/>
                  </a:lnTo>
                  <a:lnTo>
                    <a:pt x="0" y="548640"/>
                  </a:lnTo>
                  <a:close/>
                </a:path>
              </a:pathLst>
            </a:custGeom>
            <a:blipFill>
              <a:blip r:embed="rId3">
                <a:alphaModFix amt="0"/>
              </a:blip>
              <a:stretch>
                <a:fillRect t="-469601" b="-469601"/>
              </a:stretch>
            </a:blipFill>
          </p:spPr>
        </p:sp>
        <p:sp>
          <p:nvSpPr>
            <p:cNvPr id="4" name="TextBox 4"/>
            <p:cNvSpPr txBox="1"/>
            <p:nvPr/>
          </p:nvSpPr>
          <p:spPr>
            <a:xfrm>
              <a:off x="0" y="-38100"/>
              <a:ext cx="14630400" cy="586740"/>
            </a:xfrm>
            <a:prstGeom prst="rect">
              <a:avLst/>
            </a:prstGeom>
          </p:spPr>
          <p:txBody>
            <a:bodyPr lIns="0" tIns="0" rIns="0" bIns="0" rtlCol="0" anchor="ctr"/>
            <a:lstStyle/>
            <a:p>
              <a:pPr algn="l">
                <a:lnSpc>
                  <a:spcPts val="2160"/>
                </a:lnSpc>
              </a:pPr>
              <a:r>
                <a:rPr lang="en-US" sz="1800" b="1" spc="300">
                  <a:solidFill>
                    <a:srgbClr val="1E2761"/>
                  </a:solidFill>
                  <a:latin typeface="Calibri (MS) Bold"/>
                  <a:ea typeface="Calibri (MS) Bold"/>
                  <a:cs typeface="Calibri (MS) Bold"/>
                  <a:sym typeface="Calibri (MS) Bold"/>
                </a:rPr>
                <a:t>REUSABLE LOGIC</a:t>
              </a:r>
            </a:p>
          </p:txBody>
        </p:sp>
      </p:grpSp>
      <p:grpSp>
        <p:nvGrpSpPr>
          <p:cNvPr id="5" name="Group 5"/>
          <p:cNvGrpSpPr/>
          <p:nvPr/>
        </p:nvGrpSpPr>
        <p:grpSpPr>
          <a:xfrm>
            <a:off x="822960" y="932688"/>
            <a:ext cx="16637508" cy="960120"/>
            <a:chOff x="0" y="0"/>
            <a:chExt cx="22183344" cy="1280160"/>
          </a:xfrm>
        </p:grpSpPr>
        <p:sp>
          <p:nvSpPr>
            <p:cNvPr id="6" name="Freeform 6"/>
            <p:cNvSpPr/>
            <p:nvPr/>
          </p:nvSpPr>
          <p:spPr>
            <a:xfrm>
              <a:off x="0" y="0"/>
              <a:ext cx="22183344" cy="1280160"/>
            </a:xfrm>
            <a:custGeom>
              <a:avLst/>
              <a:gdLst/>
              <a:ahLst/>
              <a:cxnLst/>
              <a:rect l="l" t="t" r="r" b="b"/>
              <a:pathLst>
                <a:path w="22183344" h="1280160">
                  <a:moveTo>
                    <a:pt x="0" y="0"/>
                  </a:moveTo>
                  <a:lnTo>
                    <a:pt x="22183344" y="0"/>
                  </a:lnTo>
                  <a:lnTo>
                    <a:pt x="22183344" y="1280160"/>
                  </a:lnTo>
                  <a:lnTo>
                    <a:pt x="0" y="1280160"/>
                  </a:lnTo>
                  <a:close/>
                </a:path>
              </a:pathLst>
            </a:custGeom>
            <a:blipFill>
              <a:blip r:embed="rId3">
                <a:alphaModFix amt="0"/>
              </a:blip>
              <a:stretch>
                <a:fillRect t="-287647" b="-287647"/>
              </a:stretch>
            </a:blipFill>
          </p:spPr>
        </p:sp>
        <p:sp>
          <p:nvSpPr>
            <p:cNvPr id="7" name="TextBox 7"/>
            <p:cNvSpPr txBox="1"/>
            <p:nvPr/>
          </p:nvSpPr>
          <p:spPr>
            <a:xfrm>
              <a:off x="0" y="-9525"/>
              <a:ext cx="22183344" cy="1289685"/>
            </a:xfrm>
            <a:prstGeom prst="rect">
              <a:avLst/>
            </a:prstGeom>
          </p:spPr>
          <p:txBody>
            <a:bodyPr lIns="0" tIns="0" rIns="0" bIns="0" rtlCol="0" anchor="ctr"/>
            <a:lstStyle/>
            <a:p>
              <a:pPr algn="l">
                <a:lnSpc>
                  <a:spcPts val="5759"/>
                </a:lnSpc>
              </a:pPr>
              <a:r>
                <a:rPr lang="en-US" sz="4800" b="1">
                  <a:solidFill>
                    <a:srgbClr val="141B47"/>
                  </a:solidFill>
                  <a:latin typeface="Cambria Bold"/>
                  <a:ea typeface="Cambria Bold"/>
                  <a:cs typeface="Cambria Bold"/>
                  <a:sym typeface="Cambria Bold"/>
                </a:rPr>
                <a:t>Stored Functions</a:t>
              </a:r>
            </a:p>
          </p:txBody>
        </p:sp>
      </p:grpSp>
      <p:grpSp>
        <p:nvGrpSpPr>
          <p:cNvPr id="8" name="Group 8"/>
          <p:cNvGrpSpPr/>
          <p:nvPr/>
        </p:nvGrpSpPr>
        <p:grpSpPr>
          <a:xfrm>
            <a:off x="822960" y="2057400"/>
            <a:ext cx="16637508" cy="548640"/>
            <a:chOff x="0" y="0"/>
            <a:chExt cx="22183344" cy="731520"/>
          </a:xfrm>
        </p:grpSpPr>
        <p:sp>
          <p:nvSpPr>
            <p:cNvPr id="9" name="Freeform 9"/>
            <p:cNvSpPr/>
            <p:nvPr/>
          </p:nvSpPr>
          <p:spPr>
            <a:xfrm>
              <a:off x="0" y="0"/>
              <a:ext cx="22183344" cy="731520"/>
            </a:xfrm>
            <a:custGeom>
              <a:avLst/>
              <a:gdLst/>
              <a:ahLst/>
              <a:cxnLst/>
              <a:rect l="l" t="t" r="r" b="b"/>
              <a:pathLst>
                <a:path w="22183344" h="731520">
                  <a:moveTo>
                    <a:pt x="0" y="0"/>
                  </a:moveTo>
                  <a:lnTo>
                    <a:pt x="22183344" y="0"/>
                  </a:lnTo>
                  <a:lnTo>
                    <a:pt x="22183344" y="731520"/>
                  </a:lnTo>
                  <a:lnTo>
                    <a:pt x="0" y="731520"/>
                  </a:lnTo>
                  <a:close/>
                </a:path>
              </a:pathLst>
            </a:custGeom>
            <a:blipFill>
              <a:blip r:embed="rId3">
                <a:alphaModFix amt="0"/>
              </a:blip>
              <a:stretch>
                <a:fillRect t="-540883" b="-540883"/>
              </a:stretch>
            </a:blipFill>
          </p:spPr>
        </p:sp>
        <p:sp>
          <p:nvSpPr>
            <p:cNvPr id="10" name="TextBox 10"/>
            <p:cNvSpPr txBox="1"/>
            <p:nvPr/>
          </p:nvSpPr>
          <p:spPr>
            <a:xfrm>
              <a:off x="0" y="-47625"/>
              <a:ext cx="22183344" cy="779145"/>
            </a:xfrm>
            <a:prstGeom prst="rect">
              <a:avLst/>
            </a:prstGeom>
          </p:spPr>
          <p:txBody>
            <a:bodyPr lIns="0" tIns="0" rIns="0" bIns="0" rtlCol="0" anchor="ctr"/>
            <a:lstStyle/>
            <a:p>
              <a:pPr algn="l">
                <a:lnSpc>
                  <a:spcPts val="2520"/>
                </a:lnSpc>
              </a:pPr>
              <a:r>
                <a:rPr lang="en-US" sz="2100" i="1">
                  <a:solidFill>
                    <a:srgbClr val="555555"/>
                  </a:solidFill>
                  <a:latin typeface="Calibri (MS) Italics"/>
                  <a:ea typeface="Calibri (MS) Italics"/>
                  <a:cs typeface="Calibri (MS) Italics"/>
                  <a:sym typeface="Calibri (MS) Italics"/>
                </a:rPr>
                <a:t>Functions centralise reusable scoring logic inside the database.</a:t>
              </a:r>
            </a:p>
          </p:txBody>
        </p:sp>
      </p:grpSp>
      <p:grpSp>
        <p:nvGrpSpPr>
          <p:cNvPr id="11" name="Group 11"/>
          <p:cNvGrpSpPr/>
          <p:nvPr/>
        </p:nvGrpSpPr>
        <p:grpSpPr>
          <a:xfrm>
            <a:off x="813435" y="2939415"/>
            <a:ext cx="5299710" cy="5642610"/>
            <a:chOff x="0" y="0"/>
            <a:chExt cx="7066280" cy="7523480"/>
          </a:xfrm>
        </p:grpSpPr>
        <p:sp>
          <p:nvSpPr>
            <p:cNvPr id="12" name="Freeform 12"/>
            <p:cNvSpPr/>
            <p:nvPr/>
          </p:nvSpPr>
          <p:spPr>
            <a:xfrm>
              <a:off x="0" y="0"/>
              <a:ext cx="7066280" cy="7523480"/>
            </a:xfrm>
            <a:custGeom>
              <a:avLst/>
              <a:gdLst/>
              <a:ahLst/>
              <a:cxnLst/>
              <a:rect l="l" t="t" r="r" b="b"/>
              <a:pathLst>
                <a:path w="7066280" h="7523480">
                  <a:moveTo>
                    <a:pt x="0" y="146812"/>
                  </a:moveTo>
                  <a:cubicBezTo>
                    <a:pt x="0" y="65786"/>
                    <a:pt x="65786" y="0"/>
                    <a:pt x="146812" y="0"/>
                  </a:cubicBezTo>
                  <a:lnTo>
                    <a:pt x="6919468" y="0"/>
                  </a:lnTo>
                  <a:cubicBezTo>
                    <a:pt x="7000622" y="0"/>
                    <a:pt x="7066280" y="65786"/>
                    <a:pt x="7066280" y="146812"/>
                  </a:cubicBezTo>
                  <a:lnTo>
                    <a:pt x="7066280" y="7376668"/>
                  </a:lnTo>
                  <a:cubicBezTo>
                    <a:pt x="7066280" y="7457822"/>
                    <a:pt x="7000494" y="7523480"/>
                    <a:pt x="6919468" y="7523480"/>
                  </a:cubicBezTo>
                  <a:lnTo>
                    <a:pt x="146812" y="7523480"/>
                  </a:lnTo>
                  <a:cubicBezTo>
                    <a:pt x="65786" y="7523480"/>
                    <a:pt x="0" y="7457694"/>
                    <a:pt x="0" y="7376668"/>
                  </a:cubicBezTo>
                  <a:close/>
                </a:path>
              </a:pathLst>
            </a:custGeom>
            <a:solidFill>
              <a:srgbClr val="F7F8FC"/>
            </a:solidFill>
            <a:ln w="19050" cap="sq">
              <a:solidFill>
                <a:srgbClr val="CADCFC"/>
              </a:solidFill>
              <a:prstDash val="solid"/>
              <a:miter/>
            </a:ln>
          </p:spPr>
        </p:sp>
      </p:grpSp>
      <p:grpSp>
        <p:nvGrpSpPr>
          <p:cNvPr id="13" name="Group 13"/>
          <p:cNvGrpSpPr/>
          <p:nvPr/>
        </p:nvGrpSpPr>
        <p:grpSpPr>
          <a:xfrm>
            <a:off x="1165860" y="3291840"/>
            <a:ext cx="4594860" cy="1303020"/>
            <a:chOff x="0" y="0"/>
            <a:chExt cx="6126480" cy="1737360"/>
          </a:xfrm>
        </p:grpSpPr>
        <p:sp>
          <p:nvSpPr>
            <p:cNvPr id="14" name="Freeform 14"/>
            <p:cNvSpPr/>
            <p:nvPr/>
          </p:nvSpPr>
          <p:spPr>
            <a:xfrm>
              <a:off x="0" y="0"/>
              <a:ext cx="6126480" cy="1737360"/>
            </a:xfrm>
            <a:custGeom>
              <a:avLst/>
              <a:gdLst/>
              <a:ahLst/>
              <a:cxnLst/>
              <a:rect l="l" t="t" r="r" b="b"/>
              <a:pathLst>
                <a:path w="6126480" h="1737360">
                  <a:moveTo>
                    <a:pt x="0" y="0"/>
                  </a:moveTo>
                  <a:lnTo>
                    <a:pt x="6126480" y="0"/>
                  </a:lnTo>
                  <a:lnTo>
                    <a:pt x="6126480" y="1737360"/>
                  </a:lnTo>
                  <a:lnTo>
                    <a:pt x="0" y="1737360"/>
                  </a:lnTo>
                  <a:close/>
                </a:path>
              </a:pathLst>
            </a:custGeom>
            <a:blipFill>
              <a:blip r:embed="rId3">
                <a:alphaModFix amt="0"/>
              </a:blip>
              <a:stretch>
                <a:fillRect t="-18710" b="-18710"/>
              </a:stretch>
            </a:blipFill>
          </p:spPr>
        </p:sp>
        <p:sp>
          <p:nvSpPr>
            <p:cNvPr id="15" name="TextBox 15"/>
            <p:cNvSpPr txBox="1"/>
            <p:nvPr/>
          </p:nvSpPr>
          <p:spPr>
            <a:xfrm>
              <a:off x="0" y="-57150"/>
              <a:ext cx="6126480" cy="1794510"/>
            </a:xfrm>
            <a:prstGeom prst="rect">
              <a:avLst/>
            </a:prstGeom>
          </p:spPr>
          <p:txBody>
            <a:bodyPr lIns="0" tIns="0" rIns="0" bIns="0" rtlCol="0" anchor="ctr"/>
            <a:lstStyle/>
            <a:p>
              <a:pPr algn="l">
                <a:lnSpc>
                  <a:spcPts val="2879"/>
                </a:lnSpc>
              </a:pPr>
              <a:r>
                <a:rPr lang="en-US" sz="2399" b="1">
                  <a:solidFill>
                    <a:srgbClr val="1E2761"/>
                  </a:solidFill>
                  <a:latin typeface="Calibri (MS) Bold"/>
                  <a:ea typeface="Calibri (MS) Bold"/>
                  <a:cs typeface="Calibri (MS) Bold"/>
                  <a:sym typeface="Calibri (MS) Bold"/>
                </a:rPr>
                <a:t>CalculatePostEngagement(post_id)</a:t>
              </a:r>
            </a:p>
          </p:txBody>
        </p:sp>
      </p:grpSp>
      <p:grpSp>
        <p:nvGrpSpPr>
          <p:cNvPr id="16" name="Group 16"/>
          <p:cNvGrpSpPr/>
          <p:nvPr/>
        </p:nvGrpSpPr>
        <p:grpSpPr>
          <a:xfrm>
            <a:off x="1165860" y="4526280"/>
            <a:ext cx="4594860" cy="424476"/>
            <a:chOff x="0" y="0"/>
            <a:chExt cx="6126480" cy="565969"/>
          </a:xfrm>
        </p:grpSpPr>
        <p:sp>
          <p:nvSpPr>
            <p:cNvPr id="17" name="Freeform 17"/>
            <p:cNvSpPr/>
            <p:nvPr/>
          </p:nvSpPr>
          <p:spPr>
            <a:xfrm>
              <a:off x="0" y="0"/>
              <a:ext cx="6126480" cy="565969"/>
            </a:xfrm>
            <a:custGeom>
              <a:avLst/>
              <a:gdLst/>
              <a:ahLst/>
              <a:cxnLst/>
              <a:rect l="l" t="t" r="r" b="b"/>
              <a:pathLst>
                <a:path w="6126480" h="565969">
                  <a:moveTo>
                    <a:pt x="0" y="0"/>
                  </a:moveTo>
                  <a:lnTo>
                    <a:pt x="6126480" y="0"/>
                  </a:lnTo>
                  <a:lnTo>
                    <a:pt x="6126480" y="565969"/>
                  </a:lnTo>
                  <a:lnTo>
                    <a:pt x="0" y="565969"/>
                  </a:lnTo>
                  <a:close/>
                </a:path>
              </a:pathLst>
            </a:custGeom>
            <a:blipFill>
              <a:blip r:embed="rId3">
                <a:alphaModFix amt="0"/>
              </a:blip>
              <a:stretch>
                <a:fillRect t="-162451" b="-159390"/>
              </a:stretch>
            </a:blipFill>
          </p:spPr>
        </p:sp>
        <p:sp>
          <p:nvSpPr>
            <p:cNvPr id="18" name="TextBox 18"/>
            <p:cNvSpPr txBox="1"/>
            <p:nvPr/>
          </p:nvSpPr>
          <p:spPr>
            <a:xfrm>
              <a:off x="0" y="0"/>
              <a:ext cx="6126480" cy="565969"/>
            </a:xfrm>
            <a:prstGeom prst="rect">
              <a:avLst/>
            </a:prstGeom>
          </p:spPr>
          <p:txBody>
            <a:bodyPr lIns="0" tIns="0" rIns="0" bIns="0" rtlCol="0" anchor="ctr"/>
            <a:lstStyle/>
            <a:p>
              <a:pPr algn="l">
                <a:lnSpc>
                  <a:spcPts val="1889"/>
                </a:lnSpc>
              </a:pPr>
              <a:r>
                <a:rPr lang="en-US" sz="1575" b="1">
                  <a:solidFill>
                    <a:srgbClr val="8A8FB0"/>
                  </a:solidFill>
                  <a:latin typeface="Courier New Bold"/>
                  <a:ea typeface="Courier New Bold"/>
                  <a:cs typeface="Courier New Bold"/>
                  <a:sym typeface="Courier New Bold"/>
                </a:rPr>
                <a:t>RETURNS DECIMAL(10,1)</a:t>
              </a:r>
            </a:p>
          </p:txBody>
        </p:sp>
      </p:grpSp>
      <p:sp>
        <p:nvSpPr>
          <p:cNvPr id="19" name="AutoShape 19"/>
          <p:cNvSpPr/>
          <p:nvPr/>
        </p:nvSpPr>
        <p:spPr>
          <a:xfrm rot="14220">
            <a:off x="1156316" y="5138738"/>
            <a:ext cx="4613948" cy="0"/>
          </a:xfrm>
          <a:prstGeom prst="line">
            <a:avLst/>
          </a:prstGeom>
          <a:ln w="9525" cap="rnd">
            <a:solidFill>
              <a:srgbClr val="CADCFC"/>
            </a:solidFill>
            <a:prstDash val="solid"/>
            <a:headEnd type="none" w="sm" len="sm"/>
            <a:tailEnd type="none" w="sm" len="sm"/>
          </a:ln>
        </p:spPr>
      </p:sp>
      <p:grpSp>
        <p:nvGrpSpPr>
          <p:cNvPr id="20" name="Group 20"/>
          <p:cNvGrpSpPr/>
          <p:nvPr/>
        </p:nvGrpSpPr>
        <p:grpSpPr>
          <a:xfrm>
            <a:off x="1165860" y="5417820"/>
            <a:ext cx="4594860" cy="2880360"/>
            <a:chOff x="0" y="0"/>
            <a:chExt cx="6126480" cy="3840480"/>
          </a:xfrm>
        </p:grpSpPr>
        <p:sp>
          <p:nvSpPr>
            <p:cNvPr id="21" name="Freeform 21"/>
            <p:cNvSpPr/>
            <p:nvPr/>
          </p:nvSpPr>
          <p:spPr>
            <a:xfrm>
              <a:off x="0" y="0"/>
              <a:ext cx="6126480" cy="3840480"/>
            </a:xfrm>
            <a:custGeom>
              <a:avLst/>
              <a:gdLst/>
              <a:ahLst/>
              <a:cxnLst/>
              <a:rect l="l" t="t" r="r" b="b"/>
              <a:pathLst>
                <a:path w="6126480" h="3840480">
                  <a:moveTo>
                    <a:pt x="0" y="0"/>
                  </a:moveTo>
                  <a:lnTo>
                    <a:pt x="6126480" y="0"/>
                  </a:lnTo>
                  <a:lnTo>
                    <a:pt x="6126480" y="3840480"/>
                  </a:lnTo>
                  <a:lnTo>
                    <a:pt x="0" y="3840480"/>
                  </a:lnTo>
                  <a:close/>
                </a:path>
              </a:pathLst>
            </a:custGeom>
            <a:blipFill>
              <a:blip r:embed="rId3">
                <a:alphaModFix amt="0"/>
              </a:blip>
              <a:stretch>
                <a:fillRect l="-30429" r="-30429"/>
              </a:stretch>
            </a:blipFill>
          </p:spPr>
        </p:sp>
        <p:sp>
          <p:nvSpPr>
            <p:cNvPr id="22" name="TextBox 22"/>
            <p:cNvSpPr txBox="1"/>
            <p:nvPr/>
          </p:nvSpPr>
          <p:spPr>
            <a:xfrm>
              <a:off x="0" y="-114300"/>
              <a:ext cx="6126480" cy="3954780"/>
            </a:xfrm>
            <a:prstGeom prst="rect">
              <a:avLst/>
            </a:prstGeom>
          </p:spPr>
          <p:txBody>
            <a:bodyPr lIns="0" tIns="0" rIns="0" bIns="0" rtlCol="0" anchor="ctr"/>
            <a:lstStyle/>
            <a:p>
              <a:pPr algn="l">
                <a:lnSpc>
                  <a:spcPts val="3419"/>
                </a:lnSpc>
              </a:pPr>
              <a:r>
                <a:rPr lang="en-US" sz="2374" b="1">
                  <a:solidFill>
                    <a:srgbClr val="555555"/>
                  </a:solidFill>
                  <a:latin typeface="Calibri (MS) Bold"/>
                  <a:ea typeface="Calibri (MS) Bold"/>
                  <a:cs typeface="Calibri (MS) Bold"/>
                  <a:sym typeface="Calibri (MS) Bold"/>
                </a:rPr>
                <a:t>Weighted score for one post: view 0.2, like 1, save 2, comment 2, share 3.</a:t>
              </a:r>
            </a:p>
          </p:txBody>
        </p:sp>
      </p:grpSp>
      <p:grpSp>
        <p:nvGrpSpPr>
          <p:cNvPr id="23" name="Group 23"/>
          <p:cNvGrpSpPr/>
          <p:nvPr/>
        </p:nvGrpSpPr>
        <p:grpSpPr>
          <a:xfrm>
            <a:off x="6574155" y="2939415"/>
            <a:ext cx="5299710" cy="5642610"/>
            <a:chOff x="0" y="0"/>
            <a:chExt cx="7066280" cy="7523480"/>
          </a:xfrm>
        </p:grpSpPr>
        <p:sp>
          <p:nvSpPr>
            <p:cNvPr id="24" name="Freeform 24"/>
            <p:cNvSpPr/>
            <p:nvPr/>
          </p:nvSpPr>
          <p:spPr>
            <a:xfrm>
              <a:off x="0" y="0"/>
              <a:ext cx="7066280" cy="7523480"/>
            </a:xfrm>
            <a:custGeom>
              <a:avLst/>
              <a:gdLst/>
              <a:ahLst/>
              <a:cxnLst/>
              <a:rect l="l" t="t" r="r" b="b"/>
              <a:pathLst>
                <a:path w="7066280" h="7523480">
                  <a:moveTo>
                    <a:pt x="0" y="146812"/>
                  </a:moveTo>
                  <a:cubicBezTo>
                    <a:pt x="0" y="65786"/>
                    <a:pt x="65786" y="0"/>
                    <a:pt x="146812" y="0"/>
                  </a:cubicBezTo>
                  <a:lnTo>
                    <a:pt x="6919468" y="0"/>
                  </a:lnTo>
                  <a:cubicBezTo>
                    <a:pt x="7000622" y="0"/>
                    <a:pt x="7066280" y="65786"/>
                    <a:pt x="7066280" y="146812"/>
                  </a:cubicBezTo>
                  <a:lnTo>
                    <a:pt x="7066280" y="7376668"/>
                  </a:lnTo>
                  <a:cubicBezTo>
                    <a:pt x="7066280" y="7457822"/>
                    <a:pt x="7000494" y="7523480"/>
                    <a:pt x="6919468" y="7523480"/>
                  </a:cubicBezTo>
                  <a:lnTo>
                    <a:pt x="146812" y="7523480"/>
                  </a:lnTo>
                  <a:cubicBezTo>
                    <a:pt x="65786" y="7523480"/>
                    <a:pt x="0" y="7457694"/>
                    <a:pt x="0" y="7376668"/>
                  </a:cubicBezTo>
                  <a:close/>
                </a:path>
              </a:pathLst>
            </a:custGeom>
            <a:solidFill>
              <a:srgbClr val="F7F8FC"/>
            </a:solidFill>
            <a:ln w="19050" cap="sq">
              <a:solidFill>
                <a:srgbClr val="CADCFC"/>
              </a:solidFill>
              <a:prstDash val="solid"/>
              <a:miter/>
            </a:ln>
          </p:spPr>
        </p:sp>
      </p:grpSp>
      <p:grpSp>
        <p:nvGrpSpPr>
          <p:cNvPr id="25" name="Group 25"/>
          <p:cNvGrpSpPr/>
          <p:nvPr/>
        </p:nvGrpSpPr>
        <p:grpSpPr>
          <a:xfrm>
            <a:off x="6926580" y="3291840"/>
            <a:ext cx="4594860" cy="1303020"/>
            <a:chOff x="0" y="0"/>
            <a:chExt cx="6126480" cy="1737360"/>
          </a:xfrm>
        </p:grpSpPr>
        <p:sp>
          <p:nvSpPr>
            <p:cNvPr id="26" name="Freeform 26"/>
            <p:cNvSpPr/>
            <p:nvPr/>
          </p:nvSpPr>
          <p:spPr>
            <a:xfrm>
              <a:off x="0" y="0"/>
              <a:ext cx="6126480" cy="1737360"/>
            </a:xfrm>
            <a:custGeom>
              <a:avLst/>
              <a:gdLst/>
              <a:ahLst/>
              <a:cxnLst/>
              <a:rect l="l" t="t" r="r" b="b"/>
              <a:pathLst>
                <a:path w="6126480" h="1737360">
                  <a:moveTo>
                    <a:pt x="0" y="0"/>
                  </a:moveTo>
                  <a:lnTo>
                    <a:pt x="6126480" y="0"/>
                  </a:lnTo>
                  <a:lnTo>
                    <a:pt x="6126480" y="1737360"/>
                  </a:lnTo>
                  <a:lnTo>
                    <a:pt x="0" y="1737360"/>
                  </a:lnTo>
                  <a:close/>
                </a:path>
              </a:pathLst>
            </a:custGeom>
            <a:blipFill>
              <a:blip r:embed="rId3">
                <a:alphaModFix amt="0"/>
              </a:blip>
              <a:stretch>
                <a:fillRect t="-18710" b="-18710"/>
              </a:stretch>
            </a:blipFill>
          </p:spPr>
        </p:sp>
        <p:sp>
          <p:nvSpPr>
            <p:cNvPr id="27" name="TextBox 27"/>
            <p:cNvSpPr txBox="1"/>
            <p:nvPr/>
          </p:nvSpPr>
          <p:spPr>
            <a:xfrm>
              <a:off x="0" y="-57150"/>
              <a:ext cx="6126480" cy="1794510"/>
            </a:xfrm>
            <a:prstGeom prst="rect">
              <a:avLst/>
            </a:prstGeom>
          </p:spPr>
          <p:txBody>
            <a:bodyPr lIns="0" tIns="0" rIns="0" bIns="0" rtlCol="0" anchor="ctr"/>
            <a:lstStyle/>
            <a:p>
              <a:pPr algn="l">
                <a:lnSpc>
                  <a:spcPts val="2879"/>
                </a:lnSpc>
              </a:pPr>
              <a:r>
                <a:rPr lang="en-US" sz="2399" b="1">
                  <a:solidFill>
                    <a:srgbClr val="1E2761"/>
                  </a:solidFill>
                  <a:latin typeface="Calibri (MS) Bold"/>
                  <a:ea typeface="Calibri (MS) Bold"/>
                  <a:cs typeface="Calibri (MS) Bold"/>
                  <a:sym typeface="Calibri (MS) Bold"/>
                </a:rPr>
                <a:t>CalculateUserEngagement(user_id)</a:t>
              </a:r>
            </a:p>
          </p:txBody>
        </p:sp>
      </p:grpSp>
      <p:grpSp>
        <p:nvGrpSpPr>
          <p:cNvPr id="28" name="Group 28"/>
          <p:cNvGrpSpPr/>
          <p:nvPr/>
        </p:nvGrpSpPr>
        <p:grpSpPr>
          <a:xfrm>
            <a:off x="6926580" y="4526280"/>
            <a:ext cx="4594860" cy="424476"/>
            <a:chOff x="0" y="0"/>
            <a:chExt cx="6126480" cy="565969"/>
          </a:xfrm>
        </p:grpSpPr>
        <p:sp>
          <p:nvSpPr>
            <p:cNvPr id="29" name="Freeform 29"/>
            <p:cNvSpPr/>
            <p:nvPr/>
          </p:nvSpPr>
          <p:spPr>
            <a:xfrm>
              <a:off x="0" y="0"/>
              <a:ext cx="6126480" cy="565969"/>
            </a:xfrm>
            <a:custGeom>
              <a:avLst/>
              <a:gdLst/>
              <a:ahLst/>
              <a:cxnLst/>
              <a:rect l="l" t="t" r="r" b="b"/>
              <a:pathLst>
                <a:path w="6126480" h="565969">
                  <a:moveTo>
                    <a:pt x="0" y="0"/>
                  </a:moveTo>
                  <a:lnTo>
                    <a:pt x="6126480" y="0"/>
                  </a:lnTo>
                  <a:lnTo>
                    <a:pt x="6126480" y="565969"/>
                  </a:lnTo>
                  <a:lnTo>
                    <a:pt x="0" y="565969"/>
                  </a:lnTo>
                  <a:close/>
                </a:path>
              </a:pathLst>
            </a:custGeom>
            <a:blipFill>
              <a:blip r:embed="rId3">
                <a:alphaModFix amt="0"/>
              </a:blip>
              <a:stretch>
                <a:fillRect t="-162451" b="-159390"/>
              </a:stretch>
            </a:blipFill>
          </p:spPr>
        </p:sp>
        <p:sp>
          <p:nvSpPr>
            <p:cNvPr id="30" name="TextBox 30"/>
            <p:cNvSpPr txBox="1"/>
            <p:nvPr/>
          </p:nvSpPr>
          <p:spPr>
            <a:xfrm>
              <a:off x="0" y="0"/>
              <a:ext cx="6126480" cy="565969"/>
            </a:xfrm>
            <a:prstGeom prst="rect">
              <a:avLst/>
            </a:prstGeom>
          </p:spPr>
          <p:txBody>
            <a:bodyPr lIns="0" tIns="0" rIns="0" bIns="0" rtlCol="0" anchor="ctr"/>
            <a:lstStyle/>
            <a:p>
              <a:pPr algn="l">
                <a:lnSpc>
                  <a:spcPts val="1889"/>
                </a:lnSpc>
              </a:pPr>
              <a:r>
                <a:rPr lang="en-US" sz="1575" b="1">
                  <a:solidFill>
                    <a:srgbClr val="8A8FB0"/>
                  </a:solidFill>
                  <a:latin typeface="Courier New Bold"/>
                  <a:ea typeface="Courier New Bold"/>
                  <a:cs typeface="Courier New Bold"/>
                  <a:sym typeface="Courier New Bold"/>
                </a:rPr>
                <a:t>RETURNS DECIMAL(12,1)</a:t>
              </a:r>
            </a:p>
          </p:txBody>
        </p:sp>
      </p:grpSp>
      <p:sp>
        <p:nvSpPr>
          <p:cNvPr id="31" name="AutoShape 31"/>
          <p:cNvSpPr/>
          <p:nvPr/>
        </p:nvSpPr>
        <p:spPr>
          <a:xfrm rot="14220">
            <a:off x="6917036" y="5138738"/>
            <a:ext cx="4613948" cy="0"/>
          </a:xfrm>
          <a:prstGeom prst="line">
            <a:avLst/>
          </a:prstGeom>
          <a:ln w="9525" cap="rnd">
            <a:solidFill>
              <a:srgbClr val="CADCFC"/>
            </a:solidFill>
            <a:prstDash val="solid"/>
            <a:headEnd type="none" w="sm" len="sm"/>
            <a:tailEnd type="none" w="sm" len="sm"/>
          </a:ln>
        </p:spPr>
      </p:sp>
      <p:grpSp>
        <p:nvGrpSpPr>
          <p:cNvPr id="32" name="Group 32"/>
          <p:cNvGrpSpPr/>
          <p:nvPr/>
        </p:nvGrpSpPr>
        <p:grpSpPr>
          <a:xfrm>
            <a:off x="6926580" y="5417820"/>
            <a:ext cx="4594860" cy="2880360"/>
            <a:chOff x="0" y="0"/>
            <a:chExt cx="6126480" cy="3840480"/>
          </a:xfrm>
        </p:grpSpPr>
        <p:sp>
          <p:nvSpPr>
            <p:cNvPr id="33" name="Freeform 33"/>
            <p:cNvSpPr/>
            <p:nvPr/>
          </p:nvSpPr>
          <p:spPr>
            <a:xfrm>
              <a:off x="0" y="0"/>
              <a:ext cx="6126480" cy="3840480"/>
            </a:xfrm>
            <a:custGeom>
              <a:avLst/>
              <a:gdLst/>
              <a:ahLst/>
              <a:cxnLst/>
              <a:rect l="l" t="t" r="r" b="b"/>
              <a:pathLst>
                <a:path w="6126480" h="3840480">
                  <a:moveTo>
                    <a:pt x="0" y="0"/>
                  </a:moveTo>
                  <a:lnTo>
                    <a:pt x="6126480" y="0"/>
                  </a:lnTo>
                  <a:lnTo>
                    <a:pt x="6126480" y="3840480"/>
                  </a:lnTo>
                  <a:lnTo>
                    <a:pt x="0" y="3840480"/>
                  </a:lnTo>
                  <a:close/>
                </a:path>
              </a:pathLst>
            </a:custGeom>
            <a:blipFill>
              <a:blip r:embed="rId3">
                <a:alphaModFix amt="0"/>
              </a:blip>
              <a:stretch>
                <a:fillRect l="-30429" r="-30429"/>
              </a:stretch>
            </a:blipFill>
          </p:spPr>
        </p:sp>
        <p:sp>
          <p:nvSpPr>
            <p:cNvPr id="34" name="TextBox 34"/>
            <p:cNvSpPr txBox="1"/>
            <p:nvPr/>
          </p:nvSpPr>
          <p:spPr>
            <a:xfrm>
              <a:off x="0" y="-114300"/>
              <a:ext cx="6126480" cy="3954780"/>
            </a:xfrm>
            <a:prstGeom prst="rect">
              <a:avLst/>
            </a:prstGeom>
          </p:spPr>
          <p:txBody>
            <a:bodyPr lIns="0" tIns="0" rIns="0" bIns="0" rtlCol="0" anchor="ctr"/>
            <a:lstStyle/>
            <a:p>
              <a:pPr algn="l">
                <a:lnSpc>
                  <a:spcPts val="3419"/>
                </a:lnSpc>
              </a:pPr>
              <a:r>
                <a:rPr lang="en-US" sz="2374" b="1">
                  <a:solidFill>
                    <a:srgbClr val="555555"/>
                  </a:solidFill>
                  <a:latin typeface="Calibri (MS) Bold"/>
                  <a:ea typeface="Calibri (MS) Bold"/>
                  <a:cs typeface="Calibri (MS) Bold"/>
                  <a:sym typeface="Calibri (MS) Bold"/>
                </a:rPr>
                <a:t>Sums a creator's total points by calling the post-level function across all of their posts.</a:t>
              </a:r>
            </a:p>
          </p:txBody>
        </p:sp>
      </p:grpSp>
      <p:grpSp>
        <p:nvGrpSpPr>
          <p:cNvPr id="35" name="Group 35"/>
          <p:cNvGrpSpPr/>
          <p:nvPr/>
        </p:nvGrpSpPr>
        <p:grpSpPr>
          <a:xfrm>
            <a:off x="12334875" y="2939415"/>
            <a:ext cx="5299710" cy="5642610"/>
            <a:chOff x="0" y="0"/>
            <a:chExt cx="7066280" cy="7523480"/>
          </a:xfrm>
        </p:grpSpPr>
        <p:sp>
          <p:nvSpPr>
            <p:cNvPr id="36" name="Freeform 36"/>
            <p:cNvSpPr/>
            <p:nvPr/>
          </p:nvSpPr>
          <p:spPr>
            <a:xfrm>
              <a:off x="0" y="0"/>
              <a:ext cx="7066280" cy="7523480"/>
            </a:xfrm>
            <a:custGeom>
              <a:avLst/>
              <a:gdLst/>
              <a:ahLst/>
              <a:cxnLst/>
              <a:rect l="l" t="t" r="r" b="b"/>
              <a:pathLst>
                <a:path w="7066280" h="7523480">
                  <a:moveTo>
                    <a:pt x="0" y="146812"/>
                  </a:moveTo>
                  <a:cubicBezTo>
                    <a:pt x="0" y="65786"/>
                    <a:pt x="65786" y="0"/>
                    <a:pt x="146812" y="0"/>
                  </a:cubicBezTo>
                  <a:lnTo>
                    <a:pt x="6919468" y="0"/>
                  </a:lnTo>
                  <a:cubicBezTo>
                    <a:pt x="7000622" y="0"/>
                    <a:pt x="7066280" y="65786"/>
                    <a:pt x="7066280" y="146812"/>
                  </a:cubicBezTo>
                  <a:lnTo>
                    <a:pt x="7066280" y="7376668"/>
                  </a:lnTo>
                  <a:cubicBezTo>
                    <a:pt x="7066280" y="7457822"/>
                    <a:pt x="7000494" y="7523480"/>
                    <a:pt x="6919468" y="7523480"/>
                  </a:cubicBezTo>
                  <a:lnTo>
                    <a:pt x="146812" y="7523480"/>
                  </a:lnTo>
                  <a:cubicBezTo>
                    <a:pt x="65786" y="7523480"/>
                    <a:pt x="0" y="7457694"/>
                    <a:pt x="0" y="7376668"/>
                  </a:cubicBezTo>
                  <a:close/>
                </a:path>
              </a:pathLst>
            </a:custGeom>
            <a:solidFill>
              <a:srgbClr val="F7F8FC"/>
            </a:solidFill>
            <a:ln w="19050" cap="sq">
              <a:solidFill>
                <a:srgbClr val="CADCFC"/>
              </a:solidFill>
              <a:prstDash val="solid"/>
              <a:miter/>
            </a:ln>
          </p:spPr>
        </p:sp>
      </p:grpSp>
      <p:grpSp>
        <p:nvGrpSpPr>
          <p:cNvPr id="37" name="Group 37"/>
          <p:cNvGrpSpPr/>
          <p:nvPr/>
        </p:nvGrpSpPr>
        <p:grpSpPr>
          <a:xfrm>
            <a:off x="12687300" y="3291840"/>
            <a:ext cx="4594860" cy="1303020"/>
            <a:chOff x="0" y="0"/>
            <a:chExt cx="6126480" cy="1737360"/>
          </a:xfrm>
        </p:grpSpPr>
        <p:sp>
          <p:nvSpPr>
            <p:cNvPr id="38" name="Freeform 38"/>
            <p:cNvSpPr/>
            <p:nvPr/>
          </p:nvSpPr>
          <p:spPr>
            <a:xfrm>
              <a:off x="0" y="0"/>
              <a:ext cx="6126480" cy="1737360"/>
            </a:xfrm>
            <a:custGeom>
              <a:avLst/>
              <a:gdLst/>
              <a:ahLst/>
              <a:cxnLst/>
              <a:rect l="l" t="t" r="r" b="b"/>
              <a:pathLst>
                <a:path w="6126480" h="1737360">
                  <a:moveTo>
                    <a:pt x="0" y="0"/>
                  </a:moveTo>
                  <a:lnTo>
                    <a:pt x="6126480" y="0"/>
                  </a:lnTo>
                  <a:lnTo>
                    <a:pt x="6126480" y="1737360"/>
                  </a:lnTo>
                  <a:lnTo>
                    <a:pt x="0" y="1737360"/>
                  </a:lnTo>
                  <a:close/>
                </a:path>
              </a:pathLst>
            </a:custGeom>
            <a:blipFill>
              <a:blip r:embed="rId3">
                <a:alphaModFix amt="0"/>
              </a:blip>
              <a:stretch>
                <a:fillRect t="-18710" b="-18710"/>
              </a:stretch>
            </a:blipFill>
          </p:spPr>
        </p:sp>
        <p:sp>
          <p:nvSpPr>
            <p:cNvPr id="39" name="TextBox 39"/>
            <p:cNvSpPr txBox="1"/>
            <p:nvPr/>
          </p:nvSpPr>
          <p:spPr>
            <a:xfrm>
              <a:off x="0" y="-57150"/>
              <a:ext cx="6126480" cy="1794510"/>
            </a:xfrm>
            <a:prstGeom prst="rect">
              <a:avLst/>
            </a:prstGeom>
          </p:spPr>
          <p:txBody>
            <a:bodyPr lIns="0" tIns="0" rIns="0" bIns="0" rtlCol="0" anchor="ctr"/>
            <a:lstStyle/>
            <a:p>
              <a:pPr algn="l">
                <a:lnSpc>
                  <a:spcPts val="2879"/>
                </a:lnSpc>
              </a:pPr>
              <a:r>
                <a:rPr lang="en-US" sz="2399" b="1">
                  <a:solidFill>
                    <a:srgbClr val="1E2761"/>
                  </a:solidFill>
                  <a:latin typeface="Calibri (MS) Bold"/>
                  <a:ea typeface="Calibri (MS) Bold"/>
                  <a:cs typeface="Calibri (MS) Bold"/>
                  <a:sym typeface="Calibri (MS) Bold"/>
                </a:rPr>
                <a:t>CalculateWindowEngagement(post_id, start, end)</a:t>
              </a:r>
            </a:p>
          </p:txBody>
        </p:sp>
      </p:grpSp>
      <p:grpSp>
        <p:nvGrpSpPr>
          <p:cNvPr id="40" name="Group 40"/>
          <p:cNvGrpSpPr/>
          <p:nvPr/>
        </p:nvGrpSpPr>
        <p:grpSpPr>
          <a:xfrm>
            <a:off x="12687300" y="4526280"/>
            <a:ext cx="4594860" cy="424476"/>
            <a:chOff x="0" y="0"/>
            <a:chExt cx="6126480" cy="565969"/>
          </a:xfrm>
        </p:grpSpPr>
        <p:sp>
          <p:nvSpPr>
            <p:cNvPr id="41" name="Freeform 41"/>
            <p:cNvSpPr/>
            <p:nvPr/>
          </p:nvSpPr>
          <p:spPr>
            <a:xfrm>
              <a:off x="0" y="0"/>
              <a:ext cx="6126480" cy="565969"/>
            </a:xfrm>
            <a:custGeom>
              <a:avLst/>
              <a:gdLst/>
              <a:ahLst/>
              <a:cxnLst/>
              <a:rect l="l" t="t" r="r" b="b"/>
              <a:pathLst>
                <a:path w="6126480" h="565969">
                  <a:moveTo>
                    <a:pt x="0" y="0"/>
                  </a:moveTo>
                  <a:lnTo>
                    <a:pt x="6126480" y="0"/>
                  </a:lnTo>
                  <a:lnTo>
                    <a:pt x="6126480" y="565969"/>
                  </a:lnTo>
                  <a:lnTo>
                    <a:pt x="0" y="565969"/>
                  </a:lnTo>
                  <a:close/>
                </a:path>
              </a:pathLst>
            </a:custGeom>
            <a:blipFill>
              <a:blip r:embed="rId3">
                <a:alphaModFix amt="0"/>
              </a:blip>
              <a:stretch>
                <a:fillRect t="-162451" b="-159390"/>
              </a:stretch>
            </a:blipFill>
          </p:spPr>
        </p:sp>
        <p:sp>
          <p:nvSpPr>
            <p:cNvPr id="42" name="TextBox 42"/>
            <p:cNvSpPr txBox="1"/>
            <p:nvPr/>
          </p:nvSpPr>
          <p:spPr>
            <a:xfrm>
              <a:off x="0" y="0"/>
              <a:ext cx="6126480" cy="565969"/>
            </a:xfrm>
            <a:prstGeom prst="rect">
              <a:avLst/>
            </a:prstGeom>
          </p:spPr>
          <p:txBody>
            <a:bodyPr lIns="0" tIns="0" rIns="0" bIns="0" rtlCol="0" anchor="ctr"/>
            <a:lstStyle/>
            <a:p>
              <a:pPr algn="l">
                <a:lnSpc>
                  <a:spcPts val="1889"/>
                </a:lnSpc>
              </a:pPr>
              <a:r>
                <a:rPr lang="en-US" sz="1575" b="1">
                  <a:solidFill>
                    <a:srgbClr val="8A8FB0"/>
                  </a:solidFill>
                  <a:latin typeface="Courier New Bold"/>
                  <a:ea typeface="Courier New Bold"/>
                  <a:cs typeface="Courier New Bold"/>
                  <a:sym typeface="Courier New Bold"/>
                </a:rPr>
                <a:t>RETURNS DECIMAL(10,1)</a:t>
              </a:r>
            </a:p>
          </p:txBody>
        </p:sp>
      </p:grpSp>
      <p:sp>
        <p:nvSpPr>
          <p:cNvPr id="43" name="AutoShape 43"/>
          <p:cNvSpPr/>
          <p:nvPr/>
        </p:nvSpPr>
        <p:spPr>
          <a:xfrm rot="14220">
            <a:off x="12677756" y="5138738"/>
            <a:ext cx="4613948" cy="0"/>
          </a:xfrm>
          <a:prstGeom prst="line">
            <a:avLst/>
          </a:prstGeom>
          <a:ln w="9525" cap="rnd">
            <a:solidFill>
              <a:srgbClr val="CADCFC"/>
            </a:solidFill>
            <a:prstDash val="solid"/>
            <a:headEnd type="none" w="sm" len="sm"/>
            <a:tailEnd type="none" w="sm" len="sm"/>
          </a:ln>
        </p:spPr>
      </p:sp>
      <p:grpSp>
        <p:nvGrpSpPr>
          <p:cNvPr id="44" name="Group 44"/>
          <p:cNvGrpSpPr/>
          <p:nvPr/>
        </p:nvGrpSpPr>
        <p:grpSpPr>
          <a:xfrm>
            <a:off x="12687300" y="5417820"/>
            <a:ext cx="4594860" cy="2880360"/>
            <a:chOff x="0" y="0"/>
            <a:chExt cx="6126480" cy="3840480"/>
          </a:xfrm>
        </p:grpSpPr>
        <p:sp>
          <p:nvSpPr>
            <p:cNvPr id="45" name="Freeform 45"/>
            <p:cNvSpPr/>
            <p:nvPr/>
          </p:nvSpPr>
          <p:spPr>
            <a:xfrm>
              <a:off x="0" y="0"/>
              <a:ext cx="6126480" cy="3840480"/>
            </a:xfrm>
            <a:custGeom>
              <a:avLst/>
              <a:gdLst/>
              <a:ahLst/>
              <a:cxnLst/>
              <a:rect l="l" t="t" r="r" b="b"/>
              <a:pathLst>
                <a:path w="6126480" h="3840480">
                  <a:moveTo>
                    <a:pt x="0" y="0"/>
                  </a:moveTo>
                  <a:lnTo>
                    <a:pt x="6126480" y="0"/>
                  </a:lnTo>
                  <a:lnTo>
                    <a:pt x="6126480" y="3840480"/>
                  </a:lnTo>
                  <a:lnTo>
                    <a:pt x="0" y="3840480"/>
                  </a:lnTo>
                  <a:close/>
                </a:path>
              </a:pathLst>
            </a:custGeom>
            <a:blipFill>
              <a:blip r:embed="rId3">
                <a:alphaModFix amt="0"/>
              </a:blip>
              <a:stretch>
                <a:fillRect l="-30429" r="-30429"/>
              </a:stretch>
            </a:blipFill>
          </p:spPr>
        </p:sp>
        <p:sp>
          <p:nvSpPr>
            <p:cNvPr id="46" name="TextBox 46"/>
            <p:cNvSpPr txBox="1"/>
            <p:nvPr/>
          </p:nvSpPr>
          <p:spPr>
            <a:xfrm>
              <a:off x="0" y="-114300"/>
              <a:ext cx="6126480" cy="3954780"/>
            </a:xfrm>
            <a:prstGeom prst="rect">
              <a:avLst/>
            </a:prstGeom>
          </p:spPr>
          <p:txBody>
            <a:bodyPr lIns="0" tIns="0" rIns="0" bIns="0" rtlCol="0" anchor="ctr"/>
            <a:lstStyle/>
            <a:p>
              <a:pPr algn="l">
                <a:lnSpc>
                  <a:spcPts val="3419"/>
                </a:lnSpc>
              </a:pPr>
              <a:r>
                <a:rPr lang="en-US" sz="2374" b="1">
                  <a:solidFill>
                    <a:srgbClr val="555555"/>
                  </a:solidFill>
                  <a:latin typeface="Calibri (MS) Bold"/>
                  <a:ea typeface="Calibri (MS) Bold"/>
                  <a:cs typeface="Calibri (MS) Bold"/>
                  <a:sym typeface="Calibri (MS) Bold"/>
                </a:rPr>
                <a:t>Same weighted score, but counted only from interactions and comments between two moments in time.</a:t>
              </a:r>
            </a:p>
          </p:txBody>
        </p:sp>
      </p:grpSp>
      <p:grpSp>
        <p:nvGrpSpPr>
          <p:cNvPr id="47" name="Group 47"/>
          <p:cNvGrpSpPr/>
          <p:nvPr/>
        </p:nvGrpSpPr>
        <p:grpSpPr>
          <a:xfrm>
            <a:off x="17323308" y="9669780"/>
            <a:ext cx="548640" cy="411480"/>
            <a:chOff x="0" y="0"/>
            <a:chExt cx="731520" cy="548640"/>
          </a:xfrm>
        </p:grpSpPr>
        <p:sp>
          <p:nvSpPr>
            <p:cNvPr id="48" name="Freeform 48"/>
            <p:cNvSpPr/>
            <p:nvPr/>
          </p:nvSpPr>
          <p:spPr>
            <a:xfrm>
              <a:off x="0" y="0"/>
              <a:ext cx="731520" cy="548640"/>
            </a:xfrm>
            <a:custGeom>
              <a:avLst/>
              <a:gdLst/>
              <a:ahLst/>
              <a:cxnLst/>
              <a:rect l="l" t="t" r="r" b="b"/>
              <a:pathLst>
                <a:path w="731520" h="548640">
                  <a:moveTo>
                    <a:pt x="0" y="0"/>
                  </a:moveTo>
                  <a:lnTo>
                    <a:pt x="731520" y="0"/>
                  </a:lnTo>
                  <a:lnTo>
                    <a:pt x="731520" y="548640"/>
                  </a:lnTo>
                  <a:lnTo>
                    <a:pt x="0" y="548640"/>
                  </a:lnTo>
                  <a:close/>
                </a:path>
              </a:pathLst>
            </a:custGeom>
            <a:blipFill>
              <a:blip r:embed="rId3">
                <a:alphaModFix amt="0"/>
              </a:blip>
              <a:stretch>
                <a:fillRect l="-46227" r="-46227"/>
              </a:stretch>
            </a:blipFill>
          </p:spPr>
        </p:sp>
        <p:sp>
          <p:nvSpPr>
            <p:cNvPr id="49" name="TextBox 49"/>
            <p:cNvSpPr txBox="1"/>
            <p:nvPr/>
          </p:nvSpPr>
          <p:spPr>
            <a:xfrm>
              <a:off x="0" y="-38100"/>
              <a:ext cx="731520" cy="586740"/>
            </a:xfrm>
            <a:prstGeom prst="rect">
              <a:avLst/>
            </a:prstGeom>
          </p:spPr>
          <p:txBody>
            <a:bodyPr lIns="0" tIns="0" rIns="0" bIns="0" rtlCol="0" anchor="ctr"/>
            <a:lstStyle/>
            <a:p>
              <a:pPr algn="r">
                <a:lnSpc>
                  <a:spcPts val="1800"/>
                </a:lnSpc>
              </a:pPr>
              <a:r>
                <a:rPr lang="en-US" sz="1500">
                  <a:solidFill>
                    <a:srgbClr val="999999"/>
                  </a:solidFill>
                  <a:latin typeface="Calibri (MS)"/>
                  <a:ea typeface="Calibri (MS)"/>
                  <a:cs typeface="Calibri (MS)"/>
                  <a:sym typeface="Calibri (MS)"/>
                </a:rPr>
                <a:t>6</a:t>
              </a: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22960" y="548640"/>
            <a:ext cx="10972800" cy="411480"/>
            <a:chOff x="0" y="0"/>
            <a:chExt cx="14630400" cy="548640"/>
          </a:xfrm>
        </p:grpSpPr>
        <p:sp>
          <p:nvSpPr>
            <p:cNvPr id="3" name="Freeform 3"/>
            <p:cNvSpPr/>
            <p:nvPr/>
          </p:nvSpPr>
          <p:spPr>
            <a:xfrm>
              <a:off x="0" y="0"/>
              <a:ext cx="14630400" cy="548640"/>
            </a:xfrm>
            <a:custGeom>
              <a:avLst/>
              <a:gdLst/>
              <a:ahLst/>
              <a:cxnLst/>
              <a:rect l="l" t="t" r="r" b="b"/>
              <a:pathLst>
                <a:path w="14630400" h="548640">
                  <a:moveTo>
                    <a:pt x="0" y="0"/>
                  </a:moveTo>
                  <a:lnTo>
                    <a:pt x="14630400" y="0"/>
                  </a:lnTo>
                  <a:lnTo>
                    <a:pt x="14630400" y="548640"/>
                  </a:lnTo>
                  <a:lnTo>
                    <a:pt x="0" y="548640"/>
                  </a:lnTo>
                  <a:close/>
                </a:path>
              </a:pathLst>
            </a:custGeom>
            <a:blipFill>
              <a:blip r:embed="rId3">
                <a:alphaModFix amt="0"/>
              </a:blip>
              <a:stretch>
                <a:fillRect t="-469601" b="-469601"/>
              </a:stretch>
            </a:blipFill>
          </p:spPr>
        </p:sp>
        <p:sp>
          <p:nvSpPr>
            <p:cNvPr id="4" name="TextBox 4"/>
            <p:cNvSpPr txBox="1"/>
            <p:nvPr/>
          </p:nvSpPr>
          <p:spPr>
            <a:xfrm>
              <a:off x="0" y="-38100"/>
              <a:ext cx="14630400" cy="586740"/>
            </a:xfrm>
            <a:prstGeom prst="rect">
              <a:avLst/>
            </a:prstGeom>
          </p:spPr>
          <p:txBody>
            <a:bodyPr lIns="0" tIns="0" rIns="0" bIns="0" rtlCol="0" anchor="ctr"/>
            <a:lstStyle/>
            <a:p>
              <a:pPr algn="l">
                <a:lnSpc>
                  <a:spcPts val="2160"/>
                </a:lnSpc>
              </a:pPr>
              <a:r>
                <a:rPr lang="en-US" sz="1800" b="1" spc="300">
                  <a:solidFill>
                    <a:srgbClr val="1E2761"/>
                  </a:solidFill>
                  <a:latin typeface="Calibri (MS) Bold"/>
                  <a:ea typeface="Calibri (MS) Bold"/>
                  <a:cs typeface="Calibri (MS) Bold"/>
                  <a:sym typeface="Calibri (MS) Bold"/>
                </a:rPr>
                <a:t>ROW-BY-ROW PROCESSING</a:t>
              </a:r>
            </a:p>
          </p:txBody>
        </p:sp>
      </p:grpSp>
      <p:grpSp>
        <p:nvGrpSpPr>
          <p:cNvPr id="5" name="Group 5"/>
          <p:cNvGrpSpPr/>
          <p:nvPr/>
        </p:nvGrpSpPr>
        <p:grpSpPr>
          <a:xfrm>
            <a:off x="822960" y="932688"/>
            <a:ext cx="16637508" cy="960120"/>
            <a:chOff x="0" y="0"/>
            <a:chExt cx="22183344" cy="1280160"/>
          </a:xfrm>
        </p:grpSpPr>
        <p:sp>
          <p:nvSpPr>
            <p:cNvPr id="6" name="Freeform 6"/>
            <p:cNvSpPr/>
            <p:nvPr/>
          </p:nvSpPr>
          <p:spPr>
            <a:xfrm>
              <a:off x="0" y="0"/>
              <a:ext cx="22183344" cy="1280160"/>
            </a:xfrm>
            <a:custGeom>
              <a:avLst/>
              <a:gdLst/>
              <a:ahLst/>
              <a:cxnLst/>
              <a:rect l="l" t="t" r="r" b="b"/>
              <a:pathLst>
                <a:path w="22183344" h="1280160">
                  <a:moveTo>
                    <a:pt x="0" y="0"/>
                  </a:moveTo>
                  <a:lnTo>
                    <a:pt x="22183344" y="0"/>
                  </a:lnTo>
                  <a:lnTo>
                    <a:pt x="22183344" y="1280160"/>
                  </a:lnTo>
                  <a:lnTo>
                    <a:pt x="0" y="1280160"/>
                  </a:lnTo>
                  <a:close/>
                </a:path>
              </a:pathLst>
            </a:custGeom>
            <a:blipFill>
              <a:blip r:embed="rId3">
                <a:alphaModFix amt="0"/>
              </a:blip>
              <a:stretch>
                <a:fillRect t="-287647" b="-287647"/>
              </a:stretch>
            </a:blipFill>
          </p:spPr>
        </p:sp>
        <p:sp>
          <p:nvSpPr>
            <p:cNvPr id="7" name="TextBox 7"/>
            <p:cNvSpPr txBox="1"/>
            <p:nvPr/>
          </p:nvSpPr>
          <p:spPr>
            <a:xfrm>
              <a:off x="0" y="-9525"/>
              <a:ext cx="22183344" cy="1289685"/>
            </a:xfrm>
            <a:prstGeom prst="rect">
              <a:avLst/>
            </a:prstGeom>
          </p:spPr>
          <p:txBody>
            <a:bodyPr lIns="0" tIns="0" rIns="0" bIns="0" rtlCol="0" anchor="ctr"/>
            <a:lstStyle/>
            <a:p>
              <a:pPr algn="l">
                <a:lnSpc>
                  <a:spcPts val="5759"/>
                </a:lnSpc>
              </a:pPr>
              <a:r>
                <a:rPr lang="en-US" sz="4800" b="1">
                  <a:solidFill>
                    <a:srgbClr val="141B47"/>
                  </a:solidFill>
                  <a:latin typeface="Cambria Bold"/>
                  <a:ea typeface="Cambria Bold"/>
                  <a:cs typeface="Cambria Bold"/>
                  <a:sym typeface="Cambria Bold"/>
                </a:rPr>
                <a:t>Cursor Procedures</a:t>
              </a:r>
            </a:p>
          </p:txBody>
        </p:sp>
      </p:grpSp>
      <p:grpSp>
        <p:nvGrpSpPr>
          <p:cNvPr id="8" name="Group 8"/>
          <p:cNvGrpSpPr/>
          <p:nvPr/>
        </p:nvGrpSpPr>
        <p:grpSpPr>
          <a:xfrm>
            <a:off x="822960" y="2057400"/>
            <a:ext cx="16637508" cy="548640"/>
            <a:chOff x="0" y="0"/>
            <a:chExt cx="22183344" cy="731520"/>
          </a:xfrm>
        </p:grpSpPr>
        <p:sp>
          <p:nvSpPr>
            <p:cNvPr id="9" name="Freeform 9"/>
            <p:cNvSpPr/>
            <p:nvPr/>
          </p:nvSpPr>
          <p:spPr>
            <a:xfrm>
              <a:off x="0" y="0"/>
              <a:ext cx="22183344" cy="731520"/>
            </a:xfrm>
            <a:custGeom>
              <a:avLst/>
              <a:gdLst/>
              <a:ahLst/>
              <a:cxnLst/>
              <a:rect l="l" t="t" r="r" b="b"/>
              <a:pathLst>
                <a:path w="22183344" h="731520">
                  <a:moveTo>
                    <a:pt x="0" y="0"/>
                  </a:moveTo>
                  <a:lnTo>
                    <a:pt x="22183344" y="0"/>
                  </a:lnTo>
                  <a:lnTo>
                    <a:pt x="22183344" y="731520"/>
                  </a:lnTo>
                  <a:lnTo>
                    <a:pt x="0" y="731520"/>
                  </a:lnTo>
                  <a:close/>
                </a:path>
              </a:pathLst>
            </a:custGeom>
            <a:blipFill>
              <a:blip r:embed="rId3">
                <a:alphaModFix amt="0"/>
              </a:blip>
              <a:stretch>
                <a:fillRect t="-540883" b="-540883"/>
              </a:stretch>
            </a:blipFill>
          </p:spPr>
        </p:sp>
        <p:sp>
          <p:nvSpPr>
            <p:cNvPr id="10" name="TextBox 10"/>
            <p:cNvSpPr txBox="1"/>
            <p:nvPr/>
          </p:nvSpPr>
          <p:spPr>
            <a:xfrm>
              <a:off x="0" y="-47625"/>
              <a:ext cx="22183344" cy="779145"/>
            </a:xfrm>
            <a:prstGeom prst="rect">
              <a:avLst/>
            </a:prstGeom>
          </p:spPr>
          <p:txBody>
            <a:bodyPr lIns="0" tIns="0" rIns="0" bIns="0" rtlCol="0" anchor="ctr"/>
            <a:lstStyle/>
            <a:p>
              <a:pPr algn="l">
                <a:lnSpc>
                  <a:spcPts val="2520"/>
                </a:lnSpc>
              </a:pPr>
              <a:r>
                <a:rPr lang="en-US" sz="2100" i="1">
                  <a:solidFill>
                    <a:srgbClr val="555555"/>
                  </a:solidFill>
                  <a:latin typeface="Calibri (MS) Italics"/>
                  <a:ea typeface="Calibri (MS) Italics"/>
                  <a:cs typeface="Calibri (MS) Italics"/>
                  <a:sym typeface="Calibri (MS) Italics"/>
                </a:rPr>
                <a:t>Both procedures use cursors for row-by-row processing and stateful report generation.</a:t>
              </a:r>
            </a:p>
          </p:txBody>
        </p:sp>
      </p:grpSp>
      <p:grpSp>
        <p:nvGrpSpPr>
          <p:cNvPr id="11" name="Group 11"/>
          <p:cNvGrpSpPr/>
          <p:nvPr/>
        </p:nvGrpSpPr>
        <p:grpSpPr>
          <a:xfrm>
            <a:off x="813435" y="2939415"/>
            <a:ext cx="8042910" cy="5711190"/>
            <a:chOff x="0" y="0"/>
            <a:chExt cx="10723880" cy="7614920"/>
          </a:xfrm>
        </p:grpSpPr>
        <p:sp>
          <p:nvSpPr>
            <p:cNvPr id="12" name="Freeform 12"/>
            <p:cNvSpPr/>
            <p:nvPr/>
          </p:nvSpPr>
          <p:spPr>
            <a:xfrm>
              <a:off x="0" y="0"/>
              <a:ext cx="10723880" cy="7614920"/>
            </a:xfrm>
            <a:custGeom>
              <a:avLst/>
              <a:gdLst/>
              <a:ahLst/>
              <a:cxnLst/>
              <a:rect l="l" t="t" r="r" b="b"/>
              <a:pathLst>
                <a:path w="10723880" h="7614920">
                  <a:moveTo>
                    <a:pt x="0" y="146812"/>
                  </a:moveTo>
                  <a:cubicBezTo>
                    <a:pt x="0" y="65786"/>
                    <a:pt x="65786" y="0"/>
                    <a:pt x="146812" y="0"/>
                  </a:cubicBezTo>
                  <a:lnTo>
                    <a:pt x="10577068" y="0"/>
                  </a:lnTo>
                  <a:cubicBezTo>
                    <a:pt x="10658094" y="0"/>
                    <a:pt x="10723880" y="65786"/>
                    <a:pt x="10723880" y="146812"/>
                  </a:cubicBezTo>
                  <a:lnTo>
                    <a:pt x="10723880" y="7468108"/>
                  </a:lnTo>
                  <a:cubicBezTo>
                    <a:pt x="10723880" y="7549134"/>
                    <a:pt x="10658094" y="7614920"/>
                    <a:pt x="10577068" y="7614920"/>
                  </a:cubicBezTo>
                  <a:lnTo>
                    <a:pt x="146812" y="7614920"/>
                  </a:lnTo>
                  <a:cubicBezTo>
                    <a:pt x="65786" y="7614920"/>
                    <a:pt x="0" y="7549134"/>
                    <a:pt x="0" y="7468108"/>
                  </a:cubicBezTo>
                  <a:close/>
                </a:path>
              </a:pathLst>
            </a:custGeom>
            <a:solidFill>
              <a:srgbClr val="F7F8FC"/>
            </a:solidFill>
            <a:ln w="19050" cap="sq">
              <a:solidFill>
                <a:srgbClr val="CADCFC"/>
              </a:solidFill>
              <a:prstDash val="solid"/>
              <a:miter/>
            </a:ln>
          </p:spPr>
        </p:sp>
      </p:grpSp>
      <p:grpSp>
        <p:nvGrpSpPr>
          <p:cNvPr id="13" name="Group 13"/>
          <p:cNvGrpSpPr/>
          <p:nvPr/>
        </p:nvGrpSpPr>
        <p:grpSpPr>
          <a:xfrm>
            <a:off x="1234440" y="3291840"/>
            <a:ext cx="7200900" cy="822960"/>
            <a:chOff x="0" y="0"/>
            <a:chExt cx="9601200" cy="1097280"/>
          </a:xfrm>
        </p:grpSpPr>
        <p:sp>
          <p:nvSpPr>
            <p:cNvPr id="14" name="Freeform 14"/>
            <p:cNvSpPr/>
            <p:nvPr/>
          </p:nvSpPr>
          <p:spPr>
            <a:xfrm>
              <a:off x="0" y="0"/>
              <a:ext cx="9601200" cy="1097280"/>
            </a:xfrm>
            <a:custGeom>
              <a:avLst/>
              <a:gdLst/>
              <a:ahLst/>
              <a:cxnLst/>
              <a:rect l="l" t="t" r="r" b="b"/>
              <a:pathLst>
                <a:path w="9601200" h="1097280">
                  <a:moveTo>
                    <a:pt x="0" y="0"/>
                  </a:moveTo>
                  <a:lnTo>
                    <a:pt x="9601200" y="0"/>
                  </a:lnTo>
                  <a:lnTo>
                    <a:pt x="9601200" y="1097280"/>
                  </a:lnTo>
                  <a:lnTo>
                    <a:pt x="0" y="1097280"/>
                  </a:lnTo>
                  <a:close/>
                </a:path>
              </a:pathLst>
            </a:custGeom>
            <a:blipFill>
              <a:blip r:embed="rId3">
                <a:alphaModFix amt="0"/>
              </a:blip>
              <a:stretch>
                <a:fillRect t="-120494" b="-120494"/>
              </a:stretch>
            </a:blipFill>
          </p:spPr>
        </p:sp>
        <p:sp>
          <p:nvSpPr>
            <p:cNvPr id="15" name="TextBox 15"/>
            <p:cNvSpPr txBox="1"/>
            <p:nvPr/>
          </p:nvSpPr>
          <p:spPr>
            <a:xfrm>
              <a:off x="0" y="-47625"/>
              <a:ext cx="9601200" cy="1144905"/>
            </a:xfrm>
            <a:prstGeom prst="rect">
              <a:avLst/>
            </a:prstGeom>
          </p:spPr>
          <p:txBody>
            <a:bodyPr lIns="0" tIns="0" rIns="0" bIns="0" rtlCol="0" anchor="ctr"/>
            <a:lstStyle/>
            <a:p>
              <a:pPr algn="l">
                <a:lnSpc>
                  <a:spcPts val="2520"/>
                </a:lnSpc>
              </a:pPr>
              <a:r>
                <a:rPr lang="en-US" sz="2100" b="1">
                  <a:solidFill>
                    <a:srgbClr val="1E2761"/>
                  </a:solidFill>
                  <a:latin typeface="Calibri (MS) Bold"/>
                  <a:ea typeface="Calibri (MS) Bold"/>
                  <a:cs typeface="Calibri (MS) Bold"/>
                  <a:sym typeface="Calibri (MS) Bold"/>
                </a:rPr>
                <a:t>GenerateUserEngagementReport(user_id)</a:t>
              </a:r>
            </a:p>
          </p:txBody>
        </p:sp>
      </p:grpSp>
      <p:grpSp>
        <p:nvGrpSpPr>
          <p:cNvPr id="16" name="Group 16"/>
          <p:cNvGrpSpPr/>
          <p:nvPr/>
        </p:nvGrpSpPr>
        <p:grpSpPr>
          <a:xfrm>
            <a:off x="1234440" y="4114800"/>
            <a:ext cx="7200900" cy="891540"/>
            <a:chOff x="0" y="0"/>
            <a:chExt cx="9601200" cy="1188720"/>
          </a:xfrm>
        </p:grpSpPr>
        <p:sp>
          <p:nvSpPr>
            <p:cNvPr id="17" name="Freeform 17"/>
            <p:cNvSpPr/>
            <p:nvPr/>
          </p:nvSpPr>
          <p:spPr>
            <a:xfrm>
              <a:off x="0" y="0"/>
              <a:ext cx="9601200" cy="1188720"/>
            </a:xfrm>
            <a:custGeom>
              <a:avLst/>
              <a:gdLst/>
              <a:ahLst/>
              <a:cxnLst/>
              <a:rect l="l" t="t" r="r" b="b"/>
              <a:pathLst>
                <a:path w="9601200" h="1188720">
                  <a:moveTo>
                    <a:pt x="0" y="0"/>
                  </a:moveTo>
                  <a:lnTo>
                    <a:pt x="9601200" y="0"/>
                  </a:lnTo>
                  <a:lnTo>
                    <a:pt x="9601200" y="1188720"/>
                  </a:lnTo>
                  <a:lnTo>
                    <a:pt x="0" y="1188720"/>
                  </a:lnTo>
                  <a:close/>
                </a:path>
              </a:pathLst>
            </a:custGeom>
            <a:blipFill>
              <a:blip r:embed="rId3">
                <a:alphaModFix amt="0"/>
              </a:blip>
              <a:stretch>
                <a:fillRect t="-107379" b="-107379"/>
              </a:stretch>
            </a:blipFill>
          </p:spPr>
        </p:sp>
        <p:sp>
          <p:nvSpPr>
            <p:cNvPr id="18" name="TextBox 18"/>
            <p:cNvSpPr txBox="1"/>
            <p:nvPr/>
          </p:nvSpPr>
          <p:spPr>
            <a:xfrm>
              <a:off x="0" y="-38100"/>
              <a:ext cx="9601200" cy="1226820"/>
            </a:xfrm>
            <a:prstGeom prst="rect">
              <a:avLst/>
            </a:prstGeom>
          </p:spPr>
          <p:txBody>
            <a:bodyPr lIns="0" tIns="0" rIns="0" bIns="0" rtlCol="0" anchor="ctr"/>
            <a:lstStyle/>
            <a:p>
              <a:pPr algn="l">
                <a:lnSpc>
                  <a:spcPts val="2160"/>
                </a:lnSpc>
              </a:pPr>
              <a:r>
                <a:rPr lang="en-US" sz="1800" i="1">
                  <a:solidFill>
                    <a:srgbClr val="555555"/>
                  </a:solidFill>
                  <a:latin typeface="Calibri (MS) Italics"/>
                  <a:ea typeface="Calibri (MS) Italics"/>
                  <a:cs typeface="Calibri (MS) Italics"/>
                  <a:sym typeface="Calibri (MS) Italics"/>
                </a:rPr>
                <a:t>A creator opens their analytics page and asks for a summary of their whole catalogue.</a:t>
              </a:r>
            </a:p>
          </p:txBody>
        </p:sp>
      </p:grpSp>
      <p:grpSp>
        <p:nvGrpSpPr>
          <p:cNvPr id="19" name="Group 19"/>
          <p:cNvGrpSpPr/>
          <p:nvPr/>
        </p:nvGrpSpPr>
        <p:grpSpPr>
          <a:xfrm>
            <a:off x="1234440" y="5212080"/>
            <a:ext cx="7200900" cy="3154680"/>
            <a:chOff x="0" y="0"/>
            <a:chExt cx="9601200" cy="4206240"/>
          </a:xfrm>
        </p:grpSpPr>
        <p:sp>
          <p:nvSpPr>
            <p:cNvPr id="20" name="Freeform 20"/>
            <p:cNvSpPr/>
            <p:nvPr/>
          </p:nvSpPr>
          <p:spPr>
            <a:xfrm>
              <a:off x="0" y="0"/>
              <a:ext cx="9601200" cy="4206240"/>
            </a:xfrm>
            <a:custGeom>
              <a:avLst/>
              <a:gdLst/>
              <a:ahLst/>
              <a:cxnLst/>
              <a:rect l="l" t="t" r="r" b="b"/>
              <a:pathLst>
                <a:path w="9601200" h="4206240">
                  <a:moveTo>
                    <a:pt x="0" y="0"/>
                  </a:moveTo>
                  <a:lnTo>
                    <a:pt x="9601200" y="0"/>
                  </a:lnTo>
                  <a:lnTo>
                    <a:pt x="9601200" y="4206240"/>
                  </a:lnTo>
                  <a:lnTo>
                    <a:pt x="0" y="4206240"/>
                  </a:lnTo>
                  <a:close/>
                </a:path>
              </a:pathLst>
            </a:custGeom>
            <a:blipFill>
              <a:blip r:embed="rId3">
                <a:alphaModFix amt="0"/>
              </a:blip>
              <a:stretch>
                <a:fillRect l="-6209" r="-6209"/>
              </a:stretch>
            </a:blipFill>
          </p:spPr>
        </p:sp>
        <p:sp>
          <p:nvSpPr>
            <p:cNvPr id="21" name="TextBox 21"/>
            <p:cNvSpPr txBox="1"/>
            <p:nvPr/>
          </p:nvSpPr>
          <p:spPr>
            <a:xfrm>
              <a:off x="0" y="-38100"/>
              <a:ext cx="9601200" cy="4244340"/>
            </a:xfrm>
            <a:prstGeom prst="rect">
              <a:avLst/>
            </a:prstGeom>
          </p:spPr>
          <p:txBody>
            <a:bodyPr lIns="0" tIns="0" rIns="0" bIns="0" rtlCol="0" anchor="ctr"/>
            <a:lstStyle/>
            <a:p>
              <a:pPr marL="325755" lvl="1" indent="-162878" algn="l">
                <a:lnSpc>
                  <a:spcPts val="2160"/>
                </a:lnSpc>
                <a:buFont typeface="Arial"/>
                <a:buChar char="•"/>
              </a:pPr>
              <a:r>
                <a:rPr lang="en-US" sz="1800">
                  <a:solidFill>
                    <a:srgbClr val="555555"/>
                  </a:solidFill>
                  <a:latin typeface="Calibri (MS)"/>
                  <a:ea typeface="Calibri (MS)"/>
                  <a:cs typeface="Calibri (MS)"/>
                  <a:sym typeface="Calibri (MS)"/>
                </a:rPr>
                <a:t>Cursor walks every post belonging to that user</a:t>
              </a:r>
            </a:p>
            <a:p>
              <a:pPr marL="325755" lvl="1" indent="-162878" algn="l">
                <a:lnSpc>
                  <a:spcPts val="2160"/>
                </a:lnSpc>
                <a:buFont typeface="Arial"/>
                <a:buChar char="•"/>
              </a:pPr>
              <a:r>
                <a:rPr lang="en-US" sz="1800">
                  <a:solidFill>
                    <a:srgbClr val="555555"/>
                  </a:solidFill>
                  <a:latin typeface="Calibri (MS)"/>
                  <a:ea typeface="Calibri (MS)"/>
                  <a:cs typeface="Calibri (MS)"/>
                  <a:sym typeface="Calibri (MS)"/>
                </a:rPr>
                <a:t>Scores each with CalculatePostEngagement, keeps a running total and best post</a:t>
              </a:r>
            </a:p>
            <a:p>
              <a:pPr marL="325755" lvl="1" indent="-162878" algn="l">
                <a:lnSpc>
                  <a:spcPts val="2160"/>
                </a:lnSpc>
                <a:buFont typeface="Arial"/>
                <a:buChar char="•"/>
              </a:pPr>
              <a:r>
                <a:rPr lang="en-US" sz="1800">
                  <a:solidFill>
                    <a:srgbClr val="555555"/>
                  </a:solidFill>
                  <a:latin typeface="Calibri (MS)"/>
                  <a:ea typeface="Calibri (MS)"/>
                  <a:cs typeface="Calibri (MS)"/>
                  <a:sym typeface="Calibri (MS)"/>
                </a:rPr>
                <a:t>SIGNAL SQLSTATE '45000' if the user id does not exist</a:t>
              </a:r>
            </a:p>
          </p:txBody>
        </p:sp>
      </p:grpSp>
      <p:grpSp>
        <p:nvGrpSpPr>
          <p:cNvPr id="22" name="Group 22"/>
          <p:cNvGrpSpPr/>
          <p:nvPr/>
        </p:nvGrpSpPr>
        <p:grpSpPr>
          <a:xfrm>
            <a:off x="9385935" y="2939415"/>
            <a:ext cx="8042910" cy="5711190"/>
            <a:chOff x="0" y="0"/>
            <a:chExt cx="10723880" cy="7614920"/>
          </a:xfrm>
        </p:grpSpPr>
        <p:sp>
          <p:nvSpPr>
            <p:cNvPr id="23" name="Freeform 23"/>
            <p:cNvSpPr/>
            <p:nvPr/>
          </p:nvSpPr>
          <p:spPr>
            <a:xfrm>
              <a:off x="0" y="0"/>
              <a:ext cx="10723880" cy="7614920"/>
            </a:xfrm>
            <a:custGeom>
              <a:avLst/>
              <a:gdLst/>
              <a:ahLst/>
              <a:cxnLst/>
              <a:rect l="l" t="t" r="r" b="b"/>
              <a:pathLst>
                <a:path w="10723880" h="7614920">
                  <a:moveTo>
                    <a:pt x="0" y="146812"/>
                  </a:moveTo>
                  <a:cubicBezTo>
                    <a:pt x="0" y="65786"/>
                    <a:pt x="65786" y="0"/>
                    <a:pt x="146812" y="0"/>
                  </a:cubicBezTo>
                  <a:lnTo>
                    <a:pt x="10577068" y="0"/>
                  </a:lnTo>
                  <a:cubicBezTo>
                    <a:pt x="10658094" y="0"/>
                    <a:pt x="10723880" y="65786"/>
                    <a:pt x="10723880" y="146812"/>
                  </a:cubicBezTo>
                  <a:lnTo>
                    <a:pt x="10723880" y="7468108"/>
                  </a:lnTo>
                  <a:cubicBezTo>
                    <a:pt x="10723880" y="7549134"/>
                    <a:pt x="10658094" y="7614920"/>
                    <a:pt x="10577068" y="7614920"/>
                  </a:cubicBezTo>
                  <a:lnTo>
                    <a:pt x="146812" y="7614920"/>
                  </a:lnTo>
                  <a:cubicBezTo>
                    <a:pt x="65786" y="7614920"/>
                    <a:pt x="0" y="7549134"/>
                    <a:pt x="0" y="7468108"/>
                  </a:cubicBezTo>
                  <a:close/>
                </a:path>
              </a:pathLst>
            </a:custGeom>
            <a:solidFill>
              <a:srgbClr val="F7F8FC"/>
            </a:solidFill>
            <a:ln w="19050" cap="sq">
              <a:solidFill>
                <a:srgbClr val="CADCFC"/>
              </a:solidFill>
              <a:prstDash val="solid"/>
              <a:miter/>
            </a:ln>
          </p:spPr>
        </p:sp>
      </p:grpSp>
      <p:grpSp>
        <p:nvGrpSpPr>
          <p:cNvPr id="24" name="Group 24"/>
          <p:cNvGrpSpPr/>
          <p:nvPr/>
        </p:nvGrpSpPr>
        <p:grpSpPr>
          <a:xfrm>
            <a:off x="9806940" y="3291840"/>
            <a:ext cx="7200900" cy="822960"/>
            <a:chOff x="0" y="0"/>
            <a:chExt cx="9601200" cy="1097280"/>
          </a:xfrm>
        </p:grpSpPr>
        <p:sp>
          <p:nvSpPr>
            <p:cNvPr id="25" name="Freeform 25"/>
            <p:cNvSpPr/>
            <p:nvPr/>
          </p:nvSpPr>
          <p:spPr>
            <a:xfrm>
              <a:off x="0" y="0"/>
              <a:ext cx="9601200" cy="1097280"/>
            </a:xfrm>
            <a:custGeom>
              <a:avLst/>
              <a:gdLst/>
              <a:ahLst/>
              <a:cxnLst/>
              <a:rect l="l" t="t" r="r" b="b"/>
              <a:pathLst>
                <a:path w="9601200" h="1097280">
                  <a:moveTo>
                    <a:pt x="0" y="0"/>
                  </a:moveTo>
                  <a:lnTo>
                    <a:pt x="9601200" y="0"/>
                  </a:lnTo>
                  <a:lnTo>
                    <a:pt x="9601200" y="1097280"/>
                  </a:lnTo>
                  <a:lnTo>
                    <a:pt x="0" y="1097280"/>
                  </a:lnTo>
                  <a:close/>
                </a:path>
              </a:pathLst>
            </a:custGeom>
            <a:blipFill>
              <a:blip r:embed="rId3">
                <a:alphaModFix amt="0"/>
              </a:blip>
              <a:stretch>
                <a:fillRect t="-120494" b="-120494"/>
              </a:stretch>
            </a:blipFill>
          </p:spPr>
        </p:sp>
        <p:sp>
          <p:nvSpPr>
            <p:cNvPr id="26" name="TextBox 26"/>
            <p:cNvSpPr txBox="1"/>
            <p:nvPr/>
          </p:nvSpPr>
          <p:spPr>
            <a:xfrm>
              <a:off x="0" y="-47625"/>
              <a:ext cx="9601200" cy="1144905"/>
            </a:xfrm>
            <a:prstGeom prst="rect">
              <a:avLst/>
            </a:prstGeom>
          </p:spPr>
          <p:txBody>
            <a:bodyPr lIns="0" tIns="0" rIns="0" bIns="0" rtlCol="0" anchor="ctr"/>
            <a:lstStyle/>
            <a:p>
              <a:pPr algn="l">
                <a:lnSpc>
                  <a:spcPts val="2520"/>
                </a:lnSpc>
              </a:pPr>
              <a:r>
                <a:rPr lang="en-US" sz="2100" b="1">
                  <a:solidFill>
                    <a:srgbClr val="1E2761"/>
                  </a:solidFill>
                  <a:latin typeface="Calibri (MS) Bold"/>
                  <a:ea typeface="Calibri (MS) Bold"/>
                  <a:cs typeface="Calibri (MS) Bold"/>
                  <a:sym typeface="Calibri (MS) Bold"/>
                </a:rPr>
                <a:t>GenerateTrendingPostReport(start, end, limit)</a:t>
              </a:r>
            </a:p>
          </p:txBody>
        </p:sp>
      </p:grpSp>
      <p:grpSp>
        <p:nvGrpSpPr>
          <p:cNvPr id="27" name="Group 27"/>
          <p:cNvGrpSpPr/>
          <p:nvPr/>
        </p:nvGrpSpPr>
        <p:grpSpPr>
          <a:xfrm>
            <a:off x="9806940" y="4114800"/>
            <a:ext cx="7200900" cy="891540"/>
            <a:chOff x="0" y="0"/>
            <a:chExt cx="9601200" cy="1188720"/>
          </a:xfrm>
        </p:grpSpPr>
        <p:sp>
          <p:nvSpPr>
            <p:cNvPr id="28" name="Freeform 28"/>
            <p:cNvSpPr/>
            <p:nvPr/>
          </p:nvSpPr>
          <p:spPr>
            <a:xfrm>
              <a:off x="0" y="0"/>
              <a:ext cx="9601200" cy="1188720"/>
            </a:xfrm>
            <a:custGeom>
              <a:avLst/>
              <a:gdLst/>
              <a:ahLst/>
              <a:cxnLst/>
              <a:rect l="l" t="t" r="r" b="b"/>
              <a:pathLst>
                <a:path w="9601200" h="1188720">
                  <a:moveTo>
                    <a:pt x="0" y="0"/>
                  </a:moveTo>
                  <a:lnTo>
                    <a:pt x="9601200" y="0"/>
                  </a:lnTo>
                  <a:lnTo>
                    <a:pt x="9601200" y="1188720"/>
                  </a:lnTo>
                  <a:lnTo>
                    <a:pt x="0" y="1188720"/>
                  </a:lnTo>
                  <a:close/>
                </a:path>
              </a:pathLst>
            </a:custGeom>
            <a:blipFill>
              <a:blip r:embed="rId3">
                <a:alphaModFix amt="0"/>
              </a:blip>
              <a:stretch>
                <a:fillRect t="-107379" b="-107379"/>
              </a:stretch>
            </a:blipFill>
          </p:spPr>
        </p:sp>
        <p:sp>
          <p:nvSpPr>
            <p:cNvPr id="29" name="TextBox 29"/>
            <p:cNvSpPr txBox="1"/>
            <p:nvPr/>
          </p:nvSpPr>
          <p:spPr>
            <a:xfrm>
              <a:off x="0" y="-38100"/>
              <a:ext cx="9601200" cy="1226820"/>
            </a:xfrm>
            <a:prstGeom prst="rect">
              <a:avLst/>
            </a:prstGeom>
          </p:spPr>
          <p:txBody>
            <a:bodyPr lIns="0" tIns="0" rIns="0" bIns="0" rtlCol="0" anchor="ctr"/>
            <a:lstStyle/>
            <a:p>
              <a:pPr algn="l">
                <a:lnSpc>
                  <a:spcPts val="2160"/>
                </a:lnSpc>
              </a:pPr>
              <a:r>
                <a:rPr lang="en-US" sz="1800" i="1">
                  <a:solidFill>
                    <a:srgbClr val="555555"/>
                  </a:solidFill>
                  <a:latin typeface="Calibri (MS) Italics"/>
                  <a:ea typeface="Calibri (MS) Italics"/>
                  <a:cs typeface="Calibri (MS) Italics"/>
                  <a:sym typeface="Calibri (MS) Italics"/>
                </a:rPr>
                <a:t>The editorial team wants the trending list for a chosen week or month.</a:t>
              </a:r>
            </a:p>
          </p:txBody>
        </p:sp>
      </p:grpSp>
      <p:grpSp>
        <p:nvGrpSpPr>
          <p:cNvPr id="30" name="Group 30"/>
          <p:cNvGrpSpPr/>
          <p:nvPr/>
        </p:nvGrpSpPr>
        <p:grpSpPr>
          <a:xfrm>
            <a:off x="9806940" y="5212080"/>
            <a:ext cx="7200900" cy="3154680"/>
            <a:chOff x="0" y="0"/>
            <a:chExt cx="9601200" cy="4206240"/>
          </a:xfrm>
        </p:grpSpPr>
        <p:sp>
          <p:nvSpPr>
            <p:cNvPr id="31" name="Freeform 31"/>
            <p:cNvSpPr/>
            <p:nvPr/>
          </p:nvSpPr>
          <p:spPr>
            <a:xfrm>
              <a:off x="0" y="0"/>
              <a:ext cx="9601200" cy="4206240"/>
            </a:xfrm>
            <a:custGeom>
              <a:avLst/>
              <a:gdLst/>
              <a:ahLst/>
              <a:cxnLst/>
              <a:rect l="l" t="t" r="r" b="b"/>
              <a:pathLst>
                <a:path w="9601200" h="4206240">
                  <a:moveTo>
                    <a:pt x="0" y="0"/>
                  </a:moveTo>
                  <a:lnTo>
                    <a:pt x="9601200" y="0"/>
                  </a:lnTo>
                  <a:lnTo>
                    <a:pt x="9601200" y="4206240"/>
                  </a:lnTo>
                  <a:lnTo>
                    <a:pt x="0" y="4206240"/>
                  </a:lnTo>
                  <a:close/>
                </a:path>
              </a:pathLst>
            </a:custGeom>
            <a:blipFill>
              <a:blip r:embed="rId3">
                <a:alphaModFix amt="0"/>
              </a:blip>
              <a:stretch>
                <a:fillRect l="-6209" r="-6209"/>
              </a:stretch>
            </a:blipFill>
          </p:spPr>
        </p:sp>
        <p:sp>
          <p:nvSpPr>
            <p:cNvPr id="32" name="TextBox 32"/>
            <p:cNvSpPr txBox="1"/>
            <p:nvPr/>
          </p:nvSpPr>
          <p:spPr>
            <a:xfrm>
              <a:off x="0" y="-38100"/>
              <a:ext cx="9601200" cy="4244340"/>
            </a:xfrm>
            <a:prstGeom prst="rect">
              <a:avLst/>
            </a:prstGeom>
          </p:spPr>
          <p:txBody>
            <a:bodyPr lIns="0" tIns="0" rIns="0" bIns="0" rtlCol="0" anchor="ctr"/>
            <a:lstStyle/>
            <a:p>
              <a:pPr marL="325755" lvl="1" indent="-162878" algn="l">
                <a:lnSpc>
                  <a:spcPts val="2160"/>
                </a:lnSpc>
                <a:buFont typeface="Arial"/>
                <a:buChar char="•"/>
              </a:pPr>
              <a:r>
                <a:rPr lang="en-US" sz="1800">
                  <a:solidFill>
                    <a:srgbClr val="555555"/>
                  </a:solidFill>
                  <a:latin typeface="Calibri (MS)"/>
                  <a:ea typeface="Calibri (MS)"/>
                  <a:cs typeface="Calibri (MS)"/>
                  <a:sym typeface="Calibri (MS)"/>
                </a:rPr>
                <a:t>Cursor selects posts with activity in the window — not posts published in it</a:t>
              </a:r>
            </a:p>
            <a:p>
              <a:pPr marL="325755" lvl="1" indent="-162878" algn="l">
                <a:lnSpc>
                  <a:spcPts val="2160"/>
                </a:lnSpc>
                <a:buFont typeface="Arial"/>
                <a:buChar char="•"/>
              </a:pPr>
              <a:r>
                <a:rPr lang="en-US" sz="1800">
                  <a:solidFill>
                    <a:srgbClr val="555555"/>
                  </a:solidFill>
                  <a:latin typeface="Calibri (MS)"/>
                  <a:ea typeface="Calibri (MS)"/>
                  <a:cs typeface="Calibri (MS)"/>
                  <a:sym typeface="Calibri (MS)"/>
                </a:rPr>
                <a:t>Scores each with CalculateWindowEngagement and inserts if it earned any points</a:t>
              </a:r>
            </a:p>
            <a:p>
              <a:pPr marL="325755" lvl="1" indent="-162878" algn="l">
                <a:lnSpc>
                  <a:spcPts val="2160"/>
                </a:lnSpc>
                <a:buFont typeface="Arial"/>
                <a:buChar char="•"/>
              </a:pPr>
              <a:r>
                <a:rPr lang="en-US" sz="1800">
                  <a:solidFill>
                    <a:srgbClr val="555555"/>
                  </a:solidFill>
                  <a:latin typeface="Calibri (MS)"/>
                  <a:ea typeface="Calibri (MS)"/>
                  <a:cs typeface="Calibri (MS)"/>
                  <a:sym typeface="Calibri (MS)"/>
                </a:rPr>
                <a:t>Returns the ranked list with RANK() OVER (ORDER BY points DESC)</a:t>
              </a:r>
            </a:p>
          </p:txBody>
        </p:sp>
      </p:grpSp>
      <p:grpSp>
        <p:nvGrpSpPr>
          <p:cNvPr id="33" name="Group 33"/>
          <p:cNvGrpSpPr/>
          <p:nvPr/>
        </p:nvGrpSpPr>
        <p:grpSpPr>
          <a:xfrm>
            <a:off x="17323308" y="9669780"/>
            <a:ext cx="548640" cy="411480"/>
            <a:chOff x="0" y="0"/>
            <a:chExt cx="731520" cy="548640"/>
          </a:xfrm>
        </p:grpSpPr>
        <p:sp>
          <p:nvSpPr>
            <p:cNvPr id="34" name="Freeform 34"/>
            <p:cNvSpPr/>
            <p:nvPr/>
          </p:nvSpPr>
          <p:spPr>
            <a:xfrm>
              <a:off x="0" y="0"/>
              <a:ext cx="731520" cy="548640"/>
            </a:xfrm>
            <a:custGeom>
              <a:avLst/>
              <a:gdLst/>
              <a:ahLst/>
              <a:cxnLst/>
              <a:rect l="l" t="t" r="r" b="b"/>
              <a:pathLst>
                <a:path w="731520" h="548640">
                  <a:moveTo>
                    <a:pt x="0" y="0"/>
                  </a:moveTo>
                  <a:lnTo>
                    <a:pt x="731520" y="0"/>
                  </a:lnTo>
                  <a:lnTo>
                    <a:pt x="731520" y="548640"/>
                  </a:lnTo>
                  <a:lnTo>
                    <a:pt x="0" y="548640"/>
                  </a:lnTo>
                  <a:close/>
                </a:path>
              </a:pathLst>
            </a:custGeom>
            <a:blipFill>
              <a:blip r:embed="rId3">
                <a:alphaModFix amt="0"/>
              </a:blip>
              <a:stretch>
                <a:fillRect l="-46227" r="-46227"/>
              </a:stretch>
            </a:blipFill>
          </p:spPr>
        </p:sp>
        <p:sp>
          <p:nvSpPr>
            <p:cNvPr id="35" name="TextBox 35"/>
            <p:cNvSpPr txBox="1"/>
            <p:nvPr/>
          </p:nvSpPr>
          <p:spPr>
            <a:xfrm>
              <a:off x="0" y="-38100"/>
              <a:ext cx="731520" cy="586740"/>
            </a:xfrm>
            <a:prstGeom prst="rect">
              <a:avLst/>
            </a:prstGeom>
          </p:spPr>
          <p:txBody>
            <a:bodyPr lIns="0" tIns="0" rIns="0" bIns="0" rtlCol="0" anchor="ctr"/>
            <a:lstStyle/>
            <a:p>
              <a:pPr algn="r">
                <a:lnSpc>
                  <a:spcPts val="1800"/>
                </a:lnSpc>
              </a:pPr>
              <a:r>
                <a:rPr lang="en-US" sz="1500">
                  <a:solidFill>
                    <a:srgbClr val="999999"/>
                  </a:solidFill>
                  <a:latin typeface="Calibri (MS)"/>
                  <a:ea typeface="Calibri (MS)"/>
                  <a:cs typeface="Calibri (MS)"/>
                  <a:sym typeface="Calibri (MS)"/>
                </a:rPr>
                <a:t>7</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22960" y="548640"/>
            <a:ext cx="10972800" cy="411480"/>
            <a:chOff x="0" y="0"/>
            <a:chExt cx="14630400" cy="548640"/>
          </a:xfrm>
        </p:grpSpPr>
        <p:sp>
          <p:nvSpPr>
            <p:cNvPr id="3" name="Freeform 3"/>
            <p:cNvSpPr/>
            <p:nvPr/>
          </p:nvSpPr>
          <p:spPr>
            <a:xfrm>
              <a:off x="0" y="0"/>
              <a:ext cx="14630400" cy="548640"/>
            </a:xfrm>
            <a:custGeom>
              <a:avLst/>
              <a:gdLst/>
              <a:ahLst/>
              <a:cxnLst/>
              <a:rect l="l" t="t" r="r" b="b"/>
              <a:pathLst>
                <a:path w="14630400" h="548640">
                  <a:moveTo>
                    <a:pt x="0" y="0"/>
                  </a:moveTo>
                  <a:lnTo>
                    <a:pt x="14630400" y="0"/>
                  </a:lnTo>
                  <a:lnTo>
                    <a:pt x="14630400" y="548640"/>
                  </a:lnTo>
                  <a:lnTo>
                    <a:pt x="0" y="548640"/>
                  </a:lnTo>
                  <a:close/>
                </a:path>
              </a:pathLst>
            </a:custGeom>
            <a:blipFill>
              <a:blip r:embed="rId3">
                <a:alphaModFix amt="0"/>
              </a:blip>
              <a:stretch>
                <a:fillRect t="-469601" b="-469601"/>
              </a:stretch>
            </a:blipFill>
          </p:spPr>
        </p:sp>
        <p:sp>
          <p:nvSpPr>
            <p:cNvPr id="4" name="TextBox 4"/>
            <p:cNvSpPr txBox="1"/>
            <p:nvPr/>
          </p:nvSpPr>
          <p:spPr>
            <a:xfrm>
              <a:off x="0" y="-38100"/>
              <a:ext cx="14630400" cy="586740"/>
            </a:xfrm>
            <a:prstGeom prst="rect">
              <a:avLst/>
            </a:prstGeom>
          </p:spPr>
          <p:txBody>
            <a:bodyPr lIns="0" tIns="0" rIns="0" bIns="0" rtlCol="0" anchor="ctr"/>
            <a:lstStyle/>
            <a:p>
              <a:pPr algn="l">
                <a:lnSpc>
                  <a:spcPts val="2160"/>
                </a:lnSpc>
              </a:pPr>
              <a:r>
                <a:rPr lang="en-US" sz="1800" b="1" spc="300">
                  <a:solidFill>
                    <a:srgbClr val="1E2761"/>
                  </a:solidFill>
                  <a:latin typeface="Calibri (MS) Bold"/>
                  <a:ea typeface="Calibri (MS) Bold"/>
                  <a:cs typeface="Calibri (MS) Bold"/>
                  <a:sym typeface="Calibri (MS) Bold"/>
                </a:rPr>
                <a:t>AUTOMATED RULES</a:t>
              </a:r>
            </a:p>
          </p:txBody>
        </p:sp>
      </p:grpSp>
      <p:grpSp>
        <p:nvGrpSpPr>
          <p:cNvPr id="5" name="Group 5"/>
          <p:cNvGrpSpPr/>
          <p:nvPr/>
        </p:nvGrpSpPr>
        <p:grpSpPr>
          <a:xfrm>
            <a:off x="822960" y="932688"/>
            <a:ext cx="16637508" cy="960120"/>
            <a:chOff x="0" y="0"/>
            <a:chExt cx="22183344" cy="1280160"/>
          </a:xfrm>
        </p:grpSpPr>
        <p:sp>
          <p:nvSpPr>
            <p:cNvPr id="6" name="Freeform 6"/>
            <p:cNvSpPr/>
            <p:nvPr/>
          </p:nvSpPr>
          <p:spPr>
            <a:xfrm>
              <a:off x="0" y="0"/>
              <a:ext cx="22183344" cy="1280160"/>
            </a:xfrm>
            <a:custGeom>
              <a:avLst/>
              <a:gdLst/>
              <a:ahLst/>
              <a:cxnLst/>
              <a:rect l="l" t="t" r="r" b="b"/>
              <a:pathLst>
                <a:path w="22183344" h="1280160">
                  <a:moveTo>
                    <a:pt x="0" y="0"/>
                  </a:moveTo>
                  <a:lnTo>
                    <a:pt x="22183344" y="0"/>
                  </a:lnTo>
                  <a:lnTo>
                    <a:pt x="22183344" y="1280160"/>
                  </a:lnTo>
                  <a:lnTo>
                    <a:pt x="0" y="1280160"/>
                  </a:lnTo>
                  <a:close/>
                </a:path>
              </a:pathLst>
            </a:custGeom>
            <a:blipFill>
              <a:blip r:embed="rId3">
                <a:alphaModFix amt="0"/>
              </a:blip>
              <a:stretch>
                <a:fillRect t="-287647" b="-287647"/>
              </a:stretch>
            </a:blipFill>
          </p:spPr>
        </p:sp>
        <p:sp>
          <p:nvSpPr>
            <p:cNvPr id="7" name="TextBox 7"/>
            <p:cNvSpPr txBox="1"/>
            <p:nvPr/>
          </p:nvSpPr>
          <p:spPr>
            <a:xfrm>
              <a:off x="0" y="-9525"/>
              <a:ext cx="22183344" cy="1289685"/>
            </a:xfrm>
            <a:prstGeom prst="rect">
              <a:avLst/>
            </a:prstGeom>
          </p:spPr>
          <p:txBody>
            <a:bodyPr lIns="0" tIns="0" rIns="0" bIns="0" rtlCol="0" anchor="ctr"/>
            <a:lstStyle/>
            <a:p>
              <a:pPr algn="l">
                <a:lnSpc>
                  <a:spcPts val="5759"/>
                </a:lnSpc>
              </a:pPr>
              <a:r>
                <a:rPr lang="en-US" sz="4800" b="1">
                  <a:solidFill>
                    <a:srgbClr val="141B47"/>
                  </a:solidFill>
                  <a:latin typeface="Cambria Bold"/>
                  <a:ea typeface="Cambria Bold"/>
                  <a:cs typeface="Cambria Bold"/>
                  <a:sym typeface="Cambria Bold"/>
                </a:rPr>
                <a:t>Triggers</a:t>
              </a:r>
            </a:p>
          </p:txBody>
        </p:sp>
      </p:grpSp>
      <p:grpSp>
        <p:nvGrpSpPr>
          <p:cNvPr id="8" name="Group 8"/>
          <p:cNvGrpSpPr/>
          <p:nvPr/>
        </p:nvGrpSpPr>
        <p:grpSpPr>
          <a:xfrm>
            <a:off x="822960" y="2057400"/>
            <a:ext cx="16637508" cy="548640"/>
            <a:chOff x="0" y="0"/>
            <a:chExt cx="22183344" cy="731520"/>
          </a:xfrm>
        </p:grpSpPr>
        <p:sp>
          <p:nvSpPr>
            <p:cNvPr id="9" name="Freeform 9"/>
            <p:cNvSpPr/>
            <p:nvPr/>
          </p:nvSpPr>
          <p:spPr>
            <a:xfrm>
              <a:off x="0" y="0"/>
              <a:ext cx="22183344" cy="731520"/>
            </a:xfrm>
            <a:custGeom>
              <a:avLst/>
              <a:gdLst/>
              <a:ahLst/>
              <a:cxnLst/>
              <a:rect l="l" t="t" r="r" b="b"/>
              <a:pathLst>
                <a:path w="22183344" h="731520">
                  <a:moveTo>
                    <a:pt x="0" y="0"/>
                  </a:moveTo>
                  <a:lnTo>
                    <a:pt x="22183344" y="0"/>
                  </a:lnTo>
                  <a:lnTo>
                    <a:pt x="22183344" y="731520"/>
                  </a:lnTo>
                  <a:lnTo>
                    <a:pt x="0" y="731520"/>
                  </a:lnTo>
                  <a:close/>
                </a:path>
              </a:pathLst>
            </a:custGeom>
            <a:blipFill>
              <a:blip r:embed="rId3">
                <a:alphaModFix amt="0"/>
              </a:blip>
              <a:stretch>
                <a:fillRect t="-540883" b="-540883"/>
              </a:stretch>
            </a:blipFill>
          </p:spPr>
        </p:sp>
        <p:sp>
          <p:nvSpPr>
            <p:cNvPr id="10" name="TextBox 10"/>
            <p:cNvSpPr txBox="1"/>
            <p:nvPr/>
          </p:nvSpPr>
          <p:spPr>
            <a:xfrm>
              <a:off x="0" y="-47625"/>
              <a:ext cx="22183344" cy="779145"/>
            </a:xfrm>
            <a:prstGeom prst="rect">
              <a:avLst/>
            </a:prstGeom>
          </p:spPr>
          <p:txBody>
            <a:bodyPr lIns="0" tIns="0" rIns="0" bIns="0" rtlCol="0" anchor="ctr"/>
            <a:lstStyle/>
            <a:p>
              <a:pPr algn="l">
                <a:lnSpc>
                  <a:spcPts val="2520"/>
                </a:lnSpc>
              </a:pPr>
              <a:r>
                <a:rPr lang="en-US" sz="2100" i="1">
                  <a:solidFill>
                    <a:srgbClr val="555555"/>
                  </a:solidFill>
                  <a:latin typeface="Calibri (MS) Italics"/>
                  <a:ea typeface="Calibri (MS) Italics"/>
                  <a:cs typeface="Calibri (MS) Italics"/>
                  <a:sym typeface="Calibri (MS) Italics"/>
                </a:rPr>
                <a:t>Triggers automatically enforce business rules and record database events.</a:t>
              </a:r>
            </a:p>
          </p:txBody>
        </p:sp>
      </p:grpSp>
      <p:graphicFrame>
        <p:nvGraphicFramePr>
          <p:cNvPr id="11" name="Table 11"/>
          <p:cNvGraphicFramePr>
            <a:graphicFrameLocks noGrp="1"/>
          </p:cNvGraphicFramePr>
          <p:nvPr/>
        </p:nvGraphicFramePr>
        <p:xfrm>
          <a:off x="822960" y="2948940"/>
          <a:ext cx="16059150" cy="4724400"/>
        </p:xfrm>
        <a:graphic>
          <a:graphicData uri="http://schemas.openxmlformats.org/drawingml/2006/table">
            <a:tbl>
              <a:tblPr/>
              <a:tblGrid>
                <a:gridCol w="3980047">
                  <a:extLst>
                    <a:ext uri="{9D8B030D-6E8A-4147-A177-3AD203B41FA5}">
                      <a16:colId xmlns:a16="http://schemas.microsoft.com/office/drawing/2014/main" val="20000"/>
                    </a:ext>
                  </a:extLst>
                </a:gridCol>
                <a:gridCol w="4115988">
                  <a:extLst>
                    <a:ext uri="{9D8B030D-6E8A-4147-A177-3AD203B41FA5}">
                      <a16:colId xmlns:a16="http://schemas.microsoft.com/office/drawing/2014/main" val="20001"/>
                    </a:ext>
                  </a:extLst>
                </a:gridCol>
                <a:gridCol w="7963115">
                  <a:extLst>
                    <a:ext uri="{9D8B030D-6E8A-4147-A177-3AD203B41FA5}">
                      <a16:colId xmlns:a16="http://schemas.microsoft.com/office/drawing/2014/main" val="20002"/>
                    </a:ext>
                  </a:extLst>
                </a:gridCol>
              </a:tblGrid>
              <a:tr h="633851">
                <a:tc>
                  <a:txBody>
                    <a:bodyPr/>
                    <a:lstStyle/>
                    <a:p>
                      <a:pPr algn="l">
                        <a:lnSpc>
                          <a:spcPts val="2250"/>
                        </a:lnSpc>
                        <a:defRPr/>
                      </a:pPr>
                      <a:r>
                        <a:rPr lang="en-US" sz="1875" b="1">
                          <a:solidFill>
                            <a:srgbClr val="FFFFFF"/>
                          </a:solidFill>
                          <a:latin typeface="Calibri (MS) Bold"/>
                          <a:ea typeface="Calibri (MS) Bold"/>
                          <a:cs typeface="Calibri (MS) Bold"/>
                          <a:sym typeface="Calibri (MS) Bold"/>
                        </a:rPr>
                        <a:t>Trigger</a:t>
                      </a:r>
                      <a:endParaRPr lang="en-US" sz="1100"/>
                    </a:p>
                  </a:txBody>
                  <a:tcPr marT="91440" marB="91440" anchor="ctr">
                    <a:lnL w="12700" cap="flat" cmpd="sng" algn="ctr">
                      <a:solidFill>
                        <a:srgbClr val="E8E8E8"/>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rgbClr val="E8E8E8"/>
                      </a:solidFill>
                      <a:prstDash val="solid"/>
                      <a:round/>
                      <a:headEnd type="none" w="med" len="med"/>
                      <a:tailEnd type="none" w="med" len="med"/>
                    </a:lnT>
                    <a:lnB w="12700" cap="flat" cmpd="sng" algn="ctr">
                      <a:solidFill>
                        <a:srgbClr val="E8E8E8"/>
                      </a:solidFill>
                      <a:prstDash val="solid"/>
                      <a:round/>
                      <a:headEnd type="none" w="med" len="med"/>
                      <a:tailEnd type="none" w="med" len="med"/>
                    </a:lnB>
                    <a:solidFill>
                      <a:srgbClr val="1E2761"/>
                    </a:solidFill>
                  </a:tcPr>
                </a:tc>
                <a:tc>
                  <a:txBody>
                    <a:bodyPr/>
                    <a:lstStyle/>
                    <a:p>
                      <a:pPr algn="l">
                        <a:lnSpc>
                          <a:spcPts val="2250"/>
                        </a:lnSpc>
                        <a:defRPr/>
                      </a:pPr>
                      <a:r>
                        <a:rPr lang="en-US" sz="1875" b="1">
                          <a:solidFill>
                            <a:srgbClr val="FFFFFF"/>
                          </a:solidFill>
                          <a:latin typeface="Calibri (MS) Bold"/>
                          <a:ea typeface="Calibri (MS) Bold"/>
                          <a:cs typeface="Calibri (MS) Bold"/>
                          <a:sym typeface="Calibri (MS) Bold"/>
                        </a:rPr>
                        <a:t>Fires On</a:t>
                      </a:r>
                      <a:endParaRPr lang="en-US" sz="1100"/>
                    </a:p>
                  </a:txBody>
                  <a:tcPr marT="91440" marB="91440" anchor="ctr">
                    <a:lnL w="12700" cap="flat" cmpd="sng" algn="ctr">
                      <a:solidFill>
                        <a:srgbClr val="E8E8E8"/>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rgbClr val="E8E8E8"/>
                      </a:solidFill>
                      <a:prstDash val="solid"/>
                      <a:round/>
                      <a:headEnd type="none" w="med" len="med"/>
                      <a:tailEnd type="none" w="med" len="med"/>
                    </a:lnT>
                    <a:lnB w="12700" cap="flat" cmpd="sng" algn="ctr">
                      <a:solidFill>
                        <a:srgbClr val="E8E8E8"/>
                      </a:solidFill>
                      <a:prstDash val="solid"/>
                      <a:round/>
                      <a:headEnd type="none" w="med" len="med"/>
                      <a:tailEnd type="none" w="med" len="med"/>
                    </a:lnB>
                    <a:solidFill>
                      <a:srgbClr val="1E2761"/>
                    </a:solidFill>
                  </a:tcPr>
                </a:tc>
                <a:tc>
                  <a:txBody>
                    <a:bodyPr/>
                    <a:lstStyle/>
                    <a:p>
                      <a:pPr algn="l">
                        <a:lnSpc>
                          <a:spcPts val="2250"/>
                        </a:lnSpc>
                        <a:defRPr/>
                      </a:pPr>
                      <a:r>
                        <a:rPr lang="en-US" sz="1875" b="1">
                          <a:solidFill>
                            <a:srgbClr val="FFFFFF"/>
                          </a:solidFill>
                          <a:latin typeface="Calibri (MS) Bold"/>
                          <a:ea typeface="Calibri (MS) Bold"/>
                          <a:cs typeface="Calibri (MS) Bold"/>
                          <a:sym typeface="Calibri (MS) Bold"/>
                        </a:rPr>
                        <a:t>Purpose</a:t>
                      </a:r>
                      <a:endParaRPr lang="en-US" sz="1100"/>
                    </a:p>
                  </a:txBody>
                  <a:tcPr marT="91440" marB="91440" anchor="ctr">
                    <a:lnL w="12700" cap="flat" cmpd="sng" algn="ctr">
                      <a:solidFill>
                        <a:srgbClr val="E8E8E8"/>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rgbClr val="E8E8E8"/>
                      </a:solidFill>
                      <a:prstDash val="solid"/>
                      <a:round/>
                      <a:headEnd type="none" w="med" len="med"/>
                      <a:tailEnd type="none" w="med" len="med"/>
                    </a:lnT>
                    <a:lnB w="12700" cap="flat" cmpd="sng" algn="ctr">
                      <a:solidFill>
                        <a:srgbClr val="E8E8E8"/>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1363516">
                <a:tc>
                  <a:txBody>
                    <a:bodyPr/>
                    <a:lstStyle/>
                    <a:p>
                      <a:pPr algn="l">
                        <a:lnSpc>
                          <a:spcPts val="2070"/>
                        </a:lnSpc>
                        <a:defRPr/>
                      </a:pPr>
                      <a:r>
                        <a:rPr lang="en-US" sz="1725" b="1">
                          <a:solidFill>
                            <a:srgbClr val="141B47"/>
                          </a:solidFill>
                          <a:latin typeface="Courier New Bold"/>
                          <a:ea typeface="Courier New Bold"/>
                          <a:cs typeface="Courier New Bold"/>
                          <a:sym typeface="Courier New Bold"/>
                        </a:rPr>
                        <a:t>trg_no_self_engagement</a:t>
                      </a:r>
                      <a:endParaRPr lang="en-US" sz="1100"/>
                    </a:p>
                  </a:txBody>
                  <a:tcPr marT="91440" marB="91440" anchor="ctr">
                    <a:lnL w="12700" cap="flat" cmpd="sng" algn="ctr">
                      <a:solidFill>
                        <a:srgbClr val="E8E8E8"/>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rgbClr val="E8E8E8"/>
                      </a:solidFill>
                      <a:prstDash val="solid"/>
                      <a:round/>
                      <a:headEnd type="none" w="med" len="med"/>
                      <a:tailEnd type="none" w="med" len="med"/>
                    </a:lnT>
                    <a:lnB w="12700" cap="flat" cmpd="sng" algn="ctr">
                      <a:solidFill>
                        <a:srgbClr val="E8E8E8"/>
                      </a:solidFill>
                      <a:prstDash val="solid"/>
                      <a:round/>
                      <a:headEnd type="none" w="med" len="med"/>
                      <a:tailEnd type="none" w="med" len="med"/>
                    </a:lnB>
                  </a:tcPr>
                </a:tc>
                <a:tc>
                  <a:txBody>
                    <a:bodyPr/>
                    <a:lstStyle/>
                    <a:p>
                      <a:pPr algn="l">
                        <a:lnSpc>
                          <a:spcPts val="2070"/>
                        </a:lnSpc>
                        <a:defRPr/>
                      </a:pPr>
                      <a:r>
                        <a:rPr lang="en-US" sz="1725">
                          <a:solidFill>
                            <a:srgbClr val="555555"/>
                          </a:solidFill>
                          <a:latin typeface="Courier New"/>
                          <a:ea typeface="Courier New"/>
                          <a:cs typeface="Courier New"/>
                          <a:sym typeface="Courier New"/>
                        </a:rPr>
                        <a:t>BEFORE INSERT ON interactions</a:t>
                      </a:r>
                      <a:endParaRPr lang="en-US" sz="1100"/>
                    </a:p>
                  </a:txBody>
                  <a:tcPr marT="91440" marB="91440" anchor="ctr">
                    <a:lnL w="12700" cap="flat" cmpd="sng" algn="ctr">
                      <a:solidFill>
                        <a:srgbClr val="E8E8E8"/>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rgbClr val="E8E8E8"/>
                      </a:solidFill>
                      <a:prstDash val="solid"/>
                      <a:round/>
                      <a:headEnd type="none" w="med" len="med"/>
                      <a:tailEnd type="none" w="med" len="med"/>
                    </a:lnT>
                    <a:lnB w="12700" cap="flat" cmpd="sng" algn="ctr">
                      <a:solidFill>
                        <a:srgbClr val="E8E8E8"/>
                      </a:solidFill>
                      <a:prstDash val="solid"/>
                      <a:round/>
                      <a:headEnd type="none" w="med" len="med"/>
                      <a:tailEnd type="none" w="med" len="med"/>
                    </a:lnB>
                  </a:tcPr>
                </a:tc>
                <a:tc>
                  <a:txBody>
                    <a:bodyPr/>
                    <a:lstStyle/>
                    <a:p>
                      <a:pPr algn="l">
                        <a:lnSpc>
                          <a:spcPts val="2250"/>
                        </a:lnSpc>
                        <a:defRPr/>
                      </a:pPr>
                      <a:r>
                        <a:rPr lang="en-US" sz="1875">
                          <a:solidFill>
                            <a:srgbClr val="555555"/>
                          </a:solidFill>
                          <a:latin typeface="Calibri (MS)"/>
                          <a:ea typeface="Calibri (MS)"/>
                          <a:cs typeface="Calibri (MS)"/>
                          <a:sym typeface="Calibri (MS)"/>
                        </a:rPr>
                        <a:t>Integrity — rejects a user liking, saving, sharing or viewing their own post</a:t>
                      </a:r>
                      <a:endParaRPr lang="en-US" sz="1100"/>
                    </a:p>
                  </a:txBody>
                  <a:tcPr marT="91440" marB="91440" anchor="ctr">
                    <a:lnL w="12700" cap="flat" cmpd="sng" algn="ctr">
                      <a:solidFill>
                        <a:srgbClr val="E8E8E8"/>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rgbClr val="E8E8E8"/>
                      </a:solidFill>
                      <a:prstDash val="solid"/>
                      <a:round/>
                      <a:headEnd type="none" w="med" len="med"/>
                      <a:tailEnd type="none" w="med" len="med"/>
                    </a:lnT>
                    <a:lnB w="12700" cap="flat" cmpd="sng" algn="ctr">
                      <a:solidFill>
                        <a:srgbClr val="E8E8E8"/>
                      </a:solidFill>
                      <a:prstDash val="solid"/>
                      <a:round/>
                      <a:headEnd type="none" w="med" len="med"/>
                      <a:tailEnd type="none" w="med" len="med"/>
                    </a:lnB>
                  </a:tcPr>
                </a:tc>
                <a:extLst>
                  <a:ext uri="{0D108BD9-81ED-4DB2-BD59-A6C34878D82A}">
                    <a16:rowId xmlns:a16="http://schemas.microsoft.com/office/drawing/2014/main" val="10001"/>
                  </a:ext>
                </a:extLst>
              </a:tr>
              <a:tr h="1363516">
                <a:tc>
                  <a:txBody>
                    <a:bodyPr/>
                    <a:lstStyle/>
                    <a:p>
                      <a:pPr algn="l">
                        <a:lnSpc>
                          <a:spcPts val="2070"/>
                        </a:lnSpc>
                        <a:defRPr/>
                      </a:pPr>
                      <a:r>
                        <a:rPr lang="en-US" sz="1725" b="1">
                          <a:solidFill>
                            <a:srgbClr val="141B47"/>
                          </a:solidFill>
                          <a:latin typeface="Courier New Bold"/>
                          <a:ea typeface="Courier New Bold"/>
                          <a:cs typeface="Courier New Bold"/>
                          <a:sym typeface="Courier New Bold"/>
                        </a:rPr>
                        <a:t>trg_interaction_audit</a:t>
                      </a:r>
                      <a:endParaRPr lang="en-US" sz="1100"/>
                    </a:p>
                  </a:txBody>
                  <a:tcPr marT="91440" marB="91440" anchor="ctr">
                    <a:lnL w="12700" cap="flat" cmpd="sng" algn="ctr">
                      <a:solidFill>
                        <a:srgbClr val="E8E8E8"/>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rgbClr val="E8E8E8"/>
                      </a:solidFill>
                      <a:prstDash val="solid"/>
                      <a:round/>
                      <a:headEnd type="none" w="med" len="med"/>
                      <a:tailEnd type="none" w="med" len="med"/>
                    </a:lnT>
                    <a:lnB w="12700" cap="flat" cmpd="sng" algn="ctr">
                      <a:solidFill>
                        <a:srgbClr val="E8E8E8"/>
                      </a:solidFill>
                      <a:prstDash val="solid"/>
                      <a:round/>
                      <a:headEnd type="none" w="med" len="med"/>
                      <a:tailEnd type="none" w="med" len="med"/>
                    </a:lnB>
                  </a:tcPr>
                </a:tc>
                <a:tc>
                  <a:txBody>
                    <a:bodyPr/>
                    <a:lstStyle/>
                    <a:p>
                      <a:pPr algn="l">
                        <a:lnSpc>
                          <a:spcPts val="2070"/>
                        </a:lnSpc>
                        <a:defRPr/>
                      </a:pPr>
                      <a:r>
                        <a:rPr lang="en-US" sz="1725">
                          <a:solidFill>
                            <a:srgbClr val="555555"/>
                          </a:solidFill>
                          <a:latin typeface="Courier New"/>
                          <a:ea typeface="Courier New"/>
                          <a:cs typeface="Courier New"/>
                          <a:sym typeface="Courier New"/>
                        </a:rPr>
                        <a:t>AFTER INSERT ON interactions</a:t>
                      </a:r>
                      <a:endParaRPr lang="en-US" sz="1100"/>
                    </a:p>
                  </a:txBody>
                  <a:tcPr marT="91440" marB="91440" anchor="ctr">
                    <a:lnL w="12700" cap="flat" cmpd="sng" algn="ctr">
                      <a:solidFill>
                        <a:srgbClr val="E8E8E8"/>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rgbClr val="E8E8E8"/>
                      </a:solidFill>
                      <a:prstDash val="solid"/>
                      <a:round/>
                      <a:headEnd type="none" w="med" len="med"/>
                      <a:tailEnd type="none" w="med" len="med"/>
                    </a:lnT>
                    <a:lnB w="12700" cap="flat" cmpd="sng" algn="ctr">
                      <a:solidFill>
                        <a:srgbClr val="E8E8E8"/>
                      </a:solidFill>
                      <a:prstDash val="solid"/>
                      <a:round/>
                      <a:headEnd type="none" w="med" len="med"/>
                      <a:tailEnd type="none" w="med" len="med"/>
                    </a:lnB>
                  </a:tcPr>
                </a:tc>
                <a:tc>
                  <a:txBody>
                    <a:bodyPr/>
                    <a:lstStyle/>
                    <a:p>
                      <a:pPr algn="l">
                        <a:lnSpc>
                          <a:spcPts val="2250"/>
                        </a:lnSpc>
                        <a:defRPr/>
                      </a:pPr>
                      <a:r>
                        <a:rPr lang="en-US" sz="1875">
                          <a:solidFill>
                            <a:srgbClr val="555555"/>
                          </a:solidFill>
                          <a:latin typeface="Calibri (MS)"/>
                          <a:ea typeface="Calibri (MS)"/>
                          <a:cs typeface="Calibri (MS)"/>
                          <a:sym typeface="Calibri (MS)"/>
                        </a:rPr>
                        <a:t>Auditing — copies every engagement event, with its timestamp, into interaction_audit</a:t>
                      </a:r>
                      <a:endParaRPr lang="en-US" sz="1100"/>
                    </a:p>
                  </a:txBody>
                  <a:tcPr marT="91440" marB="91440" anchor="ctr">
                    <a:lnL w="12700" cap="flat" cmpd="sng" algn="ctr">
                      <a:solidFill>
                        <a:srgbClr val="E8E8E8"/>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rgbClr val="E8E8E8"/>
                      </a:solidFill>
                      <a:prstDash val="solid"/>
                      <a:round/>
                      <a:headEnd type="none" w="med" len="med"/>
                      <a:tailEnd type="none" w="med" len="med"/>
                    </a:lnT>
                    <a:lnB w="12700" cap="flat" cmpd="sng" algn="ctr">
                      <a:solidFill>
                        <a:srgbClr val="E8E8E8"/>
                      </a:solidFill>
                      <a:prstDash val="solid"/>
                      <a:round/>
                      <a:headEnd type="none" w="med" len="med"/>
                      <a:tailEnd type="none" w="med" len="med"/>
                    </a:lnB>
                  </a:tcPr>
                </a:tc>
                <a:extLst>
                  <a:ext uri="{0D108BD9-81ED-4DB2-BD59-A6C34878D82A}">
                    <a16:rowId xmlns:a16="http://schemas.microsoft.com/office/drawing/2014/main" val="10002"/>
                  </a:ext>
                </a:extLst>
              </a:tr>
              <a:tr h="1363516">
                <a:tc>
                  <a:txBody>
                    <a:bodyPr/>
                    <a:lstStyle/>
                    <a:p>
                      <a:pPr algn="l">
                        <a:lnSpc>
                          <a:spcPts val="2070"/>
                        </a:lnSpc>
                        <a:defRPr/>
                      </a:pPr>
                      <a:r>
                        <a:rPr lang="en-US" sz="1725" b="1">
                          <a:solidFill>
                            <a:srgbClr val="141B47"/>
                          </a:solidFill>
                          <a:latin typeface="Courier New Bold"/>
                          <a:ea typeface="Courier New Bold"/>
                          <a:cs typeface="Courier New Bold"/>
                          <a:sym typeface="Courier New Bold"/>
                        </a:rPr>
                        <a:t>trg_post_delete_audit</a:t>
                      </a:r>
                      <a:endParaRPr lang="en-US" sz="1100"/>
                    </a:p>
                  </a:txBody>
                  <a:tcPr marT="91440" marB="91440" anchor="ctr">
                    <a:lnL w="12700" cap="flat" cmpd="sng" algn="ctr">
                      <a:solidFill>
                        <a:srgbClr val="E8E8E8"/>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rgbClr val="E8E8E8"/>
                      </a:solidFill>
                      <a:prstDash val="solid"/>
                      <a:round/>
                      <a:headEnd type="none" w="med" len="med"/>
                      <a:tailEnd type="none" w="med" len="med"/>
                    </a:lnT>
                    <a:lnB w="12700" cap="flat" cmpd="sng" algn="ctr">
                      <a:solidFill>
                        <a:srgbClr val="E8E8E8"/>
                      </a:solidFill>
                      <a:prstDash val="solid"/>
                      <a:round/>
                      <a:headEnd type="none" w="med" len="med"/>
                      <a:tailEnd type="none" w="med" len="med"/>
                    </a:lnB>
                  </a:tcPr>
                </a:tc>
                <a:tc>
                  <a:txBody>
                    <a:bodyPr/>
                    <a:lstStyle/>
                    <a:p>
                      <a:pPr algn="l">
                        <a:lnSpc>
                          <a:spcPts val="2070"/>
                        </a:lnSpc>
                        <a:defRPr/>
                      </a:pPr>
                      <a:r>
                        <a:rPr lang="en-US" sz="1725">
                          <a:solidFill>
                            <a:srgbClr val="555555"/>
                          </a:solidFill>
                          <a:latin typeface="Courier New"/>
                          <a:ea typeface="Courier New"/>
                          <a:cs typeface="Courier New"/>
                          <a:sym typeface="Courier New"/>
                        </a:rPr>
                        <a:t>AFTER DELETE ON posts</a:t>
                      </a:r>
                      <a:endParaRPr lang="en-US" sz="1100"/>
                    </a:p>
                  </a:txBody>
                  <a:tcPr marT="91440" marB="91440" anchor="ctr">
                    <a:lnL w="12700" cap="flat" cmpd="sng" algn="ctr">
                      <a:solidFill>
                        <a:srgbClr val="E8E8E8"/>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rgbClr val="E8E8E8"/>
                      </a:solidFill>
                      <a:prstDash val="solid"/>
                      <a:round/>
                      <a:headEnd type="none" w="med" len="med"/>
                      <a:tailEnd type="none" w="med" len="med"/>
                    </a:lnT>
                    <a:lnB w="12700" cap="flat" cmpd="sng" algn="ctr">
                      <a:solidFill>
                        <a:srgbClr val="E8E8E8"/>
                      </a:solidFill>
                      <a:prstDash val="solid"/>
                      <a:round/>
                      <a:headEnd type="none" w="med" len="med"/>
                      <a:tailEnd type="none" w="med" len="med"/>
                    </a:lnB>
                  </a:tcPr>
                </a:tc>
                <a:tc>
                  <a:txBody>
                    <a:bodyPr/>
                    <a:lstStyle/>
                    <a:p>
                      <a:pPr algn="l">
                        <a:lnSpc>
                          <a:spcPts val="2250"/>
                        </a:lnSpc>
                        <a:defRPr/>
                      </a:pPr>
                      <a:r>
                        <a:rPr lang="en-US" sz="1875">
                          <a:solidFill>
                            <a:srgbClr val="555555"/>
                          </a:solidFill>
                          <a:latin typeface="Calibri (MS)"/>
                          <a:ea typeface="Calibri (MS)"/>
                          <a:cs typeface="Calibri (MS)"/>
                          <a:sym typeface="Calibri (MS)"/>
                        </a:rPr>
                        <a:t>Auditing — records what was removed once cascade deletes its comments and interactions</a:t>
                      </a:r>
                      <a:endParaRPr lang="en-US" sz="1100"/>
                    </a:p>
                  </a:txBody>
                  <a:tcPr marT="91440" marB="91440" anchor="ctr">
                    <a:lnL w="12700" cap="flat" cmpd="sng" algn="ctr">
                      <a:solidFill>
                        <a:srgbClr val="E8E8E8"/>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rgbClr val="E8E8E8"/>
                      </a:solidFill>
                      <a:prstDash val="solid"/>
                      <a:round/>
                      <a:headEnd type="none" w="med" len="med"/>
                      <a:tailEnd type="none" w="med" len="med"/>
                    </a:lnT>
                    <a:lnB w="12700" cap="flat" cmpd="sng" algn="ctr">
                      <a:solidFill>
                        <a:srgbClr val="E8E8E8"/>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grpSp>
        <p:nvGrpSpPr>
          <p:cNvPr id="12" name="Group 12"/>
          <p:cNvGrpSpPr/>
          <p:nvPr/>
        </p:nvGrpSpPr>
        <p:grpSpPr>
          <a:xfrm>
            <a:off x="822960" y="8023860"/>
            <a:ext cx="16637508" cy="685800"/>
            <a:chOff x="0" y="0"/>
            <a:chExt cx="22183344" cy="914400"/>
          </a:xfrm>
        </p:grpSpPr>
        <p:sp>
          <p:nvSpPr>
            <p:cNvPr id="13" name="Freeform 13"/>
            <p:cNvSpPr/>
            <p:nvPr/>
          </p:nvSpPr>
          <p:spPr>
            <a:xfrm>
              <a:off x="0" y="0"/>
              <a:ext cx="22183344" cy="914400"/>
            </a:xfrm>
            <a:custGeom>
              <a:avLst/>
              <a:gdLst/>
              <a:ahLst/>
              <a:cxnLst/>
              <a:rect l="l" t="t" r="r" b="b"/>
              <a:pathLst>
                <a:path w="22183344" h="914400">
                  <a:moveTo>
                    <a:pt x="0" y="0"/>
                  </a:moveTo>
                  <a:lnTo>
                    <a:pt x="22183344" y="0"/>
                  </a:lnTo>
                  <a:lnTo>
                    <a:pt x="22183344" y="914400"/>
                  </a:lnTo>
                  <a:lnTo>
                    <a:pt x="0" y="914400"/>
                  </a:lnTo>
                  <a:close/>
                </a:path>
              </a:pathLst>
            </a:custGeom>
            <a:blipFill>
              <a:blip r:embed="rId3">
                <a:alphaModFix amt="0"/>
              </a:blip>
              <a:stretch>
                <a:fillRect t="-422707" b="-422707"/>
              </a:stretch>
            </a:blipFill>
          </p:spPr>
        </p:sp>
        <p:sp>
          <p:nvSpPr>
            <p:cNvPr id="14" name="TextBox 14"/>
            <p:cNvSpPr txBox="1"/>
            <p:nvPr/>
          </p:nvSpPr>
          <p:spPr>
            <a:xfrm>
              <a:off x="0" y="-38100"/>
              <a:ext cx="22183344" cy="952500"/>
            </a:xfrm>
            <a:prstGeom prst="rect">
              <a:avLst/>
            </a:prstGeom>
          </p:spPr>
          <p:txBody>
            <a:bodyPr lIns="0" tIns="0" rIns="0" bIns="0" rtlCol="0" anchor="ctr"/>
            <a:lstStyle/>
            <a:p>
              <a:pPr algn="l">
                <a:lnSpc>
                  <a:spcPts val="2160"/>
                </a:lnSpc>
              </a:pPr>
              <a:r>
                <a:rPr lang="en-US" sz="1800" i="1">
                  <a:solidFill>
                    <a:srgbClr val="1E2761"/>
                  </a:solidFill>
                  <a:latin typeface="Calibri (MS) Italics"/>
                  <a:ea typeface="Calibri (MS) Italics"/>
                  <a:cs typeface="Calibri (MS) Italics"/>
                  <a:sym typeface="Calibri (MS) Italics"/>
                </a:rPr>
                <a:t>Application creates the triggers after the bulk data load — there is no value in writing 177,000 audit rows for generated seed data.</a:t>
              </a:r>
            </a:p>
          </p:txBody>
        </p:sp>
      </p:grpSp>
      <p:grpSp>
        <p:nvGrpSpPr>
          <p:cNvPr id="15" name="Group 15"/>
          <p:cNvGrpSpPr/>
          <p:nvPr/>
        </p:nvGrpSpPr>
        <p:grpSpPr>
          <a:xfrm>
            <a:off x="17323308" y="9669780"/>
            <a:ext cx="548640" cy="411480"/>
            <a:chOff x="0" y="0"/>
            <a:chExt cx="731520" cy="548640"/>
          </a:xfrm>
        </p:grpSpPr>
        <p:sp>
          <p:nvSpPr>
            <p:cNvPr id="16" name="Freeform 16"/>
            <p:cNvSpPr/>
            <p:nvPr/>
          </p:nvSpPr>
          <p:spPr>
            <a:xfrm>
              <a:off x="0" y="0"/>
              <a:ext cx="731520" cy="548640"/>
            </a:xfrm>
            <a:custGeom>
              <a:avLst/>
              <a:gdLst/>
              <a:ahLst/>
              <a:cxnLst/>
              <a:rect l="l" t="t" r="r" b="b"/>
              <a:pathLst>
                <a:path w="731520" h="548640">
                  <a:moveTo>
                    <a:pt x="0" y="0"/>
                  </a:moveTo>
                  <a:lnTo>
                    <a:pt x="731520" y="0"/>
                  </a:lnTo>
                  <a:lnTo>
                    <a:pt x="731520" y="548640"/>
                  </a:lnTo>
                  <a:lnTo>
                    <a:pt x="0" y="548640"/>
                  </a:lnTo>
                  <a:close/>
                </a:path>
              </a:pathLst>
            </a:custGeom>
            <a:blipFill>
              <a:blip r:embed="rId3">
                <a:alphaModFix amt="0"/>
              </a:blip>
              <a:stretch>
                <a:fillRect l="-46227" r="-46227"/>
              </a:stretch>
            </a:blipFill>
          </p:spPr>
        </p:sp>
        <p:sp>
          <p:nvSpPr>
            <p:cNvPr id="17" name="TextBox 17"/>
            <p:cNvSpPr txBox="1"/>
            <p:nvPr/>
          </p:nvSpPr>
          <p:spPr>
            <a:xfrm>
              <a:off x="0" y="-38100"/>
              <a:ext cx="731520" cy="586740"/>
            </a:xfrm>
            <a:prstGeom prst="rect">
              <a:avLst/>
            </a:prstGeom>
          </p:spPr>
          <p:txBody>
            <a:bodyPr lIns="0" tIns="0" rIns="0" bIns="0" rtlCol="0" anchor="ctr"/>
            <a:lstStyle/>
            <a:p>
              <a:pPr algn="r">
                <a:lnSpc>
                  <a:spcPts val="1800"/>
                </a:lnSpc>
              </a:pPr>
              <a:r>
                <a:rPr lang="en-US" sz="1500">
                  <a:solidFill>
                    <a:srgbClr val="999999"/>
                  </a:solidFill>
                  <a:latin typeface="Calibri (MS)"/>
                  <a:ea typeface="Calibri (MS)"/>
                  <a:cs typeface="Calibri (MS)"/>
                  <a:sym typeface="Calibri (MS)"/>
                </a:rPr>
                <a:t>8</a:t>
              </a: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22960" y="548640"/>
            <a:ext cx="10972800" cy="411480"/>
            <a:chOff x="0" y="0"/>
            <a:chExt cx="14630400" cy="548640"/>
          </a:xfrm>
        </p:grpSpPr>
        <p:sp>
          <p:nvSpPr>
            <p:cNvPr id="3" name="Freeform 3"/>
            <p:cNvSpPr/>
            <p:nvPr/>
          </p:nvSpPr>
          <p:spPr>
            <a:xfrm>
              <a:off x="0" y="0"/>
              <a:ext cx="14630400" cy="548640"/>
            </a:xfrm>
            <a:custGeom>
              <a:avLst/>
              <a:gdLst/>
              <a:ahLst/>
              <a:cxnLst/>
              <a:rect l="l" t="t" r="r" b="b"/>
              <a:pathLst>
                <a:path w="14630400" h="548640">
                  <a:moveTo>
                    <a:pt x="0" y="0"/>
                  </a:moveTo>
                  <a:lnTo>
                    <a:pt x="14630400" y="0"/>
                  </a:lnTo>
                  <a:lnTo>
                    <a:pt x="14630400" y="548640"/>
                  </a:lnTo>
                  <a:lnTo>
                    <a:pt x="0" y="548640"/>
                  </a:lnTo>
                  <a:close/>
                </a:path>
              </a:pathLst>
            </a:custGeom>
            <a:blipFill>
              <a:blip r:embed="rId3">
                <a:alphaModFix amt="0"/>
              </a:blip>
              <a:stretch>
                <a:fillRect t="-469601" b="-469601"/>
              </a:stretch>
            </a:blipFill>
          </p:spPr>
        </p:sp>
        <p:sp>
          <p:nvSpPr>
            <p:cNvPr id="4" name="TextBox 4"/>
            <p:cNvSpPr txBox="1"/>
            <p:nvPr/>
          </p:nvSpPr>
          <p:spPr>
            <a:xfrm>
              <a:off x="0" y="-38100"/>
              <a:ext cx="14630400" cy="586740"/>
            </a:xfrm>
            <a:prstGeom prst="rect">
              <a:avLst/>
            </a:prstGeom>
          </p:spPr>
          <p:txBody>
            <a:bodyPr lIns="0" tIns="0" rIns="0" bIns="0" rtlCol="0" anchor="ctr"/>
            <a:lstStyle/>
            <a:p>
              <a:pPr algn="l">
                <a:lnSpc>
                  <a:spcPts val="2160"/>
                </a:lnSpc>
              </a:pPr>
              <a:r>
                <a:rPr lang="en-US" sz="1800" b="1" spc="300">
                  <a:solidFill>
                    <a:srgbClr val="1E2761"/>
                  </a:solidFill>
                  <a:latin typeface="Calibri (MS) Bold"/>
                  <a:ea typeface="Calibri (MS) Bold"/>
                  <a:cs typeface="Calibri (MS) Bold"/>
                  <a:sym typeface="Calibri (MS) Bold"/>
                </a:rPr>
                <a:t>PERFORMANCE</a:t>
              </a:r>
            </a:p>
          </p:txBody>
        </p:sp>
      </p:grpSp>
      <p:grpSp>
        <p:nvGrpSpPr>
          <p:cNvPr id="5" name="Group 5"/>
          <p:cNvGrpSpPr/>
          <p:nvPr/>
        </p:nvGrpSpPr>
        <p:grpSpPr>
          <a:xfrm>
            <a:off x="822960" y="932688"/>
            <a:ext cx="16637508" cy="960120"/>
            <a:chOff x="0" y="0"/>
            <a:chExt cx="22183344" cy="1280160"/>
          </a:xfrm>
        </p:grpSpPr>
        <p:sp>
          <p:nvSpPr>
            <p:cNvPr id="6" name="Freeform 6"/>
            <p:cNvSpPr/>
            <p:nvPr/>
          </p:nvSpPr>
          <p:spPr>
            <a:xfrm>
              <a:off x="0" y="0"/>
              <a:ext cx="22183344" cy="1280160"/>
            </a:xfrm>
            <a:custGeom>
              <a:avLst/>
              <a:gdLst/>
              <a:ahLst/>
              <a:cxnLst/>
              <a:rect l="l" t="t" r="r" b="b"/>
              <a:pathLst>
                <a:path w="22183344" h="1280160">
                  <a:moveTo>
                    <a:pt x="0" y="0"/>
                  </a:moveTo>
                  <a:lnTo>
                    <a:pt x="22183344" y="0"/>
                  </a:lnTo>
                  <a:lnTo>
                    <a:pt x="22183344" y="1280160"/>
                  </a:lnTo>
                  <a:lnTo>
                    <a:pt x="0" y="1280160"/>
                  </a:lnTo>
                  <a:close/>
                </a:path>
              </a:pathLst>
            </a:custGeom>
            <a:blipFill>
              <a:blip r:embed="rId3">
                <a:alphaModFix amt="0"/>
              </a:blip>
              <a:stretch>
                <a:fillRect t="-287647" b="-287647"/>
              </a:stretch>
            </a:blipFill>
          </p:spPr>
        </p:sp>
        <p:sp>
          <p:nvSpPr>
            <p:cNvPr id="7" name="TextBox 7"/>
            <p:cNvSpPr txBox="1"/>
            <p:nvPr/>
          </p:nvSpPr>
          <p:spPr>
            <a:xfrm>
              <a:off x="0" y="-9525"/>
              <a:ext cx="22183344" cy="1289685"/>
            </a:xfrm>
            <a:prstGeom prst="rect">
              <a:avLst/>
            </a:prstGeom>
          </p:spPr>
          <p:txBody>
            <a:bodyPr lIns="0" tIns="0" rIns="0" bIns="0" rtlCol="0" anchor="ctr"/>
            <a:lstStyle/>
            <a:p>
              <a:pPr algn="l">
                <a:lnSpc>
                  <a:spcPts val="5759"/>
                </a:lnSpc>
              </a:pPr>
              <a:r>
                <a:rPr lang="en-US" sz="4800" b="1">
                  <a:solidFill>
                    <a:srgbClr val="141B47"/>
                  </a:solidFill>
                  <a:latin typeface="Cambria Bold"/>
                  <a:ea typeface="Cambria Bold"/>
                  <a:cs typeface="Cambria Bold"/>
                  <a:sym typeface="Cambria Bold"/>
                </a:rPr>
                <a:t>Indexing &amp; Optimisation</a:t>
              </a:r>
            </a:p>
          </p:txBody>
        </p:sp>
      </p:grpSp>
      <p:grpSp>
        <p:nvGrpSpPr>
          <p:cNvPr id="8" name="Group 8"/>
          <p:cNvGrpSpPr/>
          <p:nvPr/>
        </p:nvGrpSpPr>
        <p:grpSpPr>
          <a:xfrm>
            <a:off x="822960" y="2057400"/>
            <a:ext cx="10972800" cy="480060"/>
            <a:chOff x="0" y="0"/>
            <a:chExt cx="14630400" cy="640080"/>
          </a:xfrm>
        </p:grpSpPr>
        <p:sp>
          <p:nvSpPr>
            <p:cNvPr id="9" name="Freeform 9"/>
            <p:cNvSpPr/>
            <p:nvPr/>
          </p:nvSpPr>
          <p:spPr>
            <a:xfrm>
              <a:off x="0" y="0"/>
              <a:ext cx="14630400" cy="640080"/>
            </a:xfrm>
            <a:custGeom>
              <a:avLst/>
              <a:gdLst/>
              <a:ahLst/>
              <a:cxnLst/>
              <a:rect l="l" t="t" r="r" b="b"/>
              <a:pathLst>
                <a:path w="14630400" h="640080">
                  <a:moveTo>
                    <a:pt x="0" y="0"/>
                  </a:moveTo>
                  <a:lnTo>
                    <a:pt x="14630400" y="0"/>
                  </a:lnTo>
                  <a:lnTo>
                    <a:pt x="14630400" y="640080"/>
                  </a:lnTo>
                  <a:lnTo>
                    <a:pt x="0" y="640080"/>
                  </a:lnTo>
                  <a:close/>
                </a:path>
              </a:pathLst>
            </a:custGeom>
            <a:blipFill>
              <a:blip r:embed="rId3">
                <a:alphaModFix amt="0"/>
              </a:blip>
              <a:stretch>
                <a:fillRect t="-395372" b="-395372"/>
              </a:stretch>
            </a:blipFill>
          </p:spPr>
        </p:sp>
        <p:sp>
          <p:nvSpPr>
            <p:cNvPr id="10" name="TextBox 10"/>
            <p:cNvSpPr txBox="1"/>
            <p:nvPr/>
          </p:nvSpPr>
          <p:spPr>
            <a:xfrm>
              <a:off x="0" y="-47625"/>
              <a:ext cx="14630400" cy="687705"/>
            </a:xfrm>
            <a:prstGeom prst="rect">
              <a:avLst/>
            </a:prstGeom>
          </p:spPr>
          <p:txBody>
            <a:bodyPr lIns="0" tIns="0" rIns="0" bIns="0" rtlCol="0" anchor="ctr"/>
            <a:lstStyle/>
            <a:p>
              <a:pPr algn="l">
                <a:lnSpc>
                  <a:spcPts val="2340"/>
                </a:lnSpc>
              </a:pPr>
              <a:r>
                <a:rPr lang="en-US" sz="1950" i="1">
                  <a:solidFill>
                    <a:srgbClr val="555555"/>
                  </a:solidFill>
                  <a:latin typeface="Calibri (MS) Italics"/>
                  <a:ea typeface="Calibri (MS) Italics"/>
                  <a:cs typeface="Calibri (MS) Italics"/>
                  <a:sym typeface="Calibri (MS) Italics"/>
                </a:rPr>
                <a:t>Measured on 177,342 interactions, average of three runs</a:t>
              </a:r>
            </a:p>
          </p:txBody>
        </p:sp>
      </p:grpSp>
      <p:graphicFrame>
        <p:nvGraphicFramePr>
          <p:cNvPr id="11" name="Table 11"/>
          <p:cNvGraphicFramePr>
            <a:graphicFrameLocks noGrp="1"/>
          </p:cNvGraphicFramePr>
          <p:nvPr/>
        </p:nvGraphicFramePr>
        <p:xfrm>
          <a:off x="822960" y="2811780"/>
          <a:ext cx="16611600" cy="3276600"/>
        </p:xfrm>
        <a:graphic>
          <a:graphicData uri="http://schemas.openxmlformats.org/drawingml/2006/table">
            <a:tbl>
              <a:tblPr/>
              <a:tblGrid>
                <a:gridCol w="7094270">
                  <a:extLst>
                    <a:ext uri="{9D8B030D-6E8A-4147-A177-3AD203B41FA5}">
                      <a16:colId xmlns:a16="http://schemas.microsoft.com/office/drawing/2014/main" val="20000"/>
                    </a:ext>
                  </a:extLst>
                </a:gridCol>
                <a:gridCol w="3715257">
                  <a:extLst>
                    <a:ext uri="{9D8B030D-6E8A-4147-A177-3AD203B41FA5}">
                      <a16:colId xmlns:a16="http://schemas.microsoft.com/office/drawing/2014/main" val="20001"/>
                    </a:ext>
                  </a:extLst>
                </a:gridCol>
                <a:gridCol w="3715257">
                  <a:extLst>
                    <a:ext uri="{9D8B030D-6E8A-4147-A177-3AD203B41FA5}">
                      <a16:colId xmlns:a16="http://schemas.microsoft.com/office/drawing/2014/main" val="20002"/>
                    </a:ext>
                  </a:extLst>
                </a:gridCol>
                <a:gridCol w="2086816">
                  <a:extLst>
                    <a:ext uri="{9D8B030D-6E8A-4147-A177-3AD203B41FA5}">
                      <a16:colId xmlns:a16="http://schemas.microsoft.com/office/drawing/2014/main" val="20003"/>
                    </a:ext>
                  </a:extLst>
                </a:gridCol>
              </a:tblGrid>
              <a:tr h="681131">
                <a:tc>
                  <a:txBody>
                    <a:bodyPr/>
                    <a:lstStyle/>
                    <a:p>
                      <a:pPr algn="l">
                        <a:lnSpc>
                          <a:spcPts val="2340"/>
                        </a:lnSpc>
                        <a:defRPr/>
                      </a:pPr>
                      <a:r>
                        <a:rPr lang="en-US" sz="1950" b="1">
                          <a:solidFill>
                            <a:srgbClr val="FFFFFF"/>
                          </a:solidFill>
                          <a:latin typeface="Calibri (MS) Bold"/>
                          <a:ea typeface="Calibri (MS) Bold"/>
                          <a:cs typeface="Calibri (MS) Bold"/>
                          <a:sym typeface="Calibri (MS) Bold"/>
                        </a:rPr>
                        <a:t>Query</a:t>
                      </a:r>
                      <a:endParaRPr lang="en-US" sz="1100"/>
                    </a:p>
                  </a:txBody>
                  <a:tcPr marT="91440" marB="91440" anchor="ctr">
                    <a:lnL w="12700" cap="flat" cmpd="sng" algn="ctr">
                      <a:solidFill>
                        <a:srgbClr val="E8E8E8"/>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rgbClr val="E8E8E8"/>
                      </a:solidFill>
                      <a:prstDash val="solid"/>
                      <a:round/>
                      <a:headEnd type="none" w="med" len="med"/>
                      <a:tailEnd type="none" w="med" len="med"/>
                    </a:lnT>
                    <a:lnB w="12700" cap="flat" cmpd="sng" algn="ctr">
                      <a:solidFill>
                        <a:srgbClr val="E8E8E8"/>
                      </a:solidFill>
                      <a:prstDash val="solid"/>
                      <a:round/>
                      <a:headEnd type="none" w="med" len="med"/>
                      <a:tailEnd type="none" w="med" len="med"/>
                    </a:lnB>
                    <a:solidFill>
                      <a:srgbClr val="1E2761"/>
                    </a:solidFill>
                  </a:tcPr>
                </a:tc>
                <a:tc>
                  <a:txBody>
                    <a:bodyPr/>
                    <a:lstStyle/>
                    <a:p>
                      <a:pPr algn="ctr">
                        <a:lnSpc>
                          <a:spcPts val="2340"/>
                        </a:lnSpc>
                        <a:defRPr/>
                      </a:pPr>
                      <a:r>
                        <a:rPr lang="en-US" sz="1950" b="1">
                          <a:solidFill>
                            <a:srgbClr val="FFFFFF"/>
                          </a:solidFill>
                          <a:latin typeface="Calibri (MS) Bold"/>
                          <a:ea typeface="Calibri (MS) Bold"/>
                          <a:cs typeface="Calibri (MS) Bold"/>
                          <a:sym typeface="Calibri (MS) Bold"/>
                        </a:rPr>
                        <a:t>Without Index</a:t>
                      </a:r>
                      <a:endParaRPr lang="en-US" sz="1100"/>
                    </a:p>
                  </a:txBody>
                  <a:tcPr marT="91440" marB="91440" anchor="ctr">
                    <a:lnL w="12700" cap="flat" cmpd="sng" algn="ctr">
                      <a:solidFill>
                        <a:srgbClr val="E8E8E8"/>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rgbClr val="E8E8E8"/>
                      </a:solidFill>
                      <a:prstDash val="solid"/>
                      <a:round/>
                      <a:headEnd type="none" w="med" len="med"/>
                      <a:tailEnd type="none" w="med" len="med"/>
                    </a:lnT>
                    <a:lnB w="12700" cap="flat" cmpd="sng" algn="ctr">
                      <a:solidFill>
                        <a:srgbClr val="E8E8E8"/>
                      </a:solidFill>
                      <a:prstDash val="solid"/>
                      <a:round/>
                      <a:headEnd type="none" w="med" len="med"/>
                      <a:tailEnd type="none" w="med" len="med"/>
                    </a:lnB>
                    <a:solidFill>
                      <a:srgbClr val="1E2761"/>
                    </a:solidFill>
                  </a:tcPr>
                </a:tc>
                <a:tc>
                  <a:txBody>
                    <a:bodyPr/>
                    <a:lstStyle/>
                    <a:p>
                      <a:pPr algn="ctr">
                        <a:lnSpc>
                          <a:spcPts val="2340"/>
                        </a:lnSpc>
                        <a:defRPr/>
                      </a:pPr>
                      <a:r>
                        <a:rPr lang="en-US" sz="1950" b="1">
                          <a:solidFill>
                            <a:srgbClr val="FFFFFF"/>
                          </a:solidFill>
                          <a:latin typeface="Calibri (MS) Bold"/>
                          <a:ea typeface="Calibri (MS) Bold"/>
                          <a:cs typeface="Calibri (MS) Bold"/>
                          <a:sym typeface="Calibri (MS) Bold"/>
                        </a:rPr>
                        <a:t>With Index</a:t>
                      </a:r>
                      <a:endParaRPr lang="en-US" sz="1100"/>
                    </a:p>
                  </a:txBody>
                  <a:tcPr marT="91440" marB="91440" anchor="ctr">
                    <a:lnL w="12700" cap="flat" cmpd="sng" algn="ctr">
                      <a:solidFill>
                        <a:srgbClr val="E8E8E8"/>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rgbClr val="E8E8E8"/>
                      </a:solidFill>
                      <a:prstDash val="solid"/>
                      <a:round/>
                      <a:headEnd type="none" w="med" len="med"/>
                      <a:tailEnd type="none" w="med" len="med"/>
                    </a:lnT>
                    <a:lnB w="12700" cap="flat" cmpd="sng" algn="ctr">
                      <a:solidFill>
                        <a:srgbClr val="E8E8E8"/>
                      </a:solidFill>
                      <a:prstDash val="solid"/>
                      <a:round/>
                      <a:headEnd type="none" w="med" len="med"/>
                      <a:tailEnd type="none" w="med" len="med"/>
                    </a:lnB>
                    <a:solidFill>
                      <a:srgbClr val="1E2761"/>
                    </a:solidFill>
                  </a:tcPr>
                </a:tc>
                <a:tc>
                  <a:txBody>
                    <a:bodyPr/>
                    <a:lstStyle/>
                    <a:p>
                      <a:pPr algn="ctr">
                        <a:lnSpc>
                          <a:spcPts val="2340"/>
                        </a:lnSpc>
                        <a:defRPr/>
                      </a:pPr>
                      <a:r>
                        <a:rPr lang="en-US" sz="1950" b="1">
                          <a:solidFill>
                            <a:srgbClr val="FFFFFF"/>
                          </a:solidFill>
                          <a:latin typeface="Calibri (MS) Bold"/>
                          <a:ea typeface="Calibri (MS) Bold"/>
                          <a:cs typeface="Calibri (MS) Bold"/>
                          <a:sym typeface="Calibri (MS) Bold"/>
                        </a:rPr>
                        <a:t>Change</a:t>
                      </a:r>
                      <a:endParaRPr lang="en-US" sz="1100"/>
                    </a:p>
                  </a:txBody>
                  <a:tcPr marT="91440" marB="91440" anchor="ctr">
                    <a:lnL w="12700" cap="flat" cmpd="sng" algn="ctr">
                      <a:solidFill>
                        <a:srgbClr val="E8E8E8"/>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rgbClr val="E8E8E8"/>
                      </a:solidFill>
                      <a:prstDash val="solid"/>
                      <a:round/>
                      <a:headEnd type="none" w="med" len="med"/>
                      <a:tailEnd type="none" w="med" len="med"/>
                    </a:lnT>
                    <a:lnB w="12700" cap="flat" cmpd="sng" algn="ctr">
                      <a:solidFill>
                        <a:srgbClr val="E8E8E8"/>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681131">
                <a:tc>
                  <a:txBody>
                    <a:bodyPr/>
                    <a:lstStyle/>
                    <a:p>
                      <a:pPr algn="l">
                        <a:lnSpc>
                          <a:spcPts val="2340"/>
                        </a:lnSpc>
                        <a:defRPr/>
                      </a:pPr>
                      <a:r>
                        <a:rPr lang="en-US" sz="1950" b="1">
                          <a:solidFill>
                            <a:srgbClr val="141B47"/>
                          </a:solidFill>
                          <a:latin typeface="Calibri (MS) Bold"/>
                          <a:ea typeface="Calibri (MS) Bold"/>
                          <a:cs typeface="Calibri (MS) Bold"/>
                          <a:sym typeface="Calibri (MS) Bold"/>
                        </a:rPr>
                        <a:t>Active users, last 3 days</a:t>
                      </a:r>
                      <a:endParaRPr lang="en-US" sz="1100"/>
                    </a:p>
                  </a:txBody>
                  <a:tcPr marT="91440" marB="91440" anchor="ctr">
                    <a:lnL w="12700" cap="flat" cmpd="sng" algn="ctr">
                      <a:solidFill>
                        <a:srgbClr val="E8E8E8"/>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rgbClr val="E8E8E8"/>
                      </a:solidFill>
                      <a:prstDash val="solid"/>
                      <a:round/>
                      <a:headEnd type="none" w="med" len="med"/>
                      <a:tailEnd type="none" w="med" len="med"/>
                    </a:lnT>
                    <a:lnB w="12700" cap="flat" cmpd="sng" algn="ctr">
                      <a:solidFill>
                        <a:srgbClr val="E8E8E8"/>
                      </a:solidFill>
                      <a:prstDash val="solid"/>
                      <a:round/>
                      <a:headEnd type="none" w="med" len="med"/>
                      <a:tailEnd type="none" w="med" len="med"/>
                    </a:lnB>
                  </a:tcPr>
                </a:tc>
                <a:tc>
                  <a:txBody>
                    <a:bodyPr/>
                    <a:lstStyle/>
                    <a:p>
                      <a:pPr algn="ctr">
                        <a:lnSpc>
                          <a:spcPts val="2340"/>
                        </a:lnSpc>
                        <a:defRPr/>
                      </a:pPr>
                      <a:r>
                        <a:rPr lang="en-US" sz="1950">
                          <a:solidFill>
                            <a:srgbClr val="555555"/>
                          </a:solidFill>
                          <a:latin typeface="Calibri (MS)"/>
                          <a:ea typeface="Calibri (MS)"/>
                          <a:cs typeface="Calibri (MS)"/>
                          <a:sym typeface="Calibri (MS)"/>
                        </a:rPr>
                        <a:t>86 ms</a:t>
                      </a:r>
                      <a:endParaRPr lang="en-US" sz="1100"/>
                    </a:p>
                  </a:txBody>
                  <a:tcPr marT="91440" marB="91440" anchor="ctr">
                    <a:lnL w="12700" cap="flat" cmpd="sng" algn="ctr">
                      <a:solidFill>
                        <a:srgbClr val="E8E8E8"/>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rgbClr val="E8E8E8"/>
                      </a:solidFill>
                      <a:prstDash val="solid"/>
                      <a:round/>
                      <a:headEnd type="none" w="med" len="med"/>
                      <a:tailEnd type="none" w="med" len="med"/>
                    </a:lnT>
                    <a:lnB w="12700" cap="flat" cmpd="sng" algn="ctr">
                      <a:solidFill>
                        <a:srgbClr val="E8E8E8"/>
                      </a:solidFill>
                      <a:prstDash val="solid"/>
                      <a:round/>
                      <a:headEnd type="none" w="med" len="med"/>
                      <a:tailEnd type="none" w="med" len="med"/>
                    </a:lnB>
                  </a:tcPr>
                </a:tc>
                <a:tc>
                  <a:txBody>
                    <a:bodyPr/>
                    <a:lstStyle/>
                    <a:p>
                      <a:pPr algn="ctr">
                        <a:lnSpc>
                          <a:spcPts val="2340"/>
                        </a:lnSpc>
                        <a:defRPr/>
                      </a:pPr>
                      <a:r>
                        <a:rPr lang="en-US" sz="1950">
                          <a:solidFill>
                            <a:srgbClr val="555555"/>
                          </a:solidFill>
                          <a:latin typeface="Calibri (MS)"/>
                          <a:ea typeface="Calibri (MS)"/>
                          <a:cs typeface="Calibri (MS)"/>
                          <a:sym typeface="Calibri (MS)"/>
                        </a:rPr>
                        <a:t>38 ms</a:t>
                      </a:r>
                      <a:endParaRPr lang="en-US" sz="1100"/>
                    </a:p>
                  </a:txBody>
                  <a:tcPr marT="91440" marB="91440" anchor="ctr">
                    <a:lnL w="12700" cap="flat" cmpd="sng" algn="ctr">
                      <a:solidFill>
                        <a:srgbClr val="E8E8E8"/>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rgbClr val="E8E8E8"/>
                      </a:solidFill>
                      <a:prstDash val="solid"/>
                      <a:round/>
                      <a:headEnd type="none" w="med" len="med"/>
                      <a:tailEnd type="none" w="med" len="med"/>
                    </a:lnT>
                    <a:lnB w="12700" cap="flat" cmpd="sng" algn="ctr">
                      <a:solidFill>
                        <a:srgbClr val="E8E8E8"/>
                      </a:solidFill>
                      <a:prstDash val="solid"/>
                      <a:round/>
                      <a:headEnd type="none" w="med" len="med"/>
                      <a:tailEnd type="none" w="med" len="med"/>
                    </a:lnB>
                  </a:tcPr>
                </a:tc>
                <a:tc>
                  <a:txBody>
                    <a:bodyPr/>
                    <a:lstStyle/>
                    <a:p>
                      <a:pPr algn="ctr">
                        <a:lnSpc>
                          <a:spcPts val="2340"/>
                        </a:lnSpc>
                        <a:defRPr/>
                      </a:pPr>
                      <a:r>
                        <a:rPr lang="en-US" sz="1950" b="1">
                          <a:solidFill>
                            <a:srgbClr val="1E2761"/>
                          </a:solidFill>
                          <a:latin typeface="Calibri (MS) Bold"/>
                          <a:ea typeface="Calibri (MS) Bold"/>
                          <a:cs typeface="Calibri (MS) Bold"/>
                          <a:sym typeface="Calibri (MS) Bold"/>
                        </a:rPr>
                        <a:t>2.3x faster</a:t>
                      </a:r>
                      <a:endParaRPr lang="en-US" sz="1100"/>
                    </a:p>
                  </a:txBody>
                  <a:tcPr marT="91440" marB="91440" anchor="ctr">
                    <a:lnL w="12700" cap="flat" cmpd="sng" algn="ctr">
                      <a:solidFill>
                        <a:srgbClr val="E8E8E8"/>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rgbClr val="E8E8E8"/>
                      </a:solidFill>
                      <a:prstDash val="solid"/>
                      <a:round/>
                      <a:headEnd type="none" w="med" len="med"/>
                      <a:tailEnd type="none" w="med" len="med"/>
                    </a:lnT>
                    <a:lnB w="12700" cap="flat" cmpd="sng" algn="ctr">
                      <a:solidFill>
                        <a:srgbClr val="E8E8E8"/>
                      </a:solidFill>
                      <a:prstDash val="solid"/>
                      <a:round/>
                      <a:headEnd type="none" w="med" len="med"/>
                      <a:tailEnd type="none" w="med" len="med"/>
                    </a:lnB>
                  </a:tcPr>
                </a:tc>
                <a:extLst>
                  <a:ext uri="{0D108BD9-81ED-4DB2-BD59-A6C34878D82A}">
                    <a16:rowId xmlns:a16="http://schemas.microsoft.com/office/drawing/2014/main" val="10001"/>
                  </a:ext>
                </a:extLst>
              </a:tr>
              <a:tr h="681131">
                <a:tc>
                  <a:txBody>
                    <a:bodyPr/>
                    <a:lstStyle/>
                    <a:p>
                      <a:pPr algn="l">
                        <a:lnSpc>
                          <a:spcPts val="2340"/>
                        </a:lnSpc>
                        <a:defRPr/>
                      </a:pPr>
                      <a:r>
                        <a:rPr lang="en-US" sz="1950" b="1">
                          <a:solidFill>
                            <a:srgbClr val="141B47"/>
                          </a:solidFill>
                          <a:latin typeface="Calibri (MS) Bold"/>
                          <a:ea typeface="Calibri (MS) Bold"/>
                          <a:cs typeface="Calibri (MS) Bold"/>
                          <a:sym typeface="Calibri (MS) Bold"/>
                        </a:rPr>
                        <a:t>Trending, last 7 days</a:t>
                      </a:r>
                      <a:endParaRPr lang="en-US" sz="1100"/>
                    </a:p>
                  </a:txBody>
                  <a:tcPr marT="91440" marB="91440" anchor="ctr">
                    <a:lnL w="12700" cap="flat" cmpd="sng" algn="ctr">
                      <a:solidFill>
                        <a:srgbClr val="E8E8E8"/>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rgbClr val="E8E8E8"/>
                      </a:solidFill>
                      <a:prstDash val="solid"/>
                      <a:round/>
                      <a:headEnd type="none" w="med" len="med"/>
                      <a:tailEnd type="none" w="med" len="med"/>
                    </a:lnT>
                    <a:lnB w="12700" cap="flat" cmpd="sng" algn="ctr">
                      <a:solidFill>
                        <a:srgbClr val="E8E8E8"/>
                      </a:solidFill>
                      <a:prstDash val="solid"/>
                      <a:round/>
                      <a:headEnd type="none" w="med" len="med"/>
                      <a:tailEnd type="none" w="med" len="med"/>
                    </a:lnB>
                  </a:tcPr>
                </a:tc>
                <a:tc>
                  <a:txBody>
                    <a:bodyPr/>
                    <a:lstStyle/>
                    <a:p>
                      <a:pPr algn="ctr">
                        <a:lnSpc>
                          <a:spcPts val="2340"/>
                        </a:lnSpc>
                        <a:defRPr/>
                      </a:pPr>
                      <a:r>
                        <a:rPr lang="en-US" sz="1950">
                          <a:solidFill>
                            <a:srgbClr val="555555"/>
                          </a:solidFill>
                          <a:latin typeface="Calibri (MS)"/>
                          <a:ea typeface="Calibri (MS)"/>
                          <a:cs typeface="Calibri (MS)"/>
                          <a:sym typeface="Calibri (MS)"/>
                        </a:rPr>
                        <a:t>65 ms</a:t>
                      </a:r>
                      <a:endParaRPr lang="en-US" sz="1100"/>
                    </a:p>
                  </a:txBody>
                  <a:tcPr marT="91440" marB="91440" anchor="ctr">
                    <a:lnL w="12700" cap="flat" cmpd="sng" algn="ctr">
                      <a:solidFill>
                        <a:srgbClr val="E8E8E8"/>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rgbClr val="E8E8E8"/>
                      </a:solidFill>
                      <a:prstDash val="solid"/>
                      <a:round/>
                      <a:headEnd type="none" w="med" len="med"/>
                      <a:tailEnd type="none" w="med" len="med"/>
                    </a:lnT>
                    <a:lnB w="12700" cap="flat" cmpd="sng" algn="ctr">
                      <a:solidFill>
                        <a:srgbClr val="E8E8E8"/>
                      </a:solidFill>
                      <a:prstDash val="solid"/>
                      <a:round/>
                      <a:headEnd type="none" w="med" len="med"/>
                      <a:tailEnd type="none" w="med" len="med"/>
                    </a:lnB>
                  </a:tcPr>
                </a:tc>
                <a:tc>
                  <a:txBody>
                    <a:bodyPr/>
                    <a:lstStyle/>
                    <a:p>
                      <a:pPr algn="ctr">
                        <a:lnSpc>
                          <a:spcPts val="2340"/>
                        </a:lnSpc>
                        <a:defRPr/>
                      </a:pPr>
                      <a:r>
                        <a:rPr lang="en-US" sz="1950">
                          <a:solidFill>
                            <a:srgbClr val="555555"/>
                          </a:solidFill>
                          <a:latin typeface="Calibri (MS)"/>
                          <a:ea typeface="Calibri (MS)"/>
                          <a:cs typeface="Calibri (MS)"/>
                          <a:sym typeface="Calibri (MS)"/>
                        </a:rPr>
                        <a:t>61 ms</a:t>
                      </a:r>
                      <a:endParaRPr lang="en-US" sz="1100"/>
                    </a:p>
                  </a:txBody>
                  <a:tcPr marT="91440" marB="91440" anchor="ctr">
                    <a:lnL w="12700" cap="flat" cmpd="sng" algn="ctr">
                      <a:solidFill>
                        <a:srgbClr val="E8E8E8"/>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rgbClr val="E8E8E8"/>
                      </a:solidFill>
                      <a:prstDash val="solid"/>
                      <a:round/>
                      <a:headEnd type="none" w="med" len="med"/>
                      <a:tailEnd type="none" w="med" len="med"/>
                    </a:lnT>
                    <a:lnB w="12700" cap="flat" cmpd="sng" algn="ctr">
                      <a:solidFill>
                        <a:srgbClr val="E8E8E8"/>
                      </a:solidFill>
                      <a:prstDash val="solid"/>
                      <a:round/>
                      <a:headEnd type="none" w="med" len="med"/>
                      <a:tailEnd type="none" w="med" len="med"/>
                    </a:lnB>
                  </a:tcPr>
                </a:tc>
                <a:tc>
                  <a:txBody>
                    <a:bodyPr/>
                    <a:lstStyle/>
                    <a:p>
                      <a:pPr algn="ctr">
                        <a:lnSpc>
                          <a:spcPts val="2340"/>
                        </a:lnSpc>
                        <a:defRPr/>
                      </a:pPr>
                      <a:r>
                        <a:rPr lang="en-US" sz="1950" b="1">
                          <a:solidFill>
                            <a:srgbClr val="1E2761"/>
                          </a:solidFill>
                          <a:latin typeface="Calibri (MS) Bold"/>
                          <a:ea typeface="Calibri (MS) Bold"/>
                          <a:cs typeface="Calibri (MS) Bold"/>
                          <a:sym typeface="Calibri (MS) Bold"/>
                        </a:rPr>
                        <a:t>No real change</a:t>
                      </a:r>
                      <a:endParaRPr lang="en-US" sz="1100"/>
                    </a:p>
                  </a:txBody>
                  <a:tcPr marT="91440" marB="91440" anchor="ctr">
                    <a:lnL w="12700" cap="flat" cmpd="sng" algn="ctr">
                      <a:solidFill>
                        <a:srgbClr val="E8E8E8"/>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rgbClr val="E8E8E8"/>
                      </a:solidFill>
                      <a:prstDash val="solid"/>
                      <a:round/>
                      <a:headEnd type="none" w="med" len="med"/>
                      <a:tailEnd type="none" w="med" len="med"/>
                    </a:lnT>
                    <a:lnB w="12700" cap="flat" cmpd="sng" algn="ctr">
                      <a:solidFill>
                        <a:srgbClr val="E8E8E8"/>
                      </a:solidFill>
                      <a:prstDash val="solid"/>
                      <a:round/>
                      <a:headEnd type="none" w="med" len="med"/>
                      <a:tailEnd type="none" w="med" len="med"/>
                    </a:lnB>
                  </a:tcPr>
                </a:tc>
                <a:extLst>
                  <a:ext uri="{0D108BD9-81ED-4DB2-BD59-A6C34878D82A}">
                    <a16:rowId xmlns:a16="http://schemas.microsoft.com/office/drawing/2014/main" val="10002"/>
                  </a:ext>
                </a:extLst>
              </a:tr>
              <a:tr h="681131">
                <a:tc>
                  <a:txBody>
                    <a:bodyPr/>
                    <a:lstStyle/>
                    <a:p>
                      <a:pPr algn="l">
                        <a:lnSpc>
                          <a:spcPts val="2340"/>
                        </a:lnSpc>
                        <a:defRPr/>
                      </a:pPr>
                      <a:r>
                        <a:rPr lang="en-US" sz="1950" b="1">
                          <a:solidFill>
                            <a:srgbClr val="141B47"/>
                          </a:solidFill>
                          <a:latin typeface="Calibri (MS) Bold"/>
                          <a:ea typeface="Calibri (MS) Bold"/>
                          <a:cs typeface="Calibri (MS) Bold"/>
                          <a:sym typeface="Calibri (MS) Bold"/>
                        </a:rPr>
                        <a:t>Daily activity, 45 days</a:t>
                      </a:r>
                      <a:endParaRPr lang="en-US" sz="1100"/>
                    </a:p>
                  </a:txBody>
                  <a:tcPr marT="91440" marB="91440" anchor="ctr">
                    <a:lnL w="12700" cap="flat" cmpd="sng" algn="ctr">
                      <a:solidFill>
                        <a:srgbClr val="E8E8E8"/>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rgbClr val="E8E8E8"/>
                      </a:solidFill>
                      <a:prstDash val="solid"/>
                      <a:round/>
                      <a:headEnd type="none" w="med" len="med"/>
                      <a:tailEnd type="none" w="med" len="med"/>
                    </a:lnT>
                    <a:lnB w="12700" cap="flat" cmpd="sng" algn="ctr">
                      <a:solidFill>
                        <a:srgbClr val="E8E8E8"/>
                      </a:solidFill>
                      <a:prstDash val="solid"/>
                      <a:round/>
                      <a:headEnd type="none" w="med" len="med"/>
                      <a:tailEnd type="none" w="med" len="med"/>
                    </a:lnB>
                  </a:tcPr>
                </a:tc>
                <a:tc>
                  <a:txBody>
                    <a:bodyPr/>
                    <a:lstStyle/>
                    <a:p>
                      <a:pPr algn="ctr">
                        <a:lnSpc>
                          <a:spcPts val="2340"/>
                        </a:lnSpc>
                        <a:defRPr/>
                      </a:pPr>
                      <a:r>
                        <a:rPr lang="en-US" sz="1950">
                          <a:solidFill>
                            <a:srgbClr val="555555"/>
                          </a:solidFill>
                          <a:latin typeface="Calibri (MS)"/>
                          <a:ea typeface="Calibri (MS)"/>
                          <a:cs typeface="Calibri (MS)"/>
                          <a:sym typeface="Calibri (MS)"/>
                        </a:rPr>
                        <a:t>72 ms</a:t>
                      </a:r>
                      <a:endParaRPr lang="en-US" sz="1100"/>
                    </a:p>
                  </a:txBody>
                  <a:tcPr marT="91440" marB="91440" anchor="ctr">
                    <a:lnL w="12700" cap="flat" cmpd="sng" algn="ctr">
                      <a:solidFill>
                        <a:srgbClr val="E8E8E8"/>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rgbClr val="E8E8E8"/>
                      </a:solidFill>
                      <a:prstDash val="solid"/>
                      <a:round/>
                      <a:headEnd type="none" w="med" len="med"/>
                      <a:tailEnd type="none" w="med" len="med"/>
                    </a:lnT>
                    <a:lnB w="12700" cap="flat" cmpd="sng" algn="ctr">
                      <a:solidFill>
                        <a:srgbClr val="E8E8E8"/>
                      </a:solidFill>
                      <a:prstDash val="solid"/>
                      <a:round/>
                      <a:headEnd type="none" w="med" len="med"/>
                      <a:tailEnd type="none" w="med" len="med"/>
                    </a:lnB>
                  </a:tcPr>
                </a:tc>
                <a:tc>
                  <a:txBody>
                    <a:bodyPr/>
                    <a:lstStyle/>
                    <a:p>
                      <a:pPr algn="ctr">
                        <a:lnSpc>
                          <a:spcPts val="2340"/>
                        </a:lnSpc>
                        <a:defRPr/>
                      </a:pPr>
                      <a:r>
                        <a:rPr lang="en-US" sz="1950">
                          <a:solidFill>
                            <a:srgbClr val="555555"/>
                          </a:solidFill>
                          <a:latin typeface="Calibri (MS)"/>
                          <a:ea typeface="Calibri (MS)"/>
                          <a:cs typeface="Calibri (MS)"/>
                          <a:sym typeface="Calibri (MS)"/>
                        </a:rPr>
                        <a:t>67 ms</a:t>
                      </a:r>
                      <a:endParaRPr lang="en-US" sz="1100"/>
                    </a:p>
                  </a:txBody>
                  <a:tcPr marT="91440" marB="91440" anchor="ctr">
                    <a:lnL w="12700" cap="flat" cmpd="sng" algn="ctr">
                      <a:solidFill>
                        <a:srgbClr val="E8E8E8"/>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rgbClr val="E8E8E8"/>
                      </a:solidFill>
                      <a:prstDash val="solid"/>
                      <a:round/>
                      <a:headEnd type="none" w="med" len="med"/>
                      <a:tailEnd type="none" w="med" len="med"/>
                    </a:lnT>
                    <a:lnB w="12700" cap="flat" cmpd="sng" algn="ctr">
                      <a:solidFill>
                        <a:srgbClr val="E8E8E8"/>
                      </a:solidFill>
                      <a:prstDash val="solid"/>
                      <a:round/>
                      <a:headEnd type="none" w="med" len="med"/>
                      <a:tailEnd type="none" w="med" len="med"/>
                    </a:lnB>
                  </a:tcPr>
                </a:tc>
                <a:tc>
                  <a:txBody>
                    <a:bodyPr/>
                    <a:lstStyle/>
                    <a:p>
                      <a:pPr algn="ctr">
                        <a:lnSpc>
                          <a:spcPts val="2340"/>
                        </a:lnSpc>
                        <a:defRPr/>
                      </a:pPr>
                      <a:r>
                        <a:rPr lang="en-US" sz="1950" b="1">
                          <a:solidFill>
                            <a:srgbClr val="1E2761"/>
                          </a:solidFill>
                          <a:latin typeface="Calibri (MS) Bold"/>
                          <a:ea typeface="Calibri (MS) Bold"/>
                          <a:cs typeface="Calibri (MS) Bold"/>
                          <a:sym typeface="Calibri (MS) Bold"/>
                        </a:rPr>
                        <a:t>No real change</a:t>
                      </a:r>
                      <a:endParaRPr lang="en-US" sz="1100"/>
                    </a:p>
                  </a:txBody>
                  <a:tcPr marT="91440" marB="91440" anchor="ctr">
                    <a:lnL w="12700" cap="flat" cmpd="sng" algn="ctr">
                      <a:solidFill>
                        <a:srgbClr val="E8E8E8"/>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rgbClr val="E8E8E8"/>
                      </a:solidFill>
                      <a:prstDash val="solid"/>
                      <a:round/>
                      <a:headEnd type="none" w="med" len="med"/>
                      <a:tailEnd type="none" w="med" len="med"/>
                    </a:lnT>
                    <a:lnB w="12700" cap="flat" cmpd="sng" algn="ctr">
                      <a:solidFill>
                        <a:srgbClr val="E8E8E8"/>
                      </a:solidFill>
                      <a:prstDash val="solid"/>
                      <a:round/>
                      <a:headEnd type="none" w="med" len="med"/>
                      <a:tailEnd type="none" w="med" len="med"/>
                    </a:lnB>
                  </a:tcPr>
                </a:tc>
                <a:extLst>
                  <a:ext uri="{0D108BD9-81ED-4DB2-BD59-A6C34878D82A}">
                    <a16:rowId xmlns:a16="http://schemas.microsoft.com/office/drawing/2014/main" val="10003"/>
                  </a:ext>
                </a:extLst>
              </a:tr>
              <a:tr h="552075">
                <a:tc>
                  <a:txBody>
                    <a:bodyPr/>
                    <a:lstStyle/>
                    <a:p>
                      <a:pPr algn="l">
                        <a:lnSpc>
                          <a:spcPts val="2340"/>
                        </a:lnSpc>
                        <a:defRPr/>
                      </a:pPr>
                      <a:r>
                        <a:rPr lang="en-US" sz="1950" b="1">
                          <a:solidFill>
                            <a:srgbClr val="141B47"/>
                          </a:solidFill>
                          <a:latin typeface="Calibri (MS) Bold"/>
                          <a:ea typeface="Calibri (MS) Bold"/>
                          <a:cs typeface="Calibri (MS) Bold"/>
                          <a:sym typeface="Calibri (MS) Bold"/>
                        </a:rPr>
                        <a:t>Accounts that never engage</a:t>
                      </a:r>
                      <a:endParaRPr lang="en-US" sz="1100"/>
                    </a:p>
                  </a:txBody>
                  <a:tcPr marT="91440" marB="91440" anchor="ctr">
                    <a:lnL w="12700" cap="flat" cmpd="sng" algn="ctr">
                      <a:solidFill>
                        <a:srgbClr val="E8E8E8"/>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rgbClr val="E8E8E8"/>
                      </a:solidFill>
                      <a:prstDash val="solid"/>
                      <a:round/>
                      <a:headEnd type="none" w="med" len="med"/>
                      <a:tailEnd type="none" w="med" len="med"/>
                    </a:lnT>
                    <a:lnB w="12700" cap="flat" cmpd="sng" algn="ctr">
                      <a:solidFill>
                        <a:srgbClr val="E8E8E8"/>
                      </a:solidFill>
                      <a:prstDash val="solid"/>
                      <a:round/>
                      <a:headEnd type="none" w="med" len="med"/>
                      <a:tailEnd type="none" w="med" len="med"/>
                    </a:lnB>
                  </a:tcPr>
                </a:tc>
                <a:tc>
                  <a:txBody>
                    <a:bodyPr/>
                    <a:lstStyle/>
                    <a:p>
                      <a:pPr algn="ctr">
                        <a:lnSpc>
                          <a:spcPts val="2340"/>
                        </a:lnSpc>
                        <a:defRPr/>
                      </a:pPr>
                      <a:r>
                        <a:rPr lang="en-US" sz="1950">
                          <a:solidFill>
                            <a:srgbClr val="555555"/>
                          </a:solidFill>
                          <a:latin typeface="Calibri (MS)"/>
                          <a:ea typeface="Calibri (MS)"/>
                          <a:cs typeface="Calibri (MS)"/>
                          <a:sym typeface="Calibri (MS)"/>
                        </a:rPr>
                        <a:t>12 ms</a:t>
                      </a:r>
                      <a:endParaRPr lang="en-US" sz="1100"/>
                    </a:p>
                  </a:txBody>
                  <a:tcPr marT="91440" marB="91440" anchor="ctr">
                    <a:lnL w="12700" cap="flat" cmpd="sng" algn="ctr">
                      <a:solidFill>
                        <a:srgbClr val="E8E8E8"/>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rgbClr val="E8E8E8"/>
                      </a:solidFill>
                      <a:prstDash val="solid"/>
                      <a:round/>
                      <a:headEnd type="none" w="med" len="med"/>
                      <a:tailEnd type="none" w="med" len="med"/>
                    </a:lnT>
                    <a:lnB w="12700" cap="flat" cmpd="sng" algn="ctr">
                      <a:solidFill>
                        <a:srgbClr val="E8E8E8"/>
                      </a:solidFill>
                      <a:prstDash val="solid"/>
                      <a:round/>
                      <a:headEnd type="none" w="med" len="med"/>
                      <a:tailEnd type="none" w="med" len="med"/>
                    </a:lnB>
                  </a:tcPr>
                </a:tc>
                <a:tc>
                  <a:txBody>
                    <a:bodyPr/>
                    <a:lstStyle/>
                    <a:p>
                      <a:pPr algn="ctr">
                        <a:lnSpc>
                          <a:spcPts val="2340"/>
                        </a:lnSpc>
                        <a:defRPr/>
                      </a:pPr>
                      <a:r>
                        <a:rPr lang="en-US" sz="1950">
                          <a:solidFill>
                            <a:srgbClr val="555555"/>
                          </a:solidFill>
                          <a:latin typeface="Calibri (MS)"/>
                          <a:ea typeface="Calibri (MS)"/>
                          <a:cs typeface="Calibri (MS)"/>
                          <a:sym typeface="Calibri (MS)"/>
                        </a:rPr>
                        <a:t>12 ms</a:t>
                      </a:r>
                      <a:endParaRPr lang="en-US" sz="1100"/>
                    </a:p>
                  </a:txBody>
                  <a:tcPr marT="91440" marB="91440" anchor="ctr">
                    <a:lnL w="12700" cap="flat" cmpd="sng" algn="ctr">
                      <a:solidFill>
                        <a:srgbClr val="E8E8E8"/>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rgbClr val="E8E8E8"/>
                      </a:solidFill>
                      <a:prstDash val="solid"/>
                      <a:round/>
                      <a:headEnd type="none" w="med" len="med"/>
                      <a:tailEnd type="none" w="med" len="med"/>
                    </a:lnT>
                    <a:lnB w="12700" cap="flat" cmpd="sng" algn="ctr">
                      <a:solidFill>
                        <a:srgbClr val="E8E8E8"/>
                      </a:solidFill>
                      <a:prstDash val="solid"/>
                      <a:round/>
                      <a:headEnd type="none" w="med" len="med"/>
                      <a:tailEnd type="none" w="med" len="med"/>
                    </a:lnB>
                  </a:tcPr>
                </a:tc>
                <a:tc>
                  <a:txBody>
                    <a:bodyPr/>
                    <a:lstStyle/>
                    <a:p>
                      <a:pPr algn="ctr">
                        <a:lnSpc>
                          <a:spcPts val="2340"/>
                        </a:lnSpc>
                        <a:defRPr/>
                      </a:pPr>
                      <a:r>
                        <a:rPr lang="en-US" sz="1950" b="1">
                          <a:solidFill>
                            <a:srgbClr val="1E2761"/>
                          </a:solidFill>
                          <a:latin typeface="Calibri (MS) Bold"/>
                          <a:ea typeface="Calibri (MS) Bold"/>
                          <a:cs typeface="Calibri (MS) Bold"/>
                          <a:sym typeface="Calibri (MS) Bold"/>
                        </a:rPr>
                        <a:t>Already fast</a:t>
                      </a:r>
                      <a:endParaRPr lang="en-US" sz="1100"/>
                    </a:p>
                  </a:txBody>
                  <a:tcPr marT="91440" marB="91440" anchor="ctr">
                    <a:lnL w="12700" cap="flat" cmpd="sng" algn="ctr">
                      <a:solidFill>
                        <a:srgbClr val="E8E8E8"/>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rgbClr val="E8E8E8"/>
                      </a:solidFill>
                      <a:prstDash val="solid"/>
                      <a:round/>
                      <a:headEnd type="none" w="med" len="med"/>
                      <a:tailEnd type="none" w="med" len="med"/>
                    </a:lnT>
                    <a:lnB w="12700" cap="flat" cmpd="sng" algn="ctr">
                      <a:solidFill>
                        <a:srgbClr val="E8E8E8"/>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pSp>
        <p:nvGrpSpPr>
          <p:cNvPr id="12" name="Group 12"/>
          <p:cNvGrpSpPr/>
          <p:nvPr/>
        </p:nvGrpSpPr>
        <p:grpSpPr>
          <a:xfrm>
            <a:off x="822960" y="6515100"/>
            <a:ext cx="16637508" cy="1508760"/>
            <a:chOff x="0" y="0"/>
            <a:chExt cx="22183344" cy="2011680"/>
          </a:xfrm>
        </p:grpSpPr>
        <p:sp>
          <p:nvSpPr>
            <p:cNvPr id="13" name="Freeform 13"/>
            <p:cNvSpPr/>
            <p:nvPr/>
          </p:nvSpPr>
          <p:spPr>
            <a:xfrm>
              <a:off x="0" y="0"/>
              <a:ext cx="22183344" cy="2011680"/>
            </a:xfrm>
            <a:custGeom>
              <a:avLst/>
              <a:gdLst/>
              <a:ahLst/>
              <a:cxnLst/>
              <a:rect l="l" t="t" r="r" b="b"/>
              <a:pathLst>
                <a:path w="22183344" h="2011680">
                  <a:moveTo>
                    <a:pt x="0" y="0"/>
                  </a:moveTo>
                  <a:lnTo>
                    <a:pt x="22183344" y="0"/>
                  </a:lnTo>
                  <a:lnTo>
                    <a:pt x="22183344" y="2011680"/>
                  </a:lnTo>
                  <a:lnTo>
                    <a:pt x="0" y="2011680"/>
                  </a:lnTo>
                  <a:close/>
                </a:path>
              </a:pathLst>
            </a:custGeom>
            <a:blipFill>
              <a:blip r:embed="rId3">
                <a:alphaModFix amt="0"/>
              </a:blip>
              <a:stretch>
                <a:fillRect t="-164866" b="-164866"/>
              </a:stretch>
            </a:blipFill>
          </p:spPr>
        </p:sp>
        <p:sp>
          <p:nvSpPr>
            <p:cNvPr id="14" name="TextBox 14"/>
            <p:cNvSpPr txBox="1"/>
            <p:nvPr/>
          </p:nvSpPr>
          <p:spPr>
            <a:xfrm>
              <a:off x="0" y="-104775"/>
              <a:ext cx="22183344" cy="2116455"/>
            </a:xfrm>
            <a:prstGeom prst="rect">
              <a:avLst/>
            </a:prstGeom>
          </p:spPr>
          <p:txBody>
            <a:bodyPr lIns="0" tIns="0" rIns="0" bIns="0" rtlCol="0" anchor="ctr"/>
            <a:lstStyle/>
            <a:p>
              <a:pPr algn="l">
                <a:lnSpc>
                  <a:spcPts val="3150"/>
                </a:lnSpc>
              </a:pPr>
              <a:r>
                <a:rPr lang="en-US" sz="2100" b="1">
                  <a:solidFill>
                    <a:srgbClr val="555555"/>
                  </a:solidFill>
                  <a:latin typeface="Calibri (MS) Bold"/>
                  <a:ea typeface="Calibri (MS) Bold"/>
                  <a:cs typeface="Calibri (MS) Bold"/>
                  <a:sym typeface="Calibri (MS) Bold"/>
                </a:rPr>
                <a:t>Indexes pay off when a query needs a small, selective slice of a large table. When a query reads most of the table, a full scan is cheaper and the optimiser ignores the index — and every index still costs storage and slows down inserts.</a:t>
              </a:r>
            </a:p>
          </p:txBody>
        </p:sp>
      </p:grpSp>
      <p:grpSp>
        <p:nvGrpSpPr>
          <p:cNvPr id="15" name="Group 15"/>
          <p:cNvGrpSpPr/>
          <p:nvPr/>
        </p:nvGrpSpPr>
        <p:grpSpPr>
          <a:xfrm>
            <a:off x="17323308" y="9669780"/>
            <a:ext cx="548640" cy="411480"/>
            <a:chOff x="0" y="0"/>
            <a:chExt cx="731520" cy="548640"/>
          </a:xfrm>
        </p:grpSpPr>
        <p:sp>
          <p:nvSpPr>
            <p:cNvPr id="16" name="Freeform 16"/>
            <p:cNvSpPr/>
            <p:nvPr/>
          </p:nvSpPr>
          <p:spPr>
            <a:xfrm>
              <a:off x="0" y="0"/>
              <a:ext cx="731520" cy="548640"/>
            </a:xfrm>
            <a:custGeom>
              <a:avLst/>
              <a:gdLst/>
              <a:ahLst/>
              <a:cxnLst/>
              <a:rect l="l" t="t" r="r" b="b"/>
              <a:pathLst>
                <a:path w="731520" h="548640">
                  <a:moveTo>
                    <a:pt x="0" y="0"/>
                  </a:moveTo>
                  <a:lnTo>
                    <a:pt x="731520" y="0"/>
                  </a:lnTo>
                  <a:lnTo>
                    <a:pt x="731520" y="548640"/>
                  </a:lnTo>
                  <a:lnTo>
                    <a:pt x="0" y="548640"/>
                  </a:lnTo>
                  <a:close/>
                </a:path>
              </a:pathLst>
            </a:custGeom>
            <a:blipFill>
              <a:blip r:embed="rId3">
                <a:alphaModFix amt="0"/>
              </a:blip>
              <a:stretch>
                <a:fillRect l="-46227" r="-46227"/>
              </a:stretch>
            </a:blipFill>
          </p:spPr>
        </p:sp>
        <p:sp>
          <p:nvSpPr>
            <p:cNvPr id="17" name="TextBox 17"/>
            <p:cNvSpPr txBox="1"/>
            <p:nvPr/>
          </p:nvSpPr>
          <p:spPr>
            <a:xfrm>
              <a:off x="0" y="-38100"/>
              <a:ext cx="731520" cy="586740"/>
            </a:xfrm>
            <a:prstGeom prst="rect">
              <a:avLst/>
            </a:prstGeom>
          </p:spPr>
          <p:txBody>
            <a:bodyPr lIns="0" tIns="0" rIns="0" bIns="0" rtlCol="0" anchor="ctr"/>
            <a:lstStyle/>
            <a:p>
              <a:pPr algn="r">
                <a:lnSpc>
                  <a:spcPts val="1800"/>
                </a:lnSpc>
              </a:pPr>
              <a:r>
                <a:rPr lang="en-US" sz="1500">
                  <a:solidFill>
                    <a:srgbClr val="999999"/>
                  </a:solidFill>
                  <a:latin typeface="Calibri (MS)"/>
                  <a:ea typeface="Calibri (MS)"/>
                  <a:cs typeface="Calibri (MS)"/>
                  <a:sym typeface="Calibri (MS)"/>
                </a:rPr>
                <a:t>9</a:t>
              </a: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41B47"/>
        </a:solidFill>
        <a:effectLst/>
      </p:bgPr>
    </p:bg>
    <p:spTree>
      <p:nvGrpSpPr>
        <p:cNvPr id="1" name=""/>
        <p:cNvGrpSpPr/>
        <p:nvPr/>
      </p:nvGrpSpPr>
      <p:grpSpPr>
        <a:xfrm>
          <a:off x="0" y="0"/>
          <a:ext cx="0" cy="0"/>
          <a:chOff x="0" y="0"/>
          <a:chExt cx="0" cy="0"/>
        </a:xfrm>
      </p:grpSpPr>
      <p:grpSp>
        <p:nvGrpSpPr>
          <p:cNvPr id="2" name="Group 2"/>
          <p:cNvGrpSpPr/>
          <p:nvPr/>
        </p:nvGrpSpPr>
        <p:grpSpPr>
          <a:xfrm>
            <a:off x="822960" y="754380"/>
            <a:ext cx="10972800" cy="411480"/>
            <a:chOff x="0" y="0"/>
            <a:chExt cx="14630400" cy="548640"/>
          </a:xfrm>
        </p:grpSpPr>
        <p:sp>
          <p:nvSpPr>
            <p:cNvPr id="3" name="Freeform 3"/>
            <p:cNvSpPr/>
            <p:nvPr/>
          </p:nvSpPr>
          <p:spPr>
            <a:xfrm>
              <a:off x="0" y="0"/>
              <a:ext cx="14630400" cy="548640"/>
            </a:xfrm>
            <a:custGeom>
              <a:avLst/>
              <a:gdLst/>
              <a:ahLst/>
              <a:cxnLst/>
              <a:rect l="l" t="t" r="r" b="b"/>
              <a:pathLst>
                <a:path w="14630400" h="548640">
                  <a:moveTo>
                    <a:pt x="0" y="0"/>
                  </a:moveTo>
                  <a:lnTo>
                    <a:pt x="14630400" y="0"/>
                  </a:lnTo>
                  <a:lnTo>
                    <a:pt x="14630400" y="548640"/>
                  </a:lnTo>
                  <a:lnTo>
                    <a:pt x="0" y="548640"/>
                  </a:lnTo>
                  <a:close/>
                </a:path>
              </a:pathLst>
            </a:custGeom>
            <a:blipFill>
              <a:blip r:embed="rId3">
                <a:alphaModFix amt="0"/>
              </a:blip>
              <a:stretch>
                <a:fillRect t="-469601" b="-469601"/>
              </a:stretch>
            </a:blipFill>
          </p:spPr>
        </p:sp>
        <p:sp>
          <p:nvSpPr>
            <p:cNvPr id="4" name="TextBox 4"/>
            <p:cNvSpPr txBox="1"/>
            <p:nvPr/>
          </p:nvSpPr>
          <p:spPr>
            <a:xfrm>
              <a:off x="0" y="-38100"/>
              <a:ext cx="14630400" cy="586740"/>
            </a:xfrm>
            <a:prstGeom prst="rect">
              <a:avLst/>
            </a:prstGeom>
          </p:spPr>
          <p:txBody>
            <a:bodyPr lIns="0" tIns="0" rIns="0" bIns="0" rtlCol="0" anchor="ctr"/>
            <a:lstStyle/>
            <a:p>
              <a:pPr algn="l">
                <a:lnSpc>
                  <a:spcPts val="2160"/>
                </a:lnSpc>
              </a:pPr>
              <a:r>
                <a:rPr lang="en-US" sz="1800" b="1" spc="300">
                  <a:solidFill>
                    <a:srgbClr val="CADCFC"/>
                  </a:solidFill>
                  <a:latin typeface="Calibri (MS) Bold"/>
                  <a:ea typeface="Calibri (MS) Bold"/>
                  <a:cs typeface="Calibri (MS) Bold"/>
                  <a:sym typeface="Calibri (MS) Bold"/>
                </a:rPr>
                <a:t>SUMMARY</a:t>
              </a:r>
            </a:p>
          </p:txBody>
        </p:sp>
      </p:grpSp>
      <p:grpSp>
        <p:nvGrpSpPr>
          <p:cNvPr id="5" name="Group 5"/>
          <p:cNvGrpSpPr/>
          <p:nvPr/>
        </p:nvGrpSpPr>
        <p:grpSpPr>
          <a:xfrm>
            <a:off x="822960" y="1165860"/>
            <a:ext cx="16637508" cy="960120"/>
            <a:chOff x="0" y="0"/>
            <a:chExt cx="22183344" cy="1280160"/>
          </a:xfrm>
        </p:grpSpPr>
        <p:sp>
          <p:nvSpPr>
            <p:cNvPr id="6" name="Freeform 6"/>
            <p:cNvSpPr/>
            <p:nvPr/>
          </p:nvSpPr>
          <p:spPr>
            <a:xfrm>
              <a:off x="0" y="0"/>
              <a:ext cx="22183344" cy="1280160"/>
            </a:xfrm>
            <a:custGeom>
              <a:avLst/>
              <a:gdLst/>
              <a:ahLst/>
              <a:cxnLst/>
              <a:rect l="l" t="t" r="r" b="b"/>
              <a:pathLst>
                <a:path w="22183344" h="1280160">
                  <a:moveTo>
                    <a:pt x="0" y="0"/>
                  </a:moveTo>
                  <a:lnTo>
                    <a:pt x="22183344" y="0"/>
                  </a:lnTo>
                  <a:lnTo>
                    <a:pt x="22183344" y="1280160"/>
                  </a:lnTo>
                  <a:lnTo>
                    <a:pt x="0" y="1280160"/>
                  </a:lnTo>
                  <a:close/>
                </a:path>
              </a:pathLst>
            </a:custGeom>
            <a:blipFill>
              <a:blip r:embed="rId3">
                <a:alphaModFix amt="0"/>
              </a:blip>
              <a:stretch>
                <a:fillRect t="-287647" b="-287647"/>
              </a:stretch>
            </a:blipFill>
          </p:spPr>
        </p:sp>
        <p:sp>
          <p:nvSpPr>
            <p:cNvPr id="7" name="TextBox 7"/>
            <p:cNvSpPr txBox="1"/>
            <p:nvPr/>
          </p:nvSpPr>
          <p:spPr>
            <a:xfrm>
              <a:off x="0" y="-9525"/>
              <a:ext cx="22183344" cy="1289685"/>
            </a:xfrm>
            <a:prstGeom prst="rect">
              <a:avLst/>
            </a:prstGeom>
          </p:spPr>
          <p:txBody>
            <a:bodyPr lIns="0" tIns="0" rIns="0" bIns="0" rtlCol="0" anchor="ctr"/>
            <a:lstStyle/>
            <a:p>
              <a:pPr algn="l">
                <a:lnSpc>
                  <a:spcPts val="5759"/>
                </a:lnSpc>
              </a:pPr>
              <a:r>
                <a:rPr lang="en-US" sz="4800" b="1">
                  <a:solidFill>
                    <a:srgbClr val="FFFFFF"/>
                  </a:solidFill>
                  <a:latin typeface="Cambria Bold"/>
                  <a:ea typeface="Cambria Bold"/>
                  <a:cs typeface="Cambria Bold"/>
                  <a:sym typeface="Cambria Bold"/>
                </a:rPr>
                <a:t>Architecture &amp; Conclusion</a:t>
              </a:r>
            </a:p>
          </p:txBody>
        </p:sp>
      </p:grpSp>
      <p:grpSp>
        <p:nvGrpSpPr>
          <p:cNvPr id="8" name="Group 8"/>
          <p:cNvGrpSpPr/>
          <p:nvPr/>
        </p:nvGrpSpPr>
        <p:grpSpPr>
          <a:xfrm>
            <a:off x="1382649" y="2527935"/>
            <a:ext cx="4682490" cy="1527810"/>
            <a:chOff x="0" y="0"/>
            <a:chExt cx="6243320" cy="2037080"/>
          </a:xfrm>
        </p:grpSpPr>
        <p:sp>
          <p:nvSpPr>
            <p:cNvPr id="9" name="Freeform 9"/>
            <p:cNvSpPr/>
            <p:nvPr/>
          </p:nvSpPr>
          <p:spPr>
            <a:xfrm>
              <a:off x="0" y="0"/>
              <a:ext cx="6243320" cy="2037080"/>
            </a:xfrm>
            <a:custGeom>
              <a:avLst/>
              <a:gdLst/>
              <a:ahLst/>
              <a:cxnLst/>
              <a:rect l="l" t="t" r="r" b="b"/>
              <a:pathLst>
                <a:path w="6243320" h="2037080">
                  <a:moveTo>
                    <a:pt x="0" y="148209"/>
                  </a:moveTo>
                  <a:cubicBezTo>
                    <a:pt x="0" y="66294"/>
                    <a:pt x="66294" y="0"/>
                    <a:pt x="148209" y="0"/>
                  </a:cubicBezTo>
                  <a:lnTo>
                    <a:pt x="6095111" y="0"/>
                  </a:lnTo>
                  <a:cubicBezTo>
                    <a:pt x="6176899" y="0"/>
                    <a:pt x="6243320" y="66294"/>
                    <a:pt x="6243320" y="148209"/>
                  </a:cubicBezTo>
                  <a:lnTo>
                    <a:pt x="6243320" y="1888871"/>
                  </a:lnTo>
                  <a:cubicBezTo>
                    <a:pt x="6243320" y="1970659"/>
                    <a:pt x="6177026" y="2037080"/>
                    <a:pt x="6095111" y="2037080"/>
                  </a:cubicBezTo>
                  <a:lnTo>
                    <a:pt x="148209" y="2037080"/>
                  </a:lnTo>
                  <a:cubicBezTo>
                    <a:pt x="66294" y="2037080"/>
                    <a:pt x="0" y="1970786"/>
                    <a:pt x="0" y="1888871"/>
                  </a:cubicBezTo>
                  <a:close/>
                </a:path>
              </a:pathLst>
            </a:custGeom>
            <a:solidFill>
              <a:srgbClr val="2A3470"/>
            </a:solidFill>
            <a:ln w="19050" cap="sq">
              <a:solidFill>
                <a:srgbClr val="CADCFC"/>
              </a:solidFill>
              <a:prstDash val="solid"/>
              <a:miter/>
            </a:ln>
          </p:spPr>
        </p:sp>
      </p:grpSp>
      <p:grpSp>
        <p:nvGrpSpPr>
          <p:cNvPr id="10" name="Group 10"/>
          <p:cNvGrpSpPr/>
          <p:nvPr/>
        </p:nvGrpSpPr>
        <p:grpSpPr>
          <a:xfrm>
            <a:off x="1392174" y="2715768"/>
            <a:ext cx="4663440" cy="548640"/>
            <a:chOff x="0" y="0"/>
            <a:chExt cx="6217920" cy="731520"/>
          </a:xfrm>
        </p:grpSpPr>
        <p:sp>
          <p:nvSpPr>
            <p:cNvPr id="11" name="Freeform 11"/>
            <p:cNvSpPr/>
            <p:nvPr/>
          </p:nvSpPr>
          <p:spPr>
            <a:xfrm>
              <a:off x="0" y="0"/>
              <a:ext cx="6217920" cy="731520"/>
            </a:xfrm>
            <a:custGeom>
              <a:avLst/>
              <a:gdLst/>
              <a:ahLst/>
              <a:cxnLst/>
              <a:rect l="l" t="t" r="r" b="b"/>
              <a:pathLst>
                <a:path w="6217920" h="731520">
                  <a:moveTo>
                    <a:pt x="0" y="0"/>
                  </a:moveTo>
                  <a:lnTo>
                    <a:pt x="6217920" y="0"/>
                  </a:lnTo>
                  <a:lnTo>
                    <a:pt x="6217920" y="731520"/>
                  </a:lnTo>
                  <a:lnTo>
                    <a:pt x="0" y="731520"/>
                  </a:lnTo>
                  <a:close/>
                </a:path>
              </a:pathLst>
            </a:custGeom>
            <a:blipFill>
              <a:blip r:embed="rId3">
                <a:alphaModFix amt="0"/>
              </a:blip>
              <a:stretch>
                <a:fillRect t="-115622" b="-115622"/>
              </a:stretch>
            </a:blipFill>
          </p:spPr>
        </p:sp>
        <p:sp>
          <p:nvSpPr>
            <p:cNvPr id="12" name="TextBox 12"/>
            <p:cNvSpPr txBox="1"/>
            <p:nvPr/>
          </p:nvSpPr>
          <p:spPr>
            <a:xfrm>
              <a:off x="0" y="-47625"/>
              <a:ext cx="6217920" cy="779145"/>
            </a:xfrm>
            <a:prstGeom prst="rect">
              <a:avLst/>
            </a:prstGeom>
          </p:spPr>
          <p:txBody>
            <a:bodyPr lIns="0" tIns="0" rIns="0" bIns="0" rtlCol="0" anchor="ctr"/>
            <a:lstStyle/>
            <a:p>
              <a:pPr algn="ctr">
                <a:lnSpc>
                  <a:spcPts val="2520"/>
                </a:lnSpc>
              </a:pPr>
              <a:r>
                <a:rPr lang="en-US" sz="2100" b="1">
                  <a:solidFill>
                    <a:srgbClr val="FFFFFF"/>
                  </a:solidFill>
                  <a:latin typeface="Calibri (MS) Bold"/>
                  <a:ea typeface="Calibri (MS) Bold"/>
                  <a:cs typeface="Calibri (MS) Bold"/>
                  <a:sym typeface="Calibri (MS) Bold"/>
                </a:rPr>
                <a:t>Browser</a:t>
              </a:r>
            </a:p>
          </p:txBody>
        </p:sp>
      </p:grpSp>
      <p:grpSp>
        <p:nvGrpSpPr>
          <p:cNvPr id="13" name="Group 13"/>
          <p:cNvGrpSpPr/>
          <p:nvPr/>
        </p:nvGrpSpPr>
        <p:grpSpPr>
          <a:xfrm>
            <a:off x="1597914" y="3264408"/>
            <a:ext cx="4251960" cy="685800"/>
            <a:chOff x="0" y="0"/>
            <a:chExt cx="5669280" cy="914400"/>
          </a:xfrm>
        </p:grpSpPr>
        <p:sp>
          <p:nvSpPr>
            <p:cNvPr id="14" name="Freeform 14"/>
            <p:cNvSpPr/>
            <p:nvPr/>
          </p:nvSpPr>
          <p:spPr>
            <a:xfrm>
              <a:off x="0" y="0"/>
              <a:ext cx="5669280" cy="914400"/>
            </a:xfrm>
            <a:custGeom>
              <a:avLst/>
              <a:gdLst/>
              <a:ahLst/>
              <a:cxnLst/>
              <a:rect l="l" t="t" r="r" b="b"/>
              <a:pathLst>
                <a:path w="5669280" h="914400">
                  <a:moveTo>
                    <a:pt x="0" y="0"/>
                  </a:moveTo>
                  <a:lnTo>
                    <a:pt x="5669280" y="0"/>
                  </a:lnTo>
                  <a:lnTo>
                    <a:pt x="5669280" y="914400"/>
                  </a:lnTo>
                  <a:lnTo>
                    <a:pt x="0" y="914400"/>
                  </a:lnTo>
                  <a:close/>
                </a:path>
              </a:pathLst>
            </a:custGeom>
            <a:blipFill>
              <a:blip r:embed="rId3">
                <a:alphaModFix amt="0"/>
              </a:blip>
              <a:stretch>
                <a:fillRect t="-70807" b="-70807"/>
              </a:stretch>
            </a:blipFill>
          </p:spPr>
        </p:sp>
        <p:sp>
          <p:nvSpPr>
            <p:cNvPr id="15" name="TextBox 15"/>
            <p:cNvSpPr txBox="1"/>
            <p:nvPr/>
          </p:nvSpPr>
          <p:spPr>
            <a:xfrm>
              <a:off x="0" y="-38100"/>
              <a:ext cx="5669280" cy="952500"/>
            </a:xfrm>
            <a:prstGeom prst="rect">
              <a:avLst/>
            </a:prstGeom>
          </p:spPr>
          <p:txBody>
            <a:bodyPr lIns="0" tIns="0" rIns="0" bIns="0" rtlCol="0" anchor="ctr"/>
            <a:lstStyle/>
            <a:p>
              <a:pPr algn="ctr">
                <a:lnSpc>
                  <a:spcPts val="1800"/>
                </a:lnSpc>
              </a:pPr>
              <a:r>
                <a:rPr lang="en-US" sz="1500">
                  <a:solidFill>
                    <a:srgbClr val="CADCFC"/>
                  </a:solidFill>
                  <a:latin typeface="Calibri (MS)"/>
                  <a:ea typeface="Calibri (MS)"/>
                  <a:cs typeface="Calibri (MS)"/>
                  <a:sym typeface="Calibri (MS)"/>
                </a:rPr>
                <a:t>HTML / CSS / JS dashboard</a:t>
              </a:r>
            </a:p>
          </p:txBody>
        </p:sp>
      </p:grpSp>
      <p:grpSp>
        <p:nvGrpSpPr>
          <p:cNvPr id="16" name="Group 16"/>
          <p:cNvGrpSpPr/>
          <p:nvPr/>
        </p:nvGrpSpPr>
        <p:grpSpPr>
          <a:xfrm>
            <a:off x="6055614" y="3086100"/>
            <a:ext cx="617220" cy="438912"/>
            <a:chOff x="0" y="0"/>
            <a:chExt cx="822960" cy="585216"/>
          </a:xfrm>
        </p:grpSpPr>
        <p:sp>
          <p:nvSpPr>
            <p:cNvPr id="17" name="Freeform 17"/>
            <p:cNvSpPr/>
            <p:nvPr/>
          </p:nvSpPr>
          <p:spPr>
            <a:xfrm>
              <a:off x="0" y="0"/>
              <a:ext cx="822960" cy="585216"/>
            </a:xfrm>
            <a:custGeom>
              <a:avLst/>
              <a:gdLst/>
              <a:ahLst/>
              <a:cxnLst/>
              <a:rect l="l" t="t" r="r" b="b"/>
              <a:pathLst>
                <a:path w="822960" h="585216">
                  <a:moveTo>
                    <a:pt x="0" y="146304"/>
                  </a:moveTo>
                  <a:lnTo>
                    <a:pt x="530352" y="146304"/>
                  </a:lnTo>
                  <a:lnTo>
                    <a:pt x="530352" y="0"/>
                  </a:lnTo>
                  <a:lnTo>
                    <a:pt x="822960" y="292608"/>
                  </a:lnTo>
                  <a:lnTo>
                    <a:pt x="530352" y="585216"/>
                  </a:lnTo>
                  <a:lnTo>
                    <a:pt x="530352" y="438912"/>
                  </a:lnTo>
                  <a:lnTo>
                    <a:pt x="0" y="438912"/>
                  </a:lnTo>
                  <a:close/>
                </a:path>
              </a:pathLst>
            </a:custGeom>
            <a:solidFill>
              <a:srgbClr val="CADCFC"/>
            </a:solidFill>
          </p:spPr>
        </p:sp>
      </p:grpSp>
      <p:grpSp>
        <p:nvGrpSpPr>
          <p:cNvPr id="18" name="Group 18"/>
          <p:cNvGrpSpPr/>
          <p:nvPr/>
        </p:nvGrpSpPr>
        <p:grpSpPr>
          <a:xfrm>
            <a:off x="6800469" y="2527935"/>
            <a:ext cx="4682490" cy="1527810"/>
            <a:chOff x="0" y="0"/>
            <a:chExt cx="6243320" cy="2037080"/>
          </a:xfrm>
        </p:grpSpPr>
        <p:sp>
          <p:nvSpPr>
            <p:cNvPr id="19" name="Freeform 19"/>
            <p:cNvSpPr/>
            <p:nvPr/>
          </p:nvSpPr>
          <p:spPr>
            <a:xfrm>
              <a:off x="0" y="0"/>
              <a:ext cx="6243320" cy="2037080"/>
            </a:xfrm>
            <a:custGeom>
              <a:avLst/>
              <a:gdLst/>
              <a:ahLst/>
              <a:cxnLst/>
              <a:rect l="l" t="t" r="r" b="b"/>
              <a:pathLst>
                <a:path w="6243320" h="2037080">
                  <a:moveTo>
                    <a:pt x="0" y="148209"/>
                  </a:moveTo>
                  <a:cubicBezTo>
                    <a:pt x="0" y="66294"/>
                    <a:pt x="66294" y="0"/>
                    <a:pt x="148209" y="0"/>
                  </a:cubicBezTo>
                  <a:lnTo>
                    <a:pt x="6095111" y="0"/>
                  </a:lnTo>
                  <a:cubicBezTo>
                    <a:pt x="6176899" y="0"/>
                    <a:pt x="6243320" y="66294"/>
                    <a:pt x="6243320" y="148209"/>
                  </a:cubicBezTo>
                  <a:lnTo>
                    <a:pt x="6243320" y="1888871"/>
                  </a:lnTo>
                  <a:cubicBezTo>
                    <a:pt x="6243320" y="1970659"/>
                    <a:pt x="6177026" y="2037080"/>
                    <a:pt x="6095111" y="2037080"/>
                  </a:cubicBezTo>
                  <a:lnTo>
                    <a:pt x="148209" y="2037080"/>
                  </a:lnTo>
                  <a:cubicBezTo>
                    <a:pt x="66294" y="2037080"/>
                    <a:pt x="0" y="1970786"/>
                    <a:pt x="0" y="1888871"/>
                  </a:cubicBezTo>
                  <a:close/>
                </a:path>
              </a:pathLst>
            </a:custGeom>
            <a:solidFill>
              <a:srgbClr val="CADCFC"/>
            </a:solidFill>
            <a:ln w="19050" cap="sq">
              <a:solidFill>
                <a:srgbClr val="CADCFC"/>
              </a:solidFill>
              <a:prstDash val="solid"/>
              <a:miter/>
            </a:ln>
          </p:spPr>
        </p:sp>
      </p:grpSp>
      <p:grpSp>
        <p:nvGrpSpPr>
          <p:cNvPr id="20" name="Group 20"/>
          <p:cNvGrpSpPr/>
          <p:nvPr/>
        </p:nvGrpSpPr>
        <p:grpSpPr>
          <a:xfrm>
            <a:off x="6809994" y="2715768"/>
            <a:ext cx="4663440" cy="548640"/>
            <a:chOff x="0" y="0"/>
            <a:chExt cx="6217920" cy="731520"/>
          </a:xfrm>
        </p:grpSpPr>
        <p:sp>
          <p:nvSpPr>
            <p:cNvPr id="21" name="Freeform 21"/>
            <p:cNvSpPr/>
            <p:nvPr/>
          </p:nvSpPr>
          <p:spPr>
            <a:xfrm>
              <a:off x="0" y="0"/>
              <a:ext cx="6217920" cy="731520"/>
            </a:xfrm>
            <a:custGeom>
              <a:avLst/>
              <a:gdLst/>
              <a:ahLst/>
              <a:cxnLst/>
              <a:rect l="l" t="t" r="r" b="b"/>
              <a:pathLst>
                <a:path w="6217920" h="731520">
                  <a:moveTo>
                    <a:pt x="0" y="0"/>
                  </a:moveTo>
                  <a:lnTo>
                    <a:pt x="6217920" y="0"/>
                  </a:lnTo>
                  <a:lnTo>
                    <a:pt x="6217920" y="731520"/>
                  </a:lnTo>
                  <a:lnTo>
                    <a:pt x="0" y="731520"/>
                  </a:lnTo>
                  <a:close/>
                </a:path>
              </a:pathLst>
            </a:custGeom>
            <a:blipFill>
              <a:blip r:embed="rId3">
                <a:alphaModFix amt="0"/>
              </a:blip>
              <a:stretch>
                <a:fillRect t="-115622" b="-115622"/>
              </a:stretch>
            </a:blipFill>
          </p:spPr>
        </p:sp>
        <p:sp>
          <p:nvSpPr>
            <p:cNvPr id="22" name="TextBox 22"/>
            <p:cNvSpPr txBox="1"/>
            <p:nvPr/>
          </p:nvSpPr>
          <p:spPr>
            <a:xfrm>
              <a:off x="0" y="-47625"/>
              <a:ext cx="6217920" cy="779145"/>
            </a:xfrm>
            <a:prstGeom prst="rect">
              <a:avLst/>
            </a:prstGeom>
          </p:spPr>
          <p:txBody>
            <a:bodyPr lIns="0" tIns="0" rIns="0" bIns="0" rtlCol="0" anchor="ctr"/>
            <a:lstStyle/>
            <a:p>
              <a:pPr algn="ctr">
                <a:lnSpc>
                  <a:spcPts val="2520"/>
                </a:lnSpc>
              </a:pPr>
              <a:r>
                <a:rPr lang="en-US" sz="2100" b="1">
                  <a:solidFill>
                    <a:srgbClr val="141B47"/>
                  </a:solidFill>
                  <a:latin typeface="Calibri (MS) Bold"/>
                  <a:ea typeface="Calibri (MS) Bold"/>
                  <a:cs typeface="Calibri (MS) Bold"/>
                  <a:sym typeface="Calibri (MS) Bold"/>
                </a:rPr>
                <a:t>Node.js + Express</a:t>
              </a:r>
            </a:p>
          </p:txBody>
        </p:sp>
      </p:grpSp>
      <p:grpSp>
        <p:nvGrpSpPr>
          <p:cNvPr id="23" name="Group 23"/>
          <p:cNvGrpSpPr/>
          <p:nvPr/>
        </p:nvGrpSpPr>
        <p:grpSpPr>
          <a:xfrm>
            <a:off x="7015734" y="3264408"/>
            <a:ext cx="4251960" cy="685800"/>
            <a:chOff x="0" y="0"/>
            <a:chExt cx="5669280" cy="914400"/>
          </a:xfrm>
        </p:grpSpPr>
        <p:sp>
          <p:nvSpPr>
            <p:cNvPr id="24" name="Freeform 24"/>
            <p:cNvSpPr/>
            <p:nvPr/>
          </p:nvSpPr>
          <p:spPr>
            <a:xfrm>
              <a:off x="0" y="0"/>
              <a:ext cx="5669280" cy="914400"/>
            </a:xfrm>
            <a:custGeom>
              <a:avLst/>
              <a:gdLst/>
              <a:ahLst/>
              <a:cxnLst/>
              <a:rect l="l" t="t" r="r" b="b"/>
              <a:pathLst>
                <a:path w="5669280" h="914400">
                  <a:moveTo>
                    <a:pt x="0" y="0"/>
                  </a:moveTo>
                  <a:lnTo>
                    <a:pt x="5669280" y="0"/>
                  </a:lnTo>
                  <a:lnTo>
                    <a:pt x="5669280" y="914400"/>
                  </a:lnTo>
                  <a:lnTo>
                    <a:pt x="0" y="914400"/>
                  </a:lnTo>
                  <a:close/>
                </a:path>
              </a:pathLst>
            </a:custGeom>
            <a:blipFill>
              <a:blip r:embed="rId3">
                <a:alphaModFix amt="0"/>
              </a:blip>
              <a:stretch>
                <a:fillRect t="-70807" b="-70807"/>
              </a:stretch>
            </a:blipFill>
          </p:spPr>
        </p:sp>
        <p:sp>
          <p:nvSpPr>
            <p:cNvPr id="25" name="TextBox 25"/>
            <p:cNvSpPr txBox="1"/>
            <p:nvPr/>
          </p:nvSpPr>
          <p:spPr>
            <a:xfrm>
              <a:off x="0" y="-38100"/>
              <a:ext cx="5669280" cy="952500"/>
            </a:xfrm>
            <a:prstGeom prst="rect">
              <a:avLst/>
            </a:prstGeom>
          </p:spPr>
          <p:txBody>
            <a:bodyPr lIns="0" tIns="0" rIns="0" bIns="0" rtlCol="0" anchor="ctr"/>
            <a:lstStyle/>
            <a:p>
              <a:pPr algn="ctr">
                <a:lnSpc>
                  <a:spcPts val="1800"/>
                </a:lnSpc>
              </a:pPr>
              <a:r>
                <a:rPr lang="en-US" sz="1500">
                  <a:solidFill>
                    <a:srgbClr val="141B47"/>
                  </a:solidFill>
                  <a:latin typeface="Calibri (MS)"/>
                  <a:ea typeface="Calibri (MS)"/>
                  <a:cs typeface="Calibri (MS)"/>
                  <a:sym typeface="Calibri (MS)"/>
                </a:rPr>
                <a:t>mysql2 pool, parameterised queries</a:t>
              </a:r>
            </a:p>
          </p:txBody>
        </p:sp>
      </p:grpSp>
      <p:grpSp>
        <p:nvGrpSpPr>
          <p:cNvPr id="26" name="Group 26"/>
          <p:cNvGrpSpPr/>
          <p:nvPr/>
        </p:nvGrpSpPr>
        <p:grpSpPr>
          <a:xfrm>
            <a:off x="11473434" y="3086100"/>
            <a:ext cx="617220" cy="438912"/>
            <a:chOff x="0" y="0"/>
            <a:chExt cx="822960" cy="585216"/>
          </a:xfrm>
        </p:grpSpPr>
        <p:sp>
          <p:nvSpPr>
            <p:cNvPr id="27" name="Freeform 27"/>
            <p:cNvSpPr/>
            <p:nvPr/>
          </p:nvSpPr>
          <p:spPr>
            <a:xfrm>
              <a:off x="0" y="0"/>
              <a:ext cx="822960" cy="585216"/>
            </a:xfrm>
            <a:custGeom>
              <a:avLst/>
              <a:gdLst/>
              <a:ahLst/>
              <a:cxnLst/>
              <a:rect l="l" t="t" r="r" b="b"/>
              <a:pathLst>
                <a:path w="822960" h="585216">
                  <a:moveTo>
                    <a:pt x="0" y="146304"/>
                  </a:moveTo>
                  <a:lnTo>
                    <a:pt x="530352" y="146304"/>
                  </a:lnTo>
                  <a:lnTo>
                    <a:pt x="530352" y="0"/>
                  </a:lnTo>
                  <a:lnTo>
                    <a:pt x="822960" y="292608"/>
                  </a:lnTo>
                  <a:lnTo>
                    <a:pt x="530352" y="585216"/>
                  </a:lnTo>
                  <a:lnTo>
                    <a:pt x="530352" y="438912"/>
                  </a:lnTo>
                  <a:lnTo>
                    <a:pt x="0" y="438912"/>
                  </a:lnTo>
                  <a:close/>
                </a:path>
              </a:pathLst>
            </a:custGeom>
            <a:solidFill>
              <a:srgbClr val="CADCFC"/>
            </a:solidFill>
          </p:spPr>
        </p:sp>
      </p:grpSp>
      <p:grpSp>
        <p:nvGrpSpPr>
          <p:cNvPr id="28" name="Group 28"/>
          <p:cNvGrpSpPr/>
          <p:nvPr/>
        </p:nvGrpSpPr>
        <p:grpSpPr>
          <a:xfrm>
            <a:off x="12218289" y="2527935"/>
            <a:ext cx="4682490" cy="1527810"/>
            <a:chOff x="0" y="0"/>
            <a:chExt cx="6243320" cy="2037080"/>
          </a:xfrm>
        </p:grpSpPr>
        <p:sp>
          <p:nvSpPr>
            <p:cNvPr id="29" name="Freeform 29"/>
            <p:cNvSpPr/>
            <p:nvPr/>
          </p:nvSpPr>
          <p:spPr>
            <a:xfrm>
              <a:off x="0" y="0"/>
              <a:ext cx="6243320" cy="2037080"/>
            </a:xfrm>
            <a:custGeom>
              <a:avLst/>
              <a:gdLst/>
              <a:ahLst/>
              <a:cxnLst/>
              <a:rect l="l" t="t" r="r" b="b"/>
              <a:pathLst>
                <a:path w="6243320" h="2037080">
                  <a:moveTo>
                    <a:pt x="0" y="148209"/>
                  </a:moveTo>
                  <a:cubicBezTo>
                    <a:pt x="0" y="66294"/>
                    <a:pt x="66294" y="0"/>
                    <a:pt x="148209" y="0"/>
                  </a:cubicBezTo>
                  <a:lnTo>
                    <a:pt x="6095111" y="0"/>
                  </a:lnTo>
                  <a:cubicBezTo>
                    <a:pt x="6176899" y="0"/>
                    <a:pt x="6243320" y="66294"/>
                    <a:pt x="6243320" y="148209"/>
                  </a:cubicBezTo>
                  <a:lnTo>
                    <a:pt x="6243320" y="1888871"/>
                  </a:lnTo>
                  <a:cubicBezTo>
                    <a:pt x="6243320" y="1970659"/>
                    <a:pt x="6177026" y="2037080"/>
                    <a:pt x="6095111" y="2037080"/>
                  </a:cubicBezTo>
                  <a:lnTo>
                    <a:pt x="148209" y="2037080"/>
                  </a:lnTo>
                  <a:cubicBezTo>
                    <a:pt x="66294" y="2037080"/>
                    <a:pt x="0" y="1970786"/>
                    <a:pt x="0" y="1888871"/>
                  </a:cubicBezTo>
                  <a:close/>
                </a:path>
              </a:pathLst>
            </a:custGeom>
            <a:solidFill>
              <a:srgbClr val="2A3470"/>
            </a:solidFill>
            <a:ln w="19050" cap="sq">
              <a:solidFill>
                <a:srgbClr val="CADCFC"/>
              </a:solidFill>
              <a:prstDash val="solid"/>
              <a:miter/>
            </a:ln>
          </p:spPr>
        </p:sp>
      </p:grpSp>
      <p:grpSp>
        <p:nvGrpSpPr>
          <p:cNvPr id="30" name="Group 30"/>
          <p:cNvGrpSpPr/>
          <p:nvPr/>
        </p:nvGrpSpPr>
        <p:grpSpPr>
          <a:xfrm>
            <a:off x="12227814" y="2715768"/>
            <a:ext cx="4663440" cy="548640"/>
            <a:chOff x="0" y="0"/>
            <a:chExt cx="6217920" cy="731520"/>
          </a:xfrm>
        </p:grpSpPr>
        <p:sp>
          <p:nvSpPr>
            <p:cNvPr id="31" name="Freeform 31"/>
            <p:cNvSpPr/>
            <p:nvPr/>
          </p:nvSpPr>
          <p:spPr>
            <a:xfrm>
              <a:off x="0" y="0"/>
              <a:ext cx="6217920" cy="731520"/>
            </a:xfrm>
            <a:custGeom>
              <a:avLst/>
              <a:gdLst/>
              <a:ahLst/>
              <a:cxnLst/>
              <a:rect l="l" t="t" r="r" b="b"/>
              <a:pathLst>
                <a:path w="6217920" h="731520">
                  <a:moveTo>
                    <a:pt x="0" y="0"/>
                  </a:moveTo>
                  <a:lnTo>
                    <a:pt x="6217920" y="0"/>
                  </a:lnTo>
                  <a:lnTo>
                    <a:pt x="6217920" y="731520"/>
                  </a:lnTo>
                  <a:lnTo>
                    <a:pt x="0" y="731520"/>
                  </a:lnTo>
                  <a:close/>
                </a:path>
              </a:pathLst>
            </a:custGeom>
            <a:blipFill>
              <a:blip r:embed="rId3">
                <a:alphaModFix amt="0"/>
              </a:blip>
              <a:stretch>
                <a:fillRect t="-115622" b="-115622"/>
              </a:stretch>
            </a:blipFill>
          </p:spPr>
        </p:sp>
        <p:sp>
          <p:nvSpPr>
            <p:cNvPr id="32" name="TextBox 32"/>
            <p:cNvSpPr txBox="1"/>
            <p:nvPr/>
          </p:nvSpPr>
          <p:spPr>
            <a:xfrm>
              <a:off x="0" y="-47625"/>
              <a:ext cx="6217920" cy="779145"/>
            </a:xfrm>
            <a:prstGeom prst="rect">
              <a:avLst/>
            </a:prstGeom>
          </p:spPr>
          <p:txBody>
            <a:bodyPr lIns="0" tIns="0" rIns="0" bIns="0" rtlCol="0" anchor="ctr"/>
            <a:lstStyle/>
            <a:p>
              <a:pPr algn="ctr">
                <a:lnSpc>
                  <a:spcPts val="2520"/>
                </a:lnSpc>
              </a:pPr>
              <a:r>
                <a:rPr lang="en-US" sz="2100" b="1">
                  <a:solidFill>
                    <a:srgbClr val="FFFFFF"/>
                  </a:solidFill>
                  <a:latin typeface="Calibri (MS) Bold"/>
                  <a:ea typeface="Calibri (MS) Bold"/>
                  <a:cs typeface="Calibri (MS) Bold"/>
                  <a:sym typeface="Calibri (MS) Bold"/>
                </a:rPr>
                <a:t>MySQL 8.0</a:t>
              </a:r>
            </a:p>
          </p:txBody>
        </p:sp>
      </p:grpSp>
      <p:grpSp>
        <p:nvGrpSpPr>
          <p:cNvPr id="33" name="Group 33"/>
          <p:cNvGrpSpPr/>
          <p:nvPr/>
        </p:nvGrpSpPr>
        <p:grpSpPr>
          <a:xfrm>
            <a:off x="12433554" y="3264408"/>
            <a:ext cx="4251960" cy="685800"/>
            <a:chOff x="0" y="0"/>
            <a:chExt cx="5669280" cy="914400"/>
          </a:xfrm>
        </p:grpSpPr>
        <p:sp>
          <p:nvSpPr>
            <p:cNvPr id="34" name="Freeform 34"/>
            <p:cNvSpPr/>
            <p:nvPr/>
          </p:nvSpPr>
          <p:spPr>
            <a:xfrm>
              <a:off x="0" y="0"/>
              <a:ext cx="5669280" cy="914400"/>
            </a:xfrm>
            <a:custGeom>
              <a:avLst/>
              <a:gdLst/>
              <a:ahLst/>
              <a:cxnLst/>
              <a:rect l="l" t="t" r="r" b="b"/>
              <a:pathLst>
                <a:path w="5669280" h="914400">
                  <a:moveTo>
                    <a:pt x="0" y="0"/>
                  </a:moveTo>
                  <a:lnTo>
                    <a:pt x="5669280" y="0"/>
                  </a:lnTo>
                  <a:lnTo>
                    <a:pt x="5669280" y="914400"/>
                  </a:lnTo>
                  <a:lnTo>
                    <a:pt x="0" y="914400"/>
                  </a:lnTo>
                  <a:close/>
                </a:path>
              </a:pathLst>
            </a:custGeom>
            <a:blipFill>
              <a:blip r:embed="rId3">
                <a:alphaModFix amt="0"/>
              </a:blip>
              <a:stretch>
                <a:fillRect t="-70807" b="-70807"/>
              </a:stretch>
            </a:blipFill>
          </p:spPr>
        </p:sp>
        <p:sp>
          <p:nvSpPr>
            <p:cNvPr id="35" name="TextBox 35"/>
            <p:cNvSpPr txBox="1"/>
            <p:nvPr/>
          </p:nvSpPr>
          <p:spPr>
            <a:xfrm>
              <a:off x="0" y="-38100"/>
              <a:ext cx="5669280" cy="952500"/>
            </a:xfrm>
            <a:prstGeom prst="rect">
              <a:avLst/>
            </a:prstGeom>
          </p:spPr>
          <p:txBody>
            <a:bodyPr lIns="0" tIns="0" rIns="0" bIns="0" rtlCol="0" anchor="ctr"/>
            <a:lstStyle/>
            <a:p>
              <a:pPr algn="ctr">
                <a:lnSpc>
                  <a:spcPts val="1800"/>
                </a:lnSpc>
              </a:pPr>
              <a:r>
                <a:rPr lang="en-US" sz="1500">
                  <a:solidFill>
                    <a:srgbClr val="CADCFC"/>
                  </a:solidFill>
                  <a:latin typeface="Calibri (MS)"/>
                  <a:ea typeface="Calibri (MS)"/>
                  <a:cs typeface="Calibri (MS)"/>
                  <a:sym typeface="Calibri (MS)"/>
                </a:rPr>
                <a:t>tables, views, functions, procedures, triggers</a:t>
              </a:r>
            </a:p>
          </p:txBody>
        </p:sp>
      </p:grpSp>
      <p:grpSp>
        <p:nvGrpSpPr>
          <p:cNvPr id="36" name="Group 36"/>
          <p:cNvGrpSpPr/>
          <p:nvPr/>
        </p:nvGrpSpPr>
        <p:grpSpPr>
          <a:xfrm>
            <a:off x="822960" y="4457700"/>
            <a:ext cx="16637508" cy="617220"/>
            <a:chOff x="0" y="0"/>
            <a:chExt cx="22183344" cy="822960"/>
          </a:xfrm>
        </p:grpSpPr>
        <p:sp>
          <p:nvSpPr>
            <p:cNvPr id="37" name="Freeform 37"/>
            <p:cNvSpPr/>
            <p:nvPr/>
          </p:nvSpPr>
          <p:spPr>
            <a:xfrm>
              <a:off x="0" y="0"/>
              <a:ext cx="22183344" cy="822960"/>
            </a:xfrm>
            <a:custGeom>
              <a:avLst/>
              <a:gdLst/>
              <a:ahLst/>
              <a:cxnLst/>
              <a:rect l="l" t="t" r="r" b="b"/>
              <a:pathLst>
                <a:path w="22183344" h="822960">
                  <a:moveTo>
                    <a:pt x="0" y="0"/>
                  </a:moveTo>
                  <a:lnTo>
                    <a:pt x="22183344" y="0"/>
                  </a:lnTo>
                  <a:lnTo>
                    <a:pt x="22183344" y="822960"/>
                  </a:lnTo>
                  <a:lnTo>
                    <a:pt x="0" y="822960"/>
                  </a:lnTo>
                  <a:close/>
                </a:path>
              </a:pathLst>
            </a:custGeom>
            <a:blipFill>
              <a:blip r:embed="rId3">
                <a:alphaModFix amt="0"/>
              </a:blip>
              <a:stretch>
                <a:fillRect t="-475230" b="-475230"/>
              </a:stretch>
            </a:blipFill>
          </p:spPr>
        </p:sp>
        <p:sp>
          <p:nvSpPr>
            <p:cNvPr id="38" name="TextBox 38"/>
            <p:cNvSpPr txBox="1"/>
            <p:nvPr/>
          </p:nvSpPr>
          <p:spPr>
            <a:xfrm>
              <a:off x="0" y="-47625"/>
              <a:ext cx="22183344" cy="870585"/>
            </a:xfrm>
            <a:prstGeom prst="rect">
              <a:avLst/>
            </a:prstGeom>
          </p:spPr>
          <p:txBody>
            <a:bodyPr lIns="0" tIns="0" rIns="0" bIns="0" rtlCol="0" anchor="ctr"/>
            <a:lstStyle/>
            <a:p>
              <a:pPr algn="ctr">
                <a:lnSpc>
                  <a:spcPts val="2340"/>
                </a:lnSpc>
              </a:pPr>
              <a:r>
                <a:rPr lang="en-US" sz="1950" i="1">
                  <a:solidFill>
                    <a:srgbClr val="CADCFC"/>
                  </a:solidFill>
                  <a:latin typeface="Calibri (MS) Italics"/>
                  <a:ea typeface="Calibri (MS) Italics"/>
                  <a:cs typeface="Calibri (MS) Italics"/>
                  <a:sym typeface="Calibri (MS) Italics"/>
                </a:rPr>
                <a:t>No data is hardcoded — every page fetches from the API. Query text lives server-side; the browser sends an id, never SQL.</a:t>
              </a:r>
            </a:p>
          </p:txBody>
        </p:sp>
      </p:grpSp>
      <p:sp>
        <p:nvSpPr>
          <p:cNvPr id="39" name="AutoShape 39"/>
          <p:cNvSpPr/>
          <p:nvPr/>
        </p:nvSpPr>
        <p:spPr>
          <a:xfrm rot="3960">
            <a:off x="813425" y="5413058"/>
            <a:ext cx="16656568" cy="0"/>
          </a:xfrm>
          <a:prstGeom prst="line">
            <a:avLst/>
          </a:prstGeom>
          <a:ln w="9525" cap="rnd">
            <a:solidFill>
              <a:srgbClr val="3A4480"/>
            </a:solidFill>
            <a:prstDash val="solid"/>
            <a:headEnd type="none" w="sm" len="sm"/>
            <a:tailEnd type="none" w="sm" len="sm"/>
          </a:ln>
        </p:spPr>
      </p:sp>
      <p:grpSp>
        <p:nvGrpSpPr>
          <p:cNvPr id="40" name="Group 40"/>
          <p:cNvGrpSpPr/>
          <p:nvPr/>
        </p:nvGrpSpPr>
        <p:grpSpPr>
          <a:xfrm>
            <a:off x="822960" y="5760720"/>
            <a:ext cx="10972800" cy="411480"/>
            <a:chOff x="0" y="0"/>
            <a:chExt cx="14630400" cy="548640"/>
          </a:xfrm>
        </p:grpSpPr>
        <p:sp>
          <p:nvSpPr>
            <p:cNvPr id="41" name="Freeform 41"/>
            <p:cNvSpPr/>
            <p:nvPr/>
          </p:nvSpPr>
          <p:spPr>
            <a:xfrm>
              <a:off x="0" y="0"/>
              <a:ext cx="14630400" cy="548640"/>
            </a:xfrm>
            <a:custGeom>
              <a:avLst/>
              <a:gdLst/>
              <a:ahLst/>
              <a:cxnLst/>
              <a:rect l="l" t="t" r="r" b="b"/>
              <a:pathLst>
                <a:path w="14630400" h="548640">
                  <a:moveTo>
                    <a:pt x="0" y="0"/>
                  </a:moveTo>
                  <a:lnTo>
                    <a:pt x="14630400" y="0"/>
                  </a:lnTo>
                  <a:lnTo>
                    <a:pt x="14630400" y="548640"/>
                  </a:lnTo>
                  <a:lnTo>
                    <a:pt x="0" y="548640"/>
                  </a:lnTo>
                  <a:close/>
                </a:path>
              </a:pathLst>
            </a:custGeom>
            <a:blipFill>
              <a:blip r:embed="rId3">
                <a:alphaModFix amt="0"/>
              </a:blip>
              <a:stretch>
                <a:fillRect t="-469601" b="-469601"/>
              </a:stretch>
            </a:blipFill>
          </p:spPr>
        </p:sp>
        <p:sp>
          <p:nvSpPr>
            <p:cNvPr id="42" name="TextBox 42"/>
            <p:cNvSpPr txBox="1"/>
            <p:nvPr/>
          </p:nvSpPr>
          <p:spPr>
            <a:xfrm>
              <a:off x="0" y="-38100"/>
              <a:ext cx="14630400" cy="586740"/>
            </a:xfrm>
            <a:prstGeom prst="rect">
              <a:avLst/>
            </a:prstGeom>
          </p:spPr>
          <p:txBody>
            <a:bodyPr lIns="0" tIns="0" rIns="0" bIns="0" rtlCol="0" anchor="ctr"/>
            <a:lstStyle/>
            <a:p>
              <a:pPr algn="l">
                <a:lnSpc>
                  <a:spcPts val="2160"/>
                </a:lnSpc>
              </a:pPr>
              <a:r>
                <a:rPr lang="en-US" sz="1800" b="1" spc="300">
                  <a:solidFill>
                    <a:srgbClr val="CADCFC"/>
                  </a:solidFill>
                  <a:latin typeface="Calibri (MS) Bold"/>
                  <a:ea typeface="Calibri (MS) Bold"/>
                  <a:cs typeface="Calibri (MS) Bold"/>
                  <a:sym typeface="Calibri (MS) Bold"/>
                </a:rPr>
                <a:t>WHAT THIS PROJECT DEMONSTRATES</a:t>
              </a:r>
            </a:p>
          </p:txBody>
        </p:sp>
      </p:grpSp>
      <p:grpSp>
        <p:nvGrpSpPr>
          <p:cNvPr id="43" name="Group 43"/>
          <p:cNvGrpSpPr/>
          <p:nvPr/>
        </p:nvGrpSpPr>
        <p:grpSpPr>
          <a:xfrm>
            <a:off x="822960" y="6309360"/>
            <a:ext cx="16637508" cy="3017520"/>
            <a:chOff x="0" y="0"/>
            <a:chExt cx="22183344" cy="4023360"/>
          </a:xfrm>
        </p:grpSpPr>
        <p:sp>
          <p:nvSpPr>
            <p:cNvPr id="44" name="Freeform 44"/>
            <p:cNvSpPr/>
            <p:nvPr/>
          </p:nvSpPr>
          <p:spPr>
            <a:xfrm>
              <a:off x="0" y="0"/>
              <a:ext cx="22183344" cy="4023360"/>
            </a:xfrm>
            <a:custGeom>
              <a:avLst/>
              <a:gdLst/>
              <a:ahLst/>
              <a:cxnLst/>
              <a:rect l="l" t="t" r="r" b="b"/>
              <a:pathLst>
                <a:path w="22183344" h="4023360">
                  <a:moveTo>
                    <a:pt x="0" y="0"/>
                  </a:moveTo>
                  <a:lnTo>
                    <a:pt x="22183344" y="0"/>
                  </a:lnTo>
                  <a:lnTo>
                    <a:pt x="22183344" y="4023360"/>
                  </a:lnTo>
                  <a:lnTo>
                    <a:pt x="0" y="4023360"/>
                  </a:lnTo>
                  <a:close/>
                </a:path>
              </a:pathLst>
            </a:custGeom>
            <a:blipFill>
              <a:blip r:embed="rId3">
                <a:alphaModFix amt="0"/>
              </a:blip>
              <a:stretch>
                <a:fillRect t="-57433" b="-57433"/>
              </a:stretch>
            </a:blipFill>
          </p:spPr>
        </p:sp>
        <p:sp>
          <p:nvSpPr>
            <p:cNvPr id="45" name="TextBox 45"/>
            <p:cNvSpPr txBox="1"/>
            <p:nvPr/>
          </p:nvSpPr>
          <p:spPr>
            <a:xfrm>
              <a:off x="0" y="-47625"/>
              <a:ext cx="22183344" cy="4070985"/>
            </a:xfrm>
            <a:prstGeom prst="rect">
              <a:avLst/>
            </a:prstGeom>
          </p:spPr>
          <p:txBody>
            <a:bodyPr lIns="0" tIns="0" rIns="0" bIns="0" rtlCol="0" anchor="ctr"/>
            <a:lstStyle/>
            <a:p>
              <a:pPr marL="380048" lvl="1" indent="-190024" algn="l">
                <a:lnSpc>
                  <a:spcPts val="2520"/>
                </a:lnSpc>
                <a:buFont typeface="Arial"/>
                <a:buChar char="•"/>
              </a:pPr>
              <a:r>
                <a:rPr lang="en-US" sz="2100">
                  <a:solidFill>
                    <a:srgbClr val="FFFFFF"/>
                  </a:solidFill>
                  <a:latin typeface="Calibri (MS)"/>
                  <a:ea typeface="Calibri (MS)"/>
                  <a:cs typeface="Calibri (MS)"/>
                  <a:sym typeface="Calibri (MS)"/>
                </a:rPr>
                <a:t>A normalised schema with PK, FK, UNIQUE, CHECK and CASCADE constraints enforcing integrity</a:t>
              </a:r>
            </a:p>
            <a:p>
              <a:pPr marL="380048" lvl="1" indent="-190024" algn="l">
                <a:lnSpc>
                  <a:spcPts val="2520"/>
                </a:lnSpc>
                <a:buFont typeface="Arial"/>
                <a:buChar char="•"/>
              </a:pPr>
              <a:r>
                <a:rPr lang="en-US" sz="2100">
                  <a:solidFill>
                    <a:srgbClr val="FFFFFF"/>
                  </a:solidFill>
                  <a:latin typeface="Calibri (MS)"/>
                  <a:ea typeface="Calibri (MS)"/>
                  <a:cs typeface="Calibri (MS)"/>
                  <a:sym typeface="Calibri (MS)"/>
                </a:rPr>
                <a:t>14 analytical queries using joins, CTEs, subqueries and window functions</a:t>
              </a:r>
            </a:p>
            <a:p>
              <a:pPr marL="380048" lvl="1" indent="-190024" algn="l">
                <a:lnSpc>
                  <a:spcPts val="2520"/>
                </a:lnSpc>
                <a:buFont typeface="Arial"/>
                <a:buChar char="•"/>
              </a:pPr>
              <a:r>
                <a:rPr lang="en-US" sz="2100">
                  <a:solidFill>
                    <a:srgbClr val="FFFFFF"/>
                  </a:solidFill>
                  <a:latin typeface="Calibri (MS)"/>
                  <a:ea typeface="Calibri (MS)"/>
                  <a:cs typeface="Calibri (MS)"/>
                  <a:sym typeface="Calibri (MS)"/>
                </a:rPr>
                <a:t>Stored functions reused across procedures, the API and ad-hoc queries</a:t>
              </a:r>
            </a:p>
            <a:p>
              <a:pPr marL="380048" lvl="1" indent="-190024" algn="l">
                <a:lnSpc>
                  <a:spcPts val="2520"/>
                </a:lnSpc>
                <a:buFont typeface="Arial"/>
                <a:buChar char="•"/>
              </a:pPr>
              <a:r>
                <a:rPr lang="en-US" sz="2100">
                  <a:solidFill>
                    <a:srgbClr val="FFFFFF"/>
                  </a:solidFill>
                  <a:latin typeface="Calibri (MS)"/>
                  <a:ea typeface="Calibri (MS)"/>
                  <a:cs typeface="Calibri (MS)"/>
                  <a:sym typeface="Calibri (MS)"/>
                </a:rPr>
                <a:t>Two cursor-based procedures for stateful, row-by-row report generation</a:t>
              </a:r>
            </a:p>
            <a:p>
              <a:pPr marL="380048" lvl="1" indent="-190024" algn="l">
                <a:lnSpc>
                  <a:spcPts val="2520"/>
                </a:lnSpc>
                <a:buFont typeface="Arial"/>
                <a:buChar char="•"/>
              </a:pPr>
              <a:r>
                <a:rPr lang="en-US" sz="2100">
                  <a:solidFill>
                    <a:srgbClr val="FFFFFF"/>
                  </a:solidFill>
                  <a:latin typeface="Calibri (MS)"/>
                  <a:ea typeface="Calibri (MS)"/>
                  <a:cs typeface="Calibri (MS)"/>
                  <a:sym typeface="Calibri (MS)"/>
                </a:rPr>
                <a:t>Triggers for integrity and auditing, and indexes chosen from measured query performance</a:t>
              </a:r>
            </a:p>
          </p:txBody>
        </p:sp>
      </p:grpSp>
      <p:grpSp>
        <p:nvGrpSpPr>
          <p:cNvPr id="46" name="Group 46"/>
          <p:cNvGrpSpPr/>
          <p:nvPr/>
        </p:nvGrpSpPr>
        <p:grpSpPr>
          <a:xfrm>
            <a:off x="17323308" y="9669780"/>
            <a:ext cx="548640" cy="411480"/>
            <a:chOff x="0" y="0"/>
            <a:chExt cx="731520" cy="548640"/>
          </a:xfrm>
        </p:grpSpPr>
        <p:sp>
          <p:nvSpPr>
            <p:cNvPr id="47" name="Freeform 47"/>
            <p:cNvSpPr/>
            <p:nvPr/>
          </p:nvSpPr>
          <p:spPr>
            <a:xfrm>
              <a:off x="0" y="0"/>
              <a:ext cx="731520" cy="548640"/>
            </a:xfrm>
            <a:custGeom>
              <a:avLst/>
              <a:gdLst/>
              <a:ahLst/>
              <a:cxnLst/>
              <a:rect l="l" t="t" r="r" b="b"/>
              <a:pathLst>
                <a:path w="731520" h="548640">
                  <a:moveTo>
                    <a:pt x="0" y="0"/>
                  </a:moveTo>
                  <a:lnTo>
                    <a:pt x="731520" y="0"/>
                  </a:lnTo>
                  <a:lnTo>
                    <a:pt x="731520" y="548640"/>
                  </a:lnTo>
                  <a:lnTo>
                    <a:pt x="0" y="548640"/>
                  </a:lnTo>
                  <a:close/>
                </a:path>
              </a:pathLst>
            </a:custGeom>
            <a:blipFill>
              <a:blip r:embed="rId3">
                <a:alphaModFix amt="0"/>
              </a:blip>
              <a:stretch>
                <a:fillRect l="-46227" r="-46227"/>
              </a:stretch>
            </a:blipFill>
          </p:spPr>
        </p:sp>
        <p:sp>
          <p:nvSpPr>
            <p:cNvPr id="48" name="TextBox 48"/>
            <p:cNvSpPr txBox="1"/>
            <p:nvPr/>
          </p:nvSpPr>
          <p:spPr>
            <a:xfrm>
              <a:off x="0" y="-38100"/>
              <a:ext cx="731520" cy="586740"/>
            </a:xfrm>
            <a:prstGeom prst="rect">
              <a:avLst/>
            </a:prstGeom>
          </p:spPr>
          <p:txBody>
            <a:bodyPr lIns="0" tIns="0" rIns="0" bIns="0" rtlCol="0" anchor="ctr"/>
            <a:lstStyle/>
            <a:p>
              <a:pPr algn="r">
                <a:lnSpc>
                  <a:spcPts val="1800"/>
                </a:lnSpc>
              </a:pPr>
              <a:r>
                <a:rPr lang="en-US" sz="1500">
                  <a:solidFill>
                    <a:srgbClr val="999999"/>
                  </a:solidFill>
                  <a:latin typeface="Calibri (MS)"/>
                  <a:ea typeface="Calibri (MS)"/>
                  <a:cs typeface="Calibri (MS)"/>
                  <a:sym typeface="Calibri (MS)"/>
                </a:rPr>
                <a:t>10</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Custom</PresentationFormat>
  <Paragraphs>0</Paragraphs>
  <Slides>10</Slides>
  <Notes>10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Social-Media-Analytics-Engine-Review2.pptx</dc:title>
  <cp:lastModifiedBy>1262252891 - Palak</cp:lastModifiedBy>
  <cp:revision>2</cp:revision>
  <dcterms:created xsi:type="dcterms:W3CDTF">2006-08-16T00:00:00Z</dcterms:created>
  <dcterms:modified xsi:type="dcterms:W3CDTF">2026-10-22T15:40:02Z</dcterms:modified>
  <dc:identifier>DAHV8VYRZac</dc:identifier>
</cp:coreProperties>
</file>